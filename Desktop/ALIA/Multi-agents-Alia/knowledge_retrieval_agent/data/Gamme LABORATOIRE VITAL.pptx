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1"/>
  </p:notesMasterIdLst>
  <p:sldIdLst>
    <p:sldId id="257" r:id="rId2"/>
    <p:sldId id="258" r:id="rId3"/>
    <p:sldId id="259" r:id="rId4"/>
    <p:sldId id="260" r:id="rId5"/>
    <p:sldId id="261" r:id="rId6"/>
    <p:sldId id="304" r:id="rId7"/>
    <p:sldId id="262" r:id="rId8"/>
    <p:sldId id="319" r:id="rId9"/>
    <p:sldId id="298" r:id="rId10"/>
    <p:sldId id="301" r:id="rId11"/>
    <p:sldId id="300" r:id="rId12"/>
    <p:sldId id="318" r:id="rId13"/>
    <p:sldId id="299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5" r:id="rId38"/>
    <p:sldId id="286" r:id="rId39"/>
    <p:sldId id="287" r:id="rId40"/>
    <p:sldId id="288" r:id="rId41"/>
    <p:sldId id="297" r:id="rId42"/>
    <p:sldId id="296" r:id="rId43"/>
    <p:sldId id="290" r:id="rId44"/>
    <p:sldId id="291" r:id="rId45"/>
    <p:sldId id="292" r:id="rId46"/>
    <p:sldId id="315" r:id="rId47"/>
    <p:sldId id="293" r:id="rId48"/>
    <p:sldId id="294" r:id="rId49"/>
    <p:sldId id="305" r:id="rId50"/>
    <p:sldId id="306" r:id="rId51"/>
    <p:sldId id="307" r:id="rId52"/>
    <p:sldId id="308" r:id="rId53"/>
    <p:sldId id="309" r:id="rId54"/>
    <p:sldId id="316" r:id="rId55"/>
    <p:sldId id="310" r:id="rId56"/>
    <p:sldId id="320" r:id="rId57"/>
    <p:sldId id="317" r:id="rId58"/>
    <p:sldId id="312" r:id="rId59"/>
    <p:sldId id="313" r:id="rId60"/>
  </p:sldIdLst>
  <p:sldSz cx="9144000" cy="5143500" type="screen16x9"/>
  <p:notesSz cx="6858000" cy="9144000"/>
  <p:embeddedFontLst>
    <p:embeddedFont>
      <p:font typeface="Montserrat Medium" panose="020B0604020202020204" charset="0"/>
      <p:regular r:id="rId62"/>
      <p:bold r:id="rId63"/>
      <p:italic r:id="rId64"/>
      <p:boldItalic r:id="rId65"/>
    </p:embeddedFont>
    <p:embeddedFont>
      <p:font typeface="Montserrat ExtraBold" panose="020B0604020202020204" charset="0"/>
      <p:bold r:id="rId66"/>
      <p:boldItalic r:id="rId67"/>
    </p:embeddedFont>
    <p:embeddedFont>
      <p:font typeface="Poppins" panose="020B0604020202020204" charset="0"/>
      <p:regular r:id="rId68"/>
      <p:bold r:id="rId69"/>
      <p:italic r:id="rId70"/>
      <p:boldItalic r:id="rId71"/>
    </p:embeddedFont>
    <p:embeddedFont>
      <p:font typeface="Verdana" panose="020B0604030504040204" pitchFamily="34" charset="0"/>
      <p:regular r:id="rId72"/>
      <p:bold r:id="rId73"/>
      <p:italic r:id="rId74"/>
      <p:boldItalic r:id="rId75"/>
    </p:embeddedFont>
    <p:embeddedFont>
      <p:font typeface="Calibri" panose="020F0502020204030204" pitchFamily="34" charset="0"/>
      <p:regular r:id="rId76"/>
      <p:bold r:id="rId77"/>
      <p:italic r:id="rId78"/>
      <p:boldItalic r:id="rId79"/>
    </p:embeddedFont>
    <p:embeddedFont>
      <p:font typeface="Montserrat" panose="020B0604020202020204" charset="0"/>
      <p:regular r:id="rId80"/>
      <p:bold r:id="rId81"/>
      <p:italic r:id="rId82"/>
      <p:boldItalic r:id="rId83"/>
    </p:embeddedFont>
    <p:embeddedFont>
      <p:font typeface="Oswald Medium" panose="020B0604020202020204" charset="0"/>
      <p:regular r:id="rId84"/>
      <p:bold r:id="rId85"/>
    </p:embeddedFont>
    <p:embeddedFont>
      <p:font typeface="Raleway" panose="020B0604020202020204" charset="0"/>
      <p:regular r:id="rId86"/>
      <p:bold r:id="rId87"/>
      <p:italic r:id="rId88"/>
      <p:boldItalic r:id="rId8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1" roundtripDataSignature="AMtx7mjXHqK4tbplEtp1S8jFRD2QXUiZ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A0A949-AEF0-4B8B-935C-B9683DE06363}">
  <a:tblStyle styleId="{BFA0A949-AEF0-4B8B-935C-B9683DE0636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9E8E8"/>
          </a:solidFill>
        </a:fill>
      </a:tcStyle>
    </a:wholeTbl>
    <a:band1H>
      <a:tcTxStyle/>
      <a:tcStyle>
        <a:tcBdr/>
        <a:fill>
          <a:solidFill>
            <a:srgbClr val="F4CF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4CF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10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84" Type="http://schemas.openxmlformats.org/officeDocument/2006/relationships/font" Target="fonts/font23.fntdata"/><Relationship Id="rId89" Type="http://schemas.openxmlformats.org/officeDocument/2006/relationships/font" Target="fonts/font2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3.fntdata"/><Relationship Id="rId79" Type="http://schemas.openxmlformats.org/officeDocument/2006/relationships/font" Target="fonts/font18.fntdata"/><Relationship Id="rId5" Type="http://schemas.openxmlformats.org/officeDocument/2006/relationships/slide" Target="slides/slide4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1.fntdata"/><Relationship Id="rId80" Type="http://schemas.openxmlformats.org/officeDocument/2006/relationships/font" Target="fonts/font19.fntdata"/><Relationship Id="rId85" Type="http://schemas.openxmlformats.org/officeDocument/2006/relationships/font" Target="fonts/font24.fntdata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83" Type="http://schemas.openxmlformats.org/officeDocument/2006/relationships/font" Target="fonts/font22.fntdata"/><Relationship Id="rId88" Type="http://schemas.openxmlformats.org/officeDocument/2006/relationships/font" Target="fonts/font27.fntdata"/><Relationship Id="rId9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font" Target="fonts/font17.fntdata"/><Relationship Id="rId81" Type="http://schemas.openxmlformats.org/officeDocument/2006/relationships/font" Target="fonts/font20.fntdata"/><Relationship Id="rId86" Type="http://schemas.openxmlformats.org/officeDocument/2006/relationships/font" Target="fonts/font25.fntdata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font" Target="fonts/font10.fntdata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5.fntdata"/><Relationship Id="rId87" Type="http://schemas.openxmlformats.org/officeDocument/2006/relationships/font" Target="fonts/font26.fntdata"/><Relationship Id="rId61" Type="http://schemas.openxmlformats.org/officeDocument/2006/relationships/notesMaster" Target="notesMasters/notesMaster1.xml"/><Relationship Id="rId82" Type="http://schemas.openxmlformats.org/officeDocument/2006/relationships/font" Target="fonts/font2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451167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5780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9355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561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531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4796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8245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823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078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084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2927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604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660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818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8666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7288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7607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849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7906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4744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04609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0605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83099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7902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0214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6871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6473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4758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39586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235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73875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82323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9580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910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83253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07763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69299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7031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8865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86337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13806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5628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40716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19604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5" name="Google Shape;56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05893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9953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90022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5" name="Google Shape;59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2201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97278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81310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58297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9611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4109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2630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3424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00391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0599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449032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3128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4504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1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" name="Google Shape;10;p41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" name="Google Shape;11;p41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12" name="Google Shape;12;p41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1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1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2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1" name="Google Shape;21;p42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7" name="Google Shape;27;p42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2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29" name="Google Shape;29;p42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title" idx="16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title" idx="17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title" idx="18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title" idx="19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title" idx="20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title" idx="2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6" name="Google Shape;36;p42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37" name="Google Shape;37;p42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2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42" name="Google Shape;42;p43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43" name="Google Shape;43;p4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3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 amt="51000"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1834428" y="341801"/>
            <a:ext cx="56984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</a:pPr>
            <a:r>
              <a:rPr lang="fr-FR" sz="3600" b="1" i="0" u="none" strike="noStrike" cap="none">
                <a:solidFill>
                  <a:srgbClr val="E14D4D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br>
              <a:rPr lang="fr-FR" sz="3600" b="1" i="0" u="none" strike="noStrike" cap="none">
                <a:solidFill>
                  <a:srgbClr val="E14D4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3600" b="1" i="0" u="none" strike="noStrike" cap="none">
                <a:solidFill>
                  <a:srgbClr val="E14D4D"/>
                </a:solidFill>
                <a:latin typeface="Montserrat"/>
                <a:ea typeface="Montserrat"/>
                <a:cs typeface="Montserrat"/>
                <a:sym typeface="Montserrat"/>
              </a:rPr>
              <a:t>LABORATOIRES VITAL</a:t>
            </a:r>
            <a:endParaRPr sz="3600" b="1" i="0" u="none" strike="noStrike" cap="none">
              <a:solidFill>
                <a:srgbClr val="E14D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E1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640080" y="573509"/>
            <a:ext cx="576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5230" y="-159657"/>
            <a:ext cx="2039257" cy="203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66" name="Google Shape;66;p3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Prévention de la carence martiale 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Traitement de l'anémie chez l'adulte , l'enfant et la femme enceinte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Restitution des réserves en fer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Réduit le risque de constipation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Fortifie le sang</a:t>
            </a:r>
            <a:endParaRPr sz="12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" name="Google Shape;67;p3"/>
          <p:cNvSpPr txBox="1">
            <a:spLocks noGrp="1"/>
          </p:cNvSpPr>
          <p:nvPr>
            <p:ph type="subTitle" idx="14"/>
          </p:nvPr>
        </p:nvSpPr>
        <p:spPr>
          <a:xfrm>
            <a:off x="4084417" y="179225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sp>
        <p:nvSpPr>
          <p:cNvPr id="68" name="Google Shape;68;p3"/>
          <p:cNvSpPr txBox="1"/>
          <p:nvPr/>
        </p:nvSpPr>
        <p:spPr>
          <a:xfrm>
            <a:off x="878115" y="457660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FERSANG</a:t>
            </a:r>
            <a:endParaRPr sz="3200" b="0" i="0" u="none" strike="noStrike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309" y="1067046"/>
            <a:ext cx="3635897" cy="363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4213005" y="2177109"/>
            <a:ext cx="3810339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140 mg de Spiruline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 mg Vitamine C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mg de Fer </a:t>
            </a:r>
            <a:r>
              <a:rPr lang="fr-FR" sz="1200" b="0" i="0" u="none" strike="noStrike" cap="none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(Fumarate de fer = 152,161 mg) 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 mg Vitamine B6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350 µg Vitamine B9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0,5 µg Vitamine B12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 txBox="1">
            <a:spLocks noGrp="1"/>
          </p:cNvSpPr>
          <p:nvPr>
            <p:ph type="subTitle" idx="14"/>
          </p:nvPr>
        </p:nvSpPr>
        <p:spPr>
          <a:xfrm>
            <a:off x="4282459" y="33497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75" name="Google Shape;75;p3"/>
          <p:cNvGraphicFramePr/>
          <p:nvPr/>
        </p:nvGraphicFramePr>
        <p:xfrm>
          <a:off x="4364705" y="3803011"/>
          <a:ext cx="3737300" cy="85528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gélules en cas de besoin, pendant au moins un mois</a:t>
                      </a:r>
                      <a:endParaRPr sz="10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81" name="Google Shape;81;p4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Prévention de la carence martiale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Traitement de l'anémie chez l'adulte , l'enfant et la femme enceinte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Restitution des réserves en fer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Réduit le risque de constipation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Fortifie le sang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084417" y="179225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sp>
        <p:nvSpPr>
          <p:cNvPr id="83" name="Google Shape;83;p4"/>
          <p:cNvSpPr txBox="1"/>
          <p:nvPr/>
        </p:nvSpPr>
        <p:spPr>
          <a:xfrm>
            <a:off x="878115" y="457660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FERSANG</a:t>
            </a:r>
            <a:endParaRPr sz="3200" b="0" i="0" u="none" strike="noStrike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4213005" y="2177109"/>
            <a:ext cx="3810339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140 mg de Spiruline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 mg Vitamine C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mg de Fer </a:t>
            </a:r>
            <a:r>
              <a:rPr lang="fr-FR" sz="1200" b="0" i="0" u="none" strike="noStrike" cap="none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(Fumarate de fer = 152,161 mg) 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 mg Vitamine B6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350 µg Vitamine B9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0,5 µg Vitamine B12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82459" y="33497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89" name="Google Shape;89;p4"/>
          <p:cNvGraphicFramePr/>
          <p:nvPr/>
        </p:nvGraphicFramePr>
        <p:xfrm>
          <a:off x="4364705" y="3803011"/>
          <a:ext cx="3737300" cy="85528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gélules en cas de besoin, pendant au moins un mois</a:t>
                      </a:r>
                      <a:endParaRPr sz="10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0" name="Google Shape;9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814660"/>
            <a:ext cx="3884017" cy="3884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429" y="1160457"/>
            <a:ext cx="3605777" cy="360577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97" name="Google Shape;97;p5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Prévention de la carence martiale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Traitement de l'anémie chez l'adulte , l'enfant et la femme enceinte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Restitution des réserves en fer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Réduit le risque de constipation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Fortifie le sang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8" name="Google Shape;98;p5"/>
          <p:cNvSpPr txBox="1">
            <a:spLocks noGrp="1"/>
          </p:cNvSpPr>
          <p:nvPr>
            <p:ph type="subTitle" idx="14"/>
          </p:nvPr>
        </p:nvSpPr>
        <p:spPr>
          <a:xfrm>
            <a:off x="4084417" y="179225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sp>
        <p:nvSpPr>
          <p:cNvPr id="99" name="Google Shape;99;p5"/>
          <p:cNvSpPr txBox="1"/>
          <p:nvPr/>
        </p:nvSpPr>
        <p:spPr>
          <a:xfrm>
            <a:off x="878115" y="457660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FERSANG</a:t>
            </a:r>
            <a:endParaRPr sz="3200" b="0" i="0" u="none" strike="noStrike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0" name="Google Shape;10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90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4213005" y="2177109"/>
            <a:ext cx="3810339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140 mg de Spiruline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 mg Vitamine C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mg de Fer </a:t>
            </a:r>
            <a:r>
              <a:rPr lang="fr-FR" sz="1200" b="0" i="0" u="none" strike="noStrike" cap="none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(Fumarate de fer = 152,161 mg) 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 mg Vitamine B6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350 µg Vitamine B9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0,5 µg Vitamine B12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 txBox="1">
            <a:spLocks noGrp="1"/>
          </p:cNvSpPr>
          <p:nvPr>
            <p:ph type="subTitle" idx="14"/>
          </p:nvPr>
        </p:nvSpPr>
        <p:spPr>
          <a:xfrm>
            <a:off x="4282459" y="33497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105" name="Google Shape;105;p5"/>
          <p:cNvGraphicFramePr/>
          <p:nvPr/>
        </p:nvGraphicFramePr>
        <p:xfrm>
          <a:off x="4364705" y="3803011"/>
          <a:ext cx="3737300" cy="85528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gélules en cas de besoin, pendant au moins un mois</a:t>
                      </a:r>
                      <a:endParaRPr sz="10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111" name="Google Shape;111;p6"/>
          <p:cNvSpPr txBox="1">
            <a:spLocks noGrp="1"/>
          </p:cNvSpPr>
          <p:nvPr>
            <p:ph type="subTitle" idx="13"/>
          </p:nvPr>
        </p:nvSpPr>
        <p:spPr>
          <a:xfrm>
            <a:off x="4213005" y="497411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Prévention de la carence martiale 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Traitement de l'anémie chez l'adulte , l'enfant 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la femme 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enceinte et les personnes âgés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Restitution des réserves en fer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Réduit le risque de constipation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Fortifie le sang</a:t>
            </a:r>
            <a:endParaRPr sz="12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2" name="Google Shape;112;p6"/>
          <p:cNvSpPr txBox="1">
            <a:spLocks noGrp="1"/>
          </p:cNvSpPr>
          <p:nvPr>
            <p:ph type="subTitle" idx="14"/>
          </p:nvPr>
        </p:nvSpPr>
        <p:spPr>
          <a:xfrm>
            <a:off x="3967481" y="178485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POUR 5ML</a:t>
            </a:r>
            <a:endParaRPr sz="1800"/>
          </a:p>
        </p:txBody>
      </p:sp>
      <p:sp>
        <p:nvSpPr>
          <p:cNvPr id="113" name="Google Shape;113;p6"/>
          <p:cNvSpPr txBox="1"/>
          <p:nvPr/>
        </p:nvSpPr>
        <p:spPr>
          <a:xfrm>
            <a:off x="878115" y="457660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FERSANG</a:t>
            </a:r>
            <a:endParaRPr sz="3200" b="0" i="0" u="none" strike="noStrike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2841162" y="3706727"/>
            <a:ext cx="11263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150</a:t>
            </a: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fr-FR" sz="1800" b="1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800" b="1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4213005" y="2177109"/>
            <a:ext cx="381033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 mg de Spiruline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 mg Vitamine C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28 mg de Fer </a:t>
            </a:r>
            <a:r>
              <a:rPr lang="fr-FR" sz="1200" b="0" i="0" u="none" strike="noStrike" cap="none" dirty="0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</a:t>
            </a:r>
            <a:r>
              <a:rPr lang="fr-FR" sz="1200" dirty="0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Gluconate de fer=241,8</a:t>
            </a:r>
            <a:r>
              <a:rPr lang="fr-FR" sz="1200" b="0" i="0" u="none" strike="noStrike" cap="none" dirty="0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0,6 mg Vitamine B6 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120 µg Vitamine B9 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1,5 µg Vitamine B12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>
            <a:spLocks noGrp="1"/>
          </p:cNvSpPr>
          <p:nvPr>
            <p:ph type="subTitle" idx="14"/>
          </p:nvPr>
        </p:nvSpPr>
        <p:spPr>
          <a:xfrm>
            <a:off x="4282459" y="33497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1126" y="2801581"/>
            <a:ext cx="1453291" cy="14532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6"/>
          <p:cNvGraphicFramePr/>
          <p:nvPr/>
        </p:nvGraphicFramePr>
        <p:xfrm>
          <a:off x="4349138" y="3719925"/>
          <a:ext cx="3756700" cy="134897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364050"/>
                <a:gridCol w="820525"/>
                <a:gridCol w="814250"/>
                <a:gridCol w="757875"/>
              </a:tblGrid>
              <a:tr h="27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27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2 à 4 ans 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5ml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27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4 à 10 ans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7,5ml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46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Enfant&gt; 10 ans et adulte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10ml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119" name="Google Shape;11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023" y="969520"/>
            <a:ext cx="3615506" cy="3615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111" name="Google Shape;111;p6"/>
          <p:cNvSpPr txBox="1">
            <a:spLocks noGrp="1"/>
          </p:cNvSpPr>
          <p:nvPr>
            <p:ph type="subTitle" idx="13"/>
          </p:nvPr>
        </p:nvSpPr>
        <p:spPr>
          <a:xfrm>
            <a:off x="4213005" y="497411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Prévention de la carence martiale 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Traitement de l'anémie 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ferriprive chez </a:t>
            </a: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l'enfant 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à partir de 2 ans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Restitution des réserves en fer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Réduit le risque de constipation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Fortifie le sang</a:t>
            </a:r>
            <a:endParaRPr sz="12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2" name="Google Shape;112;p6"/>
          <p:cNvSpPr txBox="1">
            <a:spLocks noGrp="1"/>
          </p:cNvSpPr>
          <p:nvPr>
            <p:ph type="subTitle" idx="14"/>
          </p:nvPr>
        </p:nvSpPr>
        <p:spPr>
          <a:xfrm>
            <a:off x="3967481" y="178485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POUR 5ML</a:t>
            </a:r>
            <a:endParaRPr sz="1800"/>
          </a:p>
        </p:txBody>
      </p:sp>
      <p:sp>
        <p:nvSpPr>
          <p:cNvPr id="113" name="Google Shape;113;p6"/>
          <p:cNvSpPr txBox="1"/>
          <p:nvPr/>
        </p:nvSpPr>
        <p:spPr>
          <a:xfrm>
            <a:off x="878115" y="457660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FERSANG</a:t>
            </a:r>
            <a:endParaRPr sz="3200" b="0" i="0" u="none" strike="noStrike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2841162" y="3706727"/>
            <a:ext cx="11263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150</a:t>
            </a: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fr-FR" sz="1800" b="1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800" b="1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4213005" y="2177109"/>
            <a:ext cx="381033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 mg de Spiruline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 mg Vitamine C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 de Fer </a:t>
            </a:r>
            <a:r>
              <a:rPr lang="fr-FR" sz="1200" b="0" i="0" u="none" strike="noStrike" cap="none" dirty="0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</a:t>
            </a:r>
            <a:r>
              <a:rPr lang="fr-FR" sz="1200" dirty="0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Gluconate de fer=61,4 mg</a:t>
            </a:r>
            <a:r>
              <a:rPr lang="fr-FR" sz="1200" b="0" i="0" u="none" strike="noStrike" cap="none" dirty="0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0,6 mg Vitamine B6 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120 µg Vitamine B9 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1,5 µg Vitamine B12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>
            <a:spLocks noGrp="1"/>
          </p:cNvSpPr>
          <p:nvPr>
            <p:ph type="subTitle" idx="14"/>
          </p:nvPr>
        </p:nvSpPr>
        <p:spPr>
          <a:xfrm>
            <a:off x="4282459" y="33497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1126" y="2801581"/>
            <a:ext cx="1453291" cy="14532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6"/>
          <p:cNvGraphicFramePr/>
          <p:nvPr/>
        </p:nvGraphicFramePr>
        <p:xfrm>
          <a:off x="4349138" y="3719925"/>
          <a:ext cx="3756700" cy="134897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364050"/>
                <a:gridCol w="820525"/>
                <a:gridCol w="814250"/>
                <a:gridCol w="757875"/>
              </a:tblGrid>
              <a:tr h="27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27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2 à 4 ans 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5ml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27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4 à 10 ans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7,5ml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46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Enfant&gt; 10 ans et adulte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10ml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1026" name="Picture 2" descr="https://vital.com.tn/wp-content/uploads/2022/08/Fersang-junio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3" y="1326475"/>
            <a:ext cx="2327563" cy="306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494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125" name="Google Shape;125;p7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Prévention de la </a:t>
            </a:r>
            <a:r>
              <a:rPr lang="fr-FR" sz="1200" dirty="0"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carence</a:t>
            </a: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 martiale 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Traitement de l'anémie chez l'adulte , l'enfant et la femme enceinte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Restitution des réserves en fer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Réduit le risque de constipation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Fortifie le sang</a:t>
            </a:r>
            <a:endParaRPr sz="12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14"/>
          </p:nvPr>
        </p:nvSpPr>
        <p:spPr>
          <a:xfrm>
            <a:off x="4084417" y="168014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127" name="Google Shape;127;p7"/>
          <p:cNvSpPr txBox="1"/>
          <p:nvPr/>
        </p:nvSpPr>
        <p:spPr>
          <a:xfrm>
            <a:off x="-46173" y="529259"/>
            <a:ext cx="57908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FERSANG BISGLYCINATE FER </a:t>
            </a:r>
            <a:endParaRPr/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4199551" y="1997632"/>
            <a:ext cx="3810339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210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 de Spiruline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80 mg Vitamine C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14 mg de Fer (BISGLYCINATE de fer = </a:t>
            </a: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65,1163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 4 mg Vitamine B6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 mg de Cuivre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 µg Vitamine B9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2,5 µg Vitamine 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B12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sym typeface="Montserrat Medium"/>
              </a:rPr>
              <a:t>10 mg Zinc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subTitle" idx="14"/>
          </p:nvPr>
        </p:nvSpPr>
        <p:spPr>
          <a:xfrm>
            <a:off x="4269005" y="360419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33" name="Google Shape;133;p7"/>
          <p:cNvGraphicFramePr/>
          <p:nvPr>
            <p:extLst>
              <p:ext uri="{D42A27DB-BD31-4B8C-83A1-F6EECF244321}">
                <p14:modId xmlns:p14="http://schemas.microsoft.com/office/powerpoint/2010/main" val="973997520"/>
              </p:ext>
            </p:extLst>
          </p:nvPr>
        </p:nvGraphicFramePr>
        <p:xfrm>
          <a:off x="4360905" y="4158406"/>
          <a:ext cx="3749900" cy="7294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 dirty="0"/>
                        <a:t>       -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11" y="1379710"/>
            <a:ext cx="2463389" cy="30900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985849" y="493164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81" name="Google Shape;81;p4"/>
          <p:cNvSpPr txBox="1">
            <a:spLocks noGrp="1"/>
          </p:cNvSpPr>
          <p:nvPr>
            <p:ph type="subTitle" idx="13"/>
          </p:nvPr>
        </p:nvSpPr>
        <p:spPr>
          <a:xfrm>
            <a:off x="4213005" y="1273096"/>
            <a:ext cx="4930995" cy="119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Clr>
                <a:srgbClr val="666666"/>
              </a:buClr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66666"/>
                </a:solidFill>
                <a:latin typeface="Montserrat Medium" panose="020B0604020202020204" charset="0"/>
              </a:rPr>
              <a:t>Corrige </a:t>
            </a:r>
            <a:r>
              <a:rPr lang="fr-FR" sz="1200" dirty="0" err="1">
                <a:solidFill>
                  <a:srgbClr val="666666"/>
                </a:solidFill>
                <a:latin typeface="Montserrat Medium" panose="020B0604020202020204" charset="0"/>
              </a:rPr>
              <a:t>éfficacement</a:t>
            </a:r>
            <a:r>
              <a:rPr lang="fr-FR" sz="1200" dirty="0">
                <a:solidFill>
                  <a:srgbClr val="666666"/>
                </a:solidFill>
                <a:latin typeface="Montserrat Medium" panose="020B0604020202020204" charset="0"/>
              </a:rPr>
              <a:t> la carence martiale grâce à une biodisponibilité optimisée par la vitamine C et les acides aminés chélateurs.</a:t>
            </a:r>
          </a:p>
          <a:p>
            <a:pPr lvl="0" algn="l">
              <a:buClr>
                <a:srgbClr val="666666"/>
              </a:buClr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66666"/>
                </a:solidFill>
                <a:latin typeface="Montserrat Medium" panose="020B0604020202020204" charset="0"/>
              </a:rPr>
              <a:t>Prévient </a:t>
            </a:r>
            <a:r>
              <a:rPr lang="fr-FR" sz="1200" dirty="0">
                <a:solidFill>
                  <a:srgbClr val="666666"/>
                </a:solidFill>
                <a:latin typeface="Montserrat Medium" panose="020B0604020202020204" charset="0"/>
              </a:rPr>
              <a:t>l’anémie ferriprive chez les populations à risque</a:t>
            </a:r>
          </a:p>
          <a:p>
            <a:pPr lvl="0" algn="l">
              <a:buClr>
                <a:srgbClr val="666666"/>
              </a:buClr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66666"/>
                </a:solidFill>
                <a:latin typeface="Montserrat Medium" panose="020B0604020202020204" charset="0"/>
              </a:rPr>
              <a:t>Soutient </a:t>
            </a:r>
            <a:r>
              <a:rPr lang="fr-FR" sz="1200" dirty="0">
                <a:solidFill>
                  <a:srgbClr val="666666"/>
                </a:solidFill>
                <a:latin typeface="Montserrat Medium" panose="020B0604020202020204" charset="0"/>
              </a:rPr>
              <a:t>la formation de l’hémoglobine et des globules rouges via l’action synergique du fer et des vitamines B6, B9 et B12.</a:t>
            </a:r>
          </a:p>
          <a:p>
            <a:pPr lvl="0" algn="l">
              <a:buClr>
                <a:srgbClr val="666666"/>
              </a:buClr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66666"/>
                </a:solidFill>
                <a:latin typeface="Montserrat Medium" panose="020B0604020202020204" charset="0"/>
              </a:rPr>
              <a:t> </a:t>
            </a:r>
            <a:r>
              <a:rPr lang="fr-FR" sz="1200" dirty="0">
                <a:solidFill>
                  <a:srgbClr val="666666"/>
                </a:solidFill>
                <a:latin typeface="Montserrat Medium" panose="020B0604020202020204" charset="0"/>
              </a:rPr>
              <a:t>Réduit les manifestations fonctionnelles de la carence en fer, notamment la fatigue et la baisse de performance</a:t>
            </a:r>
          </a:p>
          <a:p>
            <a:pPr lvl="0" algn="l">
              <a:buClr>
                <a:srgbClr val="666666"/>
              </a:buClr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66666"/>
                </a:solidFill>
                <a:latin typeface="Montserrat Medium" panose="020B0604020202020204" charset="0"/>
              </a:rPr>
              <a:t>Améliore </a:t>
            </a:r>
            <a:r>
              <a:rPr lang="fr-FR" sz="1200" dirty="0">
                <a:solidFill>
                  <a:srgbClr val="666666"/>
                </a:solidFill>
                <a:latin typeface="Montserrat Medium" panose="020B0604020202020204" charset="0"/>
              </a:rPr>
              <a:t>l’absorption et la tolérance digestive du fer grâce à l’association pré et </a:t>
            </a:r>
            <a:r>
              <a:rPr lang="fr-FR" sz="1200" dirty="0" err="1">
                <a:solidFill>
                  <a:srgbClr val="666666"/>
                </a:solidFill>
                <a:latin typeface="Montserrat Medium" panose="020B0604020202020204" charset="0"/>
              </a:rPr>
              <a:t>probiotiques</a:t>
            </a:r>
            <a:r>
              <a:rPr lang="fr-FR" sz="1200" dirty="0">
                <a:solidFill>
                  <a:srgbClr val="666666"/>
                </a:solidFill>
                <a:latin typeface="Montserrat Medium" panose="020B0604020202020204" charset="0"/>
              </a:rPr>
              <a:t> naturels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endParaRPr sz="12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69919" y="458880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</a:t>
            </a:r>
            <a:endParaRPr sz="32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50" name="Picture 2" descr="https://vital.com.tn/wp-content/uploads/2023/10/FerBiotic-Gelul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1996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453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146369" y="1453685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83" name="Google Shape;83;p4"/>
          <p:cNvSpPr txBox="1"/>
          <p:nvPr/>
        </p:nvSpPr>
        <p:spPr>
          <a:xfrm>
            <a:off x="569919" y="458880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</a:t>
            </a:r>
            <a:endParaRPr sz="32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4213005" y="1632185"/>
            <a:ext cx="3810339" cy="3508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8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0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mg Vitamine C</a:t>
            </a:r>
            <a:endParaRPr dirty="0">
              <a:latin typeface="Montserrat Medium" panose="020B060402020202020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1 34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mg </a:t>
            </a:r>
            <a:r>
              <a:rPr lang="fr-FR" sz="1200" dirty="0" err="1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Bisglycinate</a:t>
            </a: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 de fer </a:t>
            </a:r>
            <a:r>
              <a:rPr lang="fr-FR" sz="1200" b="0" i="0" u="none" strike="noStrike" cap="none" dirty="0" smtClean="0">
                <a:solidFill>
                  <a:srgbClr val="E14D4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(28 mg de fer élément) </a:t>
            </a:r>
            <a:endParaRPr dirty="0">
              <a:latin typeface="Montserrat Medium" panose="020B060402020202020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200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µg de Vitamine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B9</a:t>
            </a:r>
            <a:endParaRPr dirty="0">
              <a:latin typeface="Montserrat Medium" panose="020B060402020202020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,5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µg 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de Vitamine B12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1,7 mg de Vitamine B 6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50 mg de </a:t>
            </a:r>
            <a:r>
              <a:rPr lang="fr-FR" sz="1200" dirty="0" err="1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Lévure</a:t>
            </a: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fr-FR" sz="1200" dirty="0" err="1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Biére</a:t>
            </a:r>
            <a:endParaRPr lang="fr-FR" sz="1200" dirty="0" smtClean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53,5 mg de </a:t>
            </a:r>
            <a:r>
              <a:rPr lang="fr-FR" sz="1200" dirty="0" err="1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Linuline</a:t>
            </a: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 de Chicorée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Histidine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Lysine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Glycine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dirty="0" smtClean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b="0" i="0" u="none" strike="noStrike" cap="none" dirty="0" smtClean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fr-FR" sz="1200" b="0" i="0" u="none" strike="noStrike" cap="none" dirty="0" smtClean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b="0" i="0" u="none" strike="noStrike" cap="none" dirty="0" smtClean="0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443405" y="38325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 smtClean="0"/>
              <a:t>POSOLOGIE</a:t>
            </a:r>
            <a:endParaRPr sz="18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3894630803"/>
              </p:ext>
            </p:extLst>
          </p:nvPr>
        </p:nvGraphicFramePr>
        <p:xfrm>
          <a:off x="4358183" y="4241360"/>
          <a:ext cx="3737300" cy="85528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gélules en cas de besoin, pendant au moins un mois</a:t>
                      </a:r>
                      <a:endParaRPr sz="10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 descr="https://vital.com.tn/wp-content/uploads/2023/10/FerBiotic-Gelul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1996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054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135861" y="166705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</a:t>
            </a:r>
            <a:r>
              <a:rPr lang="fr-FR" sz="1800" dirty="0" smtClean="0"/>
              <a:t>PAR 10 ml</a:t>
            </a:r>
            <a:endParaRPr sz="1800" dirty="0"/>
          </a:p>
        </p:txBody>
      </p:sp>
      <p:sp>
        <p:nvSpPr>
          <p:cNvPr id="83" name="Google Shape;83;p4"/>
          <p:cNvSpPr txBox="1"/>
          <p:nvPr/>
        </p:nvSpPr>
        <p:spPr>
          <a:xfrm>
            <a:off x="569919" y="458880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</a:t>
            </a:r>
            <a:endParaRPr sz="32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4217471" y="1879091"/>
            <a:ext cx="3810339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8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0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mg Vitamine C</a:t>
            </a:r>
            <a:endParaRPr dirty="0">
              <a:latin typeface="Montserrat Medium" panose="020B060402020202020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1 34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mg </a:t>
            </a:r>
            <a:r>
              <a:rPr lang="fr-FR" sz="1200" dirty="0" err="1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Bisglycinate</a:t>
            </a: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 de fer </a:t>
            </a:r>
            <a:r>
              <a:rPr lang="fr-FR" sz="1200" b="0" i="0" u="none" strike="noStrike" cap="none" dirty="0" smtClean="0">
                <a:solidFill>
                  <a:srgbClr val="E14D4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(28 mg de fer élément) </a:t>
            </a:r>
            <a:endParaRPr dirty="0">
              <a:latin typeface="Montserrat Medium" panose="020B060402020202020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200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µg de Vitamine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B9</a:t>
            </a:r>
            <a:endParaRPr dirty="0">
              <a:latin typeface="Montserrat Medium" panose="020B060402020202020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,5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µg 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de Vitamine B12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1,7 mg de Vitamine B 6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Histidine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Lysine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Glycine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dirty="0" smtClean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b="0" i="0" u="none" strike="noStrike" cap="none" dirty="0" smtClean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fr-FR" sz="1200" b="0" i="0" u="none" strike="noStrike" cap="none" dirty="0" smtClean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b="0" i="0" u="none" strike="noStrike" cap="none" dirty="0" smtClean="0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443405" y="38325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 smtClean="0"/>
              <a:t>POSOLOGIE</a:t>
            </a:r>
            <a:endParaRPr sz="18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2504637227"/>
              </p:ext>
            </p:extLst>
          </p:nvPr>
        </p:nvGraphicFramePr>
        <p:xfrm>
          <a:off x="4358183" y="4241360"/>
          <a:ext cx="3737300" cy="85528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 ml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</a:t>
                      </a:r>
                      <a:r>
                        <a:rPr lang="fr-FR" sz="1000" u="none" strike="noStrike" cap="none" baseline="0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ml x 2</a:t>
                      </a:r>
                      <a:r>
                        <a:rPr lang="fr-FR" sz="10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r>
                        <a:rPr lang="fr-FR" sz="10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 cas de besoin, pendant au moins un mois</a:t>
                      </a:r>
                      <a:endParaRPr sz="10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Google Shape;22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9714" y="2794567"/>
            <a:ext cx="1453291" cy="145329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7;p13"/>
          <p:cNvSpPr txBox="1"/>
          <p:nvPr/>
        </p:nvSpPr>
        <p:spPr>
          <a:xfrm>
            <a:off x="2978185" y="3727862"/>
            <a:ext cx="11263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u="none" strike="noStrike" cap="none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150</a:t>
            </a:r>
            <a:r>
              <a:rPr lang="fr-FR" sz="2400" b="1" i="0" u="none" strike="noStrike" cap="none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fr-FR" sz="1800" b="1" i="0" u="none" strike="noStrike" cap="none" dirty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800" b="1" i="0" u="none" strike="noStrike" cap="none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73" y="1289333"/>
            <a:ext cx="2857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48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146369" y="1453685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</a:t>
            </a:r>
            <a:r>
              <a:rPr lang="fr-FR" sz="1800" dirty="0" smtClean="0"/>
              <a:t>1 sachet</a:t>
            </a:r>
            <a:endParaRPr sz="1800" dirty="0"/>
          </a:p>
        </p:txBody>
      </p:sp>
      <p:sp>
        <p:nvSpPr>
          <p:cNvPr id="83" name="Google Shape;83;p4"/>
          <p:cNvSpPr txBox="1"/>
          <p:nvPr/>
        </p:nvSpPr>
        <p:spPr>
          <a:xfrm>
            <a:off x="569919" y="458880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</a:t>
            </a:r>
            <a:endParaRPr sz="32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fr-FR" sz="2400" b="1" i="0" u="none" strike="noStrike" cap="none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 smtClean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Sachets</a:t>
            </a:r>
            <a:endParaRPr sz="1100" b="0" i="0" u="none" strike="noStrike" cap="none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4213005" y="1737227"/>
            <a:ext cx="3810339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8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0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mg Vitamine C</a:t>
            </a:r>
            <a:endParaRPr dirty="0">
              <a:latin typeface="Montserrat Medium" panose="020B060402020202020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1 34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mg </a:t>
            </a:r>
            <a:r>
              <a:rPr lang="fr-FR" sz="1200" dirty="0" err="1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Bisglycinate</a:t>
            </a: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 de fer </a:t>
            </a:r>
            <a:r>
              <a:rPr lang="fr-FR" sz="1200" b="0" i="0" u="none" strike="noStrike" cap="none" dirty="0" smtClean="0">
                <a:solidFill>
                  <a:srgbClr val="E14D4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(28 mg de fer élément) </a:t>
            </a:r>
            <a:endParaRPr dirty="0">
              <a:latin typeface="Montserrat Medium" panose="020B060402020202020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200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µg de Vitamine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B9</a:t>
            </a:r>
            <a:endParaRPr dirty="0">
              <a:latin typeface="Montserrat Medium" panose="020B0604020202020204" charset="0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,5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µg 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de Vitamine B12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1,7 mg de Vitamine B 6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Histidine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Lysine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 panose="020B0604020202020204" charset="0"/>
                <a:ea typeface="Montserrat Medium"/>
                <a:cs typeface="Montserrat Medium"/>
                <a:sym typeface="Montserrat Medium"/>
              </a:rPr>
              <a:t>25 mg de Glycine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dirty="0" smtClean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b="0" i="0" u="none" strike="noStrike" cap="none" dirty="0" smtClean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fr-FR" sz="1200" b="0" i="0" u="none" strike="noStrike" cap="none" dirty="0" smtClean="0">
              <a:solidFill>
                <a:srgbClr val="6D6D6D"/>
              </a:solidFill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b="0" i="0" u="none" strike="noStrike" cap="none" dirty="0" smtClean="0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443405" y="38325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 smtClean="0"/>
              <a:t>POSOLOGIE</a:t>
            </a:r>
            <a:endParaRPr sz="18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3412572983"/>
              </p:ext>
            </p:extLst>
          </p:nvPr>
        </p:nvGraphicFramePr>
        <p:xfrm>
          <a:off x="4358183" y="4241360"/>
          <a:ext cx="3737300" cy="85528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</a:t>
                      </a:r>
                      <a:r>
                        <a:rPr lang="fr-FR" sz="12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sachet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</a:t>
                      </a:r>
                      <a:r>
                        <a:rPr lang="fr-FR" sz="10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sachets </a:t>
                      </a:r>
                      <a:r>
                        <a:rPr lang="fr-FR" sz="10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 cas de besoin, pendant au moins un mois</a:t>
                      </a:r>
                      <a:endParaRPr sz="10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 descr="https://vital.com.tn/wp-content/uploads/2023/10/FerBiotic-Sachet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5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644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4313344" y="548018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81" name="Google Shape;81;p4"/>
          <p:cNvSpPr txBox="1">
            <a:spLocks noGrp="1"/>
          </p:cNvSpPr>
          <p:nvPr>
            <p:ph type="subTitle" idx="13"/>
          </p:nvPr>
        </p:nvSpPr>
        <p:spPr>
          <a:xfrm>
            <a:off x="3297603" y="1333500"/>
            <a:ext cx="5694680" cy="292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Traitement </a:t>
            </a:r>
            <a:r>
              <a:rPr lang="fr-FR" sz="1200" dirty="0">
                <a:latin typeface="Montserrat Medium" panose="020B0604020202020204" charset="0"/>
              </a:rPr>
              <a:t>et prévention  des carences martiales  avec un fer </a:t>
            </a:r>
            <a:r>
              <a:rPr lang="fr-FR" sz="1200" dirty="0" err="1">
                <a:latin typeface="Montserrat Medium" panose="020B0604020202020204" charset="0"/>
              </a:rPr>
              <a:t>liposomal</a:t>
            </a:r>
            <a:r>
              <a:rPr lang="fr-FR" sz="1200" dirty="0">
                <a:latin typeface="Montserrat Medium" panose="020B0604020202020204" charset="0"/>
              </a:rPr>
              <a:t> à</a:t>
            </a:r>
            <a:r>
              <a:rPr lang="fr-FR" sz="1200" b="1" dirty="0">
                <a:latin typeface="Montserrat Medium" panose="020B0604020202020204" charset="0"/>
              </a:rPr>
              <a:t> </a:t>
            </a:r>
            <a:r>
              <a:rPr lang="fr-FR" sz="1200" dirty="0">
                <a:latin typeface="Montserrat Medium" panose="020B0604020202020204" charset="0"/>
              </a:rPr>
              <a:t>absorption élevée et tolérance optimale</a:t>
            </a:r>
            <a:r>
              <a:rPr lang="fr-FR" sz="1200" b="1" dirty="0">
                <a:latin typeface="Montserrat Medium" panose="020B0604020202020204" charset="0"/>
              </a:rPr>
              <a:t>.</a:t>
            </a:r>
            <a:endParaRPr lang="fr-FR" sz="1200" dirty="0">
              <a:latin typeface="Montserrat Medium" panose="020B06040202020202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Une </a:t>
            </a:r>
            <a:r>
              <a:rPr lang="fr-FR" sz="1200" dirty="0">
                <a:latin typeface="Montserrat Medium" panose="020B0604020202020204" charset="0"/>
              </a:rPr>
              <a:t>synergie fer </a:t>
            </a:r>
            <a:r>
              <a:rPr lang="fr-FR" sz="1200" dirty="0" err="1">
                <a:latin typeface="Montserrat Medium" panose="020B0604020202020204" charset="0"/>
              </a:rPr>
              <a:t>liposomal</a:t>
            </a:r>
            <a:r>
              <a:rPr lang="fr-FR" sz="1200" dirty="0">
                <a:latin typeface="Montserrat Medium" panose="020B0604020202020204" charset="0"/>
              </a:rPr>
              <a:t> – vitamine C – </a:t>
            </a:r>
            <a:r>
              <a:rPr lang="fr-FR" sz="1200" dirty="0" err="1">
                <a:latin typeface="Montserrat Medium" panose="020B0604020202020204" charset="0"/>
              </a:rPr>
              <a:t>luzixine</a:t>
            </a:r>
            <a:r>
              <a:rPr lang="fr-FR" sz="1200" dirty="0">
                <a:latin typeface="Montserrat Medium" panose="020B0604020202020204" charset="0"/>
              </a:rPr>
              <a:t> qui assure une biodisponibilité maximale et une stimulation efficace de l’érythropoïèse.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Une </a:t>
            </a:r>
            <a:r>
              <a:rPr lang="fr-FR" sz="1200" dirty="0">
                <a:latin typeface="Montserrat Medium" panose="020B0604020202020204" charset="0"/>
              </a:rPr>
              <a:t>réduction rapide de l’asthénie et de la fatigue avec soutien des fonctions immunitaires liées au déficit en fer.</a:t>
            </a:r>
          </a:p>
        </p:txBody>
      </p:sp>
      <p:sp>
        <p:nvSpPr>
          <p:cNvPr id="83" name="Google Shape;83;p4"/>
          <p:cNvSpPr txBox="1"/>
          <p:nvPr/>
        </p:nvSpPr>
        <p:spPr>
          <a:xfrm>
            <a:off x="37288" y="434131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LIPO</a:t>
            </a:r>
            <a:endParaRPr sz="32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100" name="Picture 4" descr="https://vital.com.tn/wp-content/uploads/2025/06/FERBIOTIC-LIP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180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198994" y="133350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83" name="Google Shape;83;p4"/>
          <p:cNvSpPr txBox="1"/>
          <p:nvPr/>
        </p:nvSpPr>
        <p:spPr>
          <a:xfrm>
            <a:off x="37288" y="434131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FERBIOTIC LIPO</a:t>
            </a:r>
            <a:endParaRPr sz="32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4314128" y="1698336"/>
            <a:ext cx="3810339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 mg de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Vitamine C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14 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 Fer </a:t>
            </a:r>
            <a:r>
              <a:rPr lang="fr-FR" sz="1200" b="0" i="0" u="none" strike="noStrike" cap="none" dirty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(Fumarate de </a:t>
            </a:r>
            <a:r>
              <a:rPr lang="fr-FR" sz="1200" b="0" i="0" u="none" strike="noStrike" cap="none" dirty="0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fer </a:t>
            </a:r>
            <a:r>
              <a:rPr lang="fr-FR" sz="1200" b="0" i="0" u="none" strike="noStrike" cap="none" dirty="0" err="1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liposomal</a:t>
            </a:r>
            <a:r>
              <a:rPr lang="fr-FR" sz="1200" b="0" i="0" u="none" strike="noStrike" cap="none" dirty="0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= </a:t>
            </a:r>
            <a:r>
              <a:rPr lang="fr-FR" sz="1200" dirty="0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74</a:t>
            </a:r>
            <a:r>
              <a:rPr lang="fr-FR" sz="1200" b="0" i="0" u="none" strike="noStrike" cap="none" dirty="0" smtClean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>
                <a:solidFill>
                  <a:srgbClr val="E14D4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mg) 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µg de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Vitamine B9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,5 µg de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Vitamine B12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56560" y="3109329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2222166975"/>
              </p:ext>
            </p:extLst>
          </p:nvPr>
        </p:nvGraphicFramePr>
        <p:xfrm>
          <a:off x="4350646" y="3700553"/>
          <a:ext cx="3737300" cy="85528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gélules en cas de besoin, pendant au moins un mois</a:t>
                      </a:r>
                      <a:endParaRPr sz="10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100" name="Picture 4" descr="https://vital.com.tn/wp-content/uploads/2025/06/FERBIOTIC-LIP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903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Production d'énergie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Équilibre du système nerveux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Prévention cardiovasculaire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Renouvellement cellulaire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2" name="Google Shape;142;p8"/>
          <p:cNvSpPr txBox="1">
            <a:spLocks noGrp="1"/>
          </p:cNvSpPr>
          <p:nvPr>
            <p:ph type="subTitle" idx="14"/>
          </p:nvPr>
        </p:nvSpPr>
        <p:spPr>
          <a:xfrm>
            <a:off x="4084417" y="179225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sp>
        <p:nvSpPr>
          <p:cNvPr id="143" name="Google Shape;143;p8"/>
          <p:cNvSpPr txBox="1"/>
          <p:nvPr/>
        </p:nvSpPr>
        <p:spPr>
          <a:xfrm>
            <a:off x="886797" y="419641"/>
            <a:ext cx="579081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TETRA B</a:t>
            </a:r>
            <a:endParaRPr/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4213005" y="2138216"/>
            <a:ext cx="38103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1,4 mg de Vitamine B6 (Pyridoxine hydrochloride)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1,1 mg de Vitamine B1 (Thiamine)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µg de Vitamine BB(Biotine)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2,5 µg de Vitamine B12 (Cyanocobalamin)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subTitle" idx="14"/>
          </p:nvPr>
        </p:nvSpPr>
        <p:spPr>
          <a:xfrm>
            <a:off x="4308303" y="342270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149" name="Google Shape;149;p8"/>
          <p:cNvGraphicFramePr/>
          <p:nvPr/>
        </p:nvGraphicFramePr>
        <p:xfrm>
          <a:off x="4355970" y="3874340"/>
          <a:ext cx="3749900" cy="7294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 dirty="0"/>
                        <a:t>       -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 dirty="0"/>
                        <a:t>       -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13" name="Picture 4" descr="https://vital.com.tn/wp-content/uploads/2020/09/Tetra-B-sit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38" y="1229710"/>
            <a:ext cx="2444982" cy="330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/>
        </p:nvSpPr>
        <p:spPr>
          <a:xfrm>
            <a:off x="65293" y="433652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LV.VITAMINE D3</a:t>
            </a:r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157" name="Google Shape;157;p9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Immunostimulant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Réduit le risque d'infections respiratoires graves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Améliore l'absorption du calcium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Aide à maintenir des os solides et sains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Nécessaire pour le bon fonctionnement des muscles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8" name="Google Shape;158;p9"/>
          <p:cNvSpPr txBox="1">
            <a:spLocks noGrp="1"/>
          </p:cNvSpPr>
          <p:nvPr>
            <p:ph type="subTitle" idx="14"/>
          </p:nvPr>
        </p:nvSpPr>
        <p:spPr>
          <a:xfrm>
            <a:off x="4084417" y="2129525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4213005" y="2492404"/>
            <a:ext cx="38103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 µg / 400 UI de Vitamine D3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 txBox="1">
            <a:spLocks noGrp="1"/>
          </p:cNvSpPr>
          <p:nvPr>
            <p:ph type="subTitle" idx="14"/>
          </p:nvPr>
        </p:nvSpPr>
        <p:spPr>
          <a:xfrm>
            <a:off x="4308303" y="311540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164" name="Google Shape;164;p9"/>
          <p:cNvGraphicFramePr/>
          <p:nvPr/>
        </p:nvGraphicFramePr>
        <p:xfrm>
          <a:off x="4355970" y="3567045"/>
          <a:ext cx="3749900" cy="7294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33" y="1506911"/>
            <a:ext cx="2181268" cy="29828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829" y="981855"/>
            <a:ext cx="3971763" cy="397176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171" name="Google Shape;171;p10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Brûlures d'estomac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Remontées acides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Reflux Gastro Œsophagien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2" name="Google Shape;172;p10"/>
          <p:cNvSpPr txBox="1">
            <a:spLocks noGrp="1"/>
          </p:cNvSpPr>
          <p:nvPr>
            <p:ph type="subTitle" idx="14"/>
          </p:nvPr>
        </p:nvSpPr>
        <p:spPr>
          <a:xfrm>
            <a:off x="4049926" y="138012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POUR 20ML</a:t>
            </a:r>
            <a:endParaRPr sz="1800"/>
          </a:p>
        </p:txBody>
      </p:sp>
      <p:sp>
        <p:nvSpPr>
          <p:cNvPr id="173" name="Google Shape;173;p10"/>
          <p:cNvSpPr txBox="1"/>
          <p:nvPr/>
        </p:nvSpPr>
        <p:spPr>
          <a:xfrm>
            <a:off x="878115" y="457660"/>
            <a:ext cx="364308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ACICALM</a:t>
            </a:r>
            <a:endParaRPr/>
          </a:p>
        </p:txBody>
      </p:sp>
      <p:sp>
        <p:nvSpPr>
          <p:cNvPr id="174" name="Google Shape;174;p10"/>
          <p:cNvSpPr txBox="1"/>
          <p:nvPr/>
        </p:nvSpPr>
        <p:spPr>
          <a:xfrm>
            <a:off x="2841162" y="3706727"/>
            <a:ext cx="11263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150</a:t>
            </a: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fr-FR" sz="1800" b="1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800" b="1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4213005" y="1772379"/>
            <a:ext cx="389284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 mg de Bicarbonate de sodium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120 mg d'Extrait sec de Bardane (Arctium lappa)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120 mg d'Extrait sec de Réglisse (Glycyrrhiza glabra)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110 mg d'Extrait sec de Curcuma (Curcuma longa)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 txBox="1">
            <a:spLocks noGrp="1"/>
          </p:cNvSpPr>
          <p:nvPr>
            <p:ph type="subTitle" idx="14"/>
          </p:nvPr>
        </p:nvSpPr>
        <p:spPr>
          <a:xfrm>
            <a:off x="4282459" y="3267282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pic>
        <p:nvPicPr>
          <p:cNvPr id="177" name="Google Shape;17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31126" y="2801581"/>
            <a:ext cx="1453291" cy="14532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10"/>
          <p:cNvGraphicFramePr/>
          <p:nvPr/>
        </p:nvGraphicFramePr>
        <p:xfrm>
          <a:off x="4303505" y="3874340"/>
          <a:ext cx="3749900" cy="7294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20ml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/>
        </p:nvSpPr>
        <p:spPr>
          <a:xfrm>
            <a:off x="86445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ACICALM</a:t>
            </a:r>
            <a:endParaRPr/>
          </a:p>
        </p:txBody>
      </p:sp>
      <p:sp>
        <p:nvSpPr>
          <p:cNvPr id="185" name="Google Shape;185;p11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186" name="Google Shape;186;p11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Brûlures d'estomac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Remontées acides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Reflux Gastro Œsophagien</a:t>
            </a:r>
            <a:endParaRPr/>
          </a:p>
        </p:txBody>
      </p:sp>
      <p:sp>
        <p:nvSpPr>
          <p:cNvPr id="187" name="Google Shape;187;p11"/>
          <p:cNvSpPr txBox="1">
            <a:spLocks noGrp="1"/>
          </p:cNvSpPr>
          <p:nvPr>
            <p:ph type="subTitle" idx="14"/>
          </p:nvPr>
        </p:nvSpPr>
        <p:spPr>
          <a:xfrm>
            <a:off x="4271792" y="143248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2 GÉLULES</a:t>
            </a:r>
            <a:endParaRPr sz="1800"/>
          </a:p>
        </p:txBody>
      </p:sp>
      <p:pic>
        <p:nvPicPr>
          <p:cNvPr id="188" name="Google Shape;18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4213005" y="1855329"/>
            <a:ext cx="381033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300 mg de Bicarbonate de sodium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120 mg d'Extrait sec de Bardane (Arctium lappa)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120 mg d'Extrait sec de Réglisse (Glycyrrhiza glabra)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110 mg d'Extrait sec de Curcuma (Curcuma longa)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 txBox="1">
            <a:spLocks noGrp="1"/>
          </p:cNvSpPr>
          <p:nvPr>
            <p:ph type="subTitle" idx="14"/>
          </p:nvPr>
        </p:nvSpPr>
        <p:spPr>
          <a:xfrm>
            <a:off x="4308303" y="340021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193" name="Google Shape;193;p11"/>
          <p:cNvGraphicFramePr/>
          <p:nvPr/>
        </p:nvGraphicFramePr>
        <p:xfrm>
          <a:off x="4355970" y="3851855"/>
          <a:ext cx="3749900" cy="7294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05" y="1545022"/>
            <a:ext cx="2237293" cy="30374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4296" y="980140"/>
            <a:ext cx="4097099" cy="40970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2"/>
          <p:cNvSpPr txBox="1"/>
          <p:nvPr/>
        </p:nvSpPr>
        <p:spPr>
          <a:xfrm>
            <a:off x="86445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SPASVIT</a:t>
            </a:r>
            <a:endParaRPr sz="3200" b="0" i="0" u="none" strike="noStrike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0" name="Google Shape;200;p12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201" name="Google Shape;201;p12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Soulage les spasmes gastro-intestinaux et les coliques hépatiques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Équilibre la flore intestinale</a:t>
            </a:r>
            <a:endParaRPr/>
          </a:p>
        </p:txBody>
      </p:sp>
      <p:sp>
        <p:nvSpPr>
          <p:cNvPr id="202" name="Google Shape;202;p12"/>
          <p:cNvSpPr txBox="1">
            <a:spLocks noGrp="1"/>
          </p:cNvSpPr>
          <p:nvPr>
            <p:ph type="subTitle" idx="14"/>
          </p:nvPr>
        </p:nvSpPr>
        <p:spPr>
          <a:xfrm>
            <a:off x="4097871" y="143078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pic>
        <p:nvPicPr>
          <p:cNvPr id="203" name="Google Shape;20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2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4213005" y="1855329"/>
            <a:ext cx="3810339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150 mg d'extrait sec d'Anis (Pimpinella anisum)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 mg d'extrait sec de Fenouil (Foeniculum vulgare)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90 mg d'extrait sec de Pissenlit (Taraxacum officinale)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30 mg d'extrait sec de Camomille (Matrica recutita)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>
            <a:spLocks noGrp="1"/>
          </p:cNvSpPr>
          <p:nvPr>
            <p:ph type="subTitle" idx="14"/>
          </p:nvPr>
        </p:nvSpPr>
        <p:spPr>
          <a:xfrm>
            <a:off x="4308303" y="340771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208" name="Google Shape;208;p12"/>
          <p:cNvGraphicFramePr/>
          <p:nvPr/>
        </p:nvGraphicFramePr>
        <p:xfrm>
          <a:off x="4355970" y="3859350"/>
          <a:ext cx="3749900" cy="7294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6251" y="1034194"/>
            <a:ext cx="4016115" cy="401611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3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Soulage les spasmes gastro-intestinaux et les coliques hépatiques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Équilibre la flore intestinale</a:t>
            </a:r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subTitle" idx="14"/>
          </p:nvPr>
        </p:nvSpPr>
        <p:spPr>
          <a:xfrm>
            <a:off x="4049926" y="138012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POUR 10ML</a:t>
            </a:r>
            <a:endParaRPr sz="1800"/>
          </a:p>
        </p:txBody>
      </p:sp>
      <p:sp>
        <p:nvSpPr>
          <p:cNvPr id="217" name="Google Shape;217;p13"/>
          <p:cNvSpPr txBox="1"/>
          <p:nvPr/>
        </p:nvSpPr>
        <p:spPr>
          <a:xfrm>
            <a:off x="2841162" y="3706727"/>
            <a:ext cx="11263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u="none" strike="noStrike" cap="none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150</a:t>
            </a:r>
            <a:r>
              <a:rPr lang="fr-FR" sz="2400" b="1" i="0" u="none" strike="noStrike" cap="none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fr-FR" sz="1800" b="1" i="0" u="none" strike="noStrike" cap="none" dirty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800" b="1" i="0" u="none" strike="noStrike" cap="none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4213005" y="1772379"/>
            <a:ext cx="3892841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 mg d'extrait sec d'Anis (Pimpinella anisum)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 mg d'extrait sec de Fenouil (Foeniculum vulgare)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90 mg d'extrait sec de Pissenlit (Taraxacum officinale)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30 mg d'extrait sec de Camomille (Matrica recutita)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14"/>
          </p:nvPr>
        </p:nvSpPr>
        <p:spPr>
          <a:xfrm>
            <a:off x="4282459" y="3267282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pic>
        <p:nvPicPr>
          <p:cNvPr id="220" name="Google Shape;22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7628" y="2803917"/>
            <a:ext cx="1453291" cy="14532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13"/>
          <p:cNvGraphicFramePr/>
          <p:nvPr/>
        </p:nvGraphicFramePr>
        <p:xfrm>
          <a:off x="4303505" y="3874340"/>
          <a:ext cx="3749900" cy="100479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 et Enfants &gt; 12 ans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10ml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22" name="Google Shape;222;p13"/>
          <p:cNvSpPr txBox="1"/>
          <p:nvPr/>
        </p:nvSpPr>
        <p:spPr>
          <a:xfrm>
            <a:off x="86445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SPASVIT</a:t>
            </a:r>
            <a:endParaRPr sz="3200" b="0" i="0" u="none" strike="noStrike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70" y="966984"/>
            <a:ext cx="3920747" cy="392074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229" name="Google Shape;229;p14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973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Réduit les nausées et les vomissements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Réduit l'acidité gastrique</a:t>
            </a:r>
            <a:endParaRPr/>
          </a:p>
        </p:txBody>
      </p:sp>
      <p:sp>
        <p:nvSpPr>
          <p:cNvPr id="230" name="Google Shape;230;p14"/>
          <p:cNvSpPr txBox="1">
            <a:spLocks noGrp="1"/>
          </p:cNvSpPr>
          <p:nvPr>
            <p:ph type="subTitle" idx="14"/>
          </p:nvPr>
        </p:nvSpPr>
        <p:spPr>
          <a:xfrm>
            <a:off x="4049926" y="138012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POUR 10ML</a:t>
            </a:r>
            <a:endParaRPr sz="1800"/>
          </a:p>
        </p:txBody>
      </p:sp>
      <p:sp>
        <p:nvSpPr>
          <p:cNvPr id="231" name="Google Shape;231;p14"/>
          <p:cNvSpPr txBox="1"/>
          <p:nvPr/>
        </p:nvSpPr>
        <p:spPr>
          <a:xfrm>
            <a:off x="2841162" y="3706727"/>
            <a:ext cx="11263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150</a:t>
            </a: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fr-FR" sz="1800" b="1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800" b="1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4213005" y="1772379"/>
            <a:ext cx="389284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 mg de Bicarbonate de sodium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 mg d'extrait sec de Gingembre (Zingiber officinale)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 mg d'extrait sec de Fenouil (Foeniculum vulgare)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4"/>
          <p:cNvSpPr txBox="1">
            <a:spLocks noGrp="1"/>
          </p:cNvSpPr>
          <p:nvPr>
            <p:ph type="subTitle" idx="14"/>
          </p:nvPr>
        </p:nvSpPr>
        <p:spPr>
          <a:xfrm>
            <a:off x="4282459" y="2922512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pic>
        <p:nvPicPr>
          <p:cNvPr id="234" name="Google Shape;23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31126" y="2801581"/>
            <a:ext cx="1453291" cy="14532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14"/>
          <p:cNvGraphicFramePr/>
          <p:nvPr/>
        </p:nvGraphicFramePr>
        <p:xfrm>
          <a:off x="4303505" y="3529570"/>
          <a:ext cx="3749900" cy="118661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Enfant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5ml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5ml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5ml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6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10ml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10ml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10ml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36" name="Google Shape;236;p14"/>
          <p:cNvSpPr txBox="1"/>
          <p:nvPr/>
        </p:nvSpPr>
        <p:spPr>
          <a:xfrm>
            <a:off x="45972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PHYTOPERAN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"/>
          <p:cNvSpPr txBox="1"/>
          <p:nvPr/>
        </p:nvSpPr>
        <p:spPr>
          <a:xfrm>
            <a:off x="86445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PHYTOLAX</a:t>
            </a:r>
            <a:endParaRPr/>
          </a:p>
        </p:txBody>
      </p:sp>
      <p:sp>
        <p:nvSpPr>
          <p:cNvPr id="243" name="Google Shape;243;p15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244" name="Google Shape;244;p15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Constipation occasionnelle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Alternance 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diarrhée constipation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Confort intestinal immédiat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Laxatif puissant et stimulant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Soulagement rapide: Effet&lt; 10 heures</a:t>
            </a:r>
            <a:endParaRPr sz="12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5" name="Google Shape;245;p15"/>
          <p:cNvSpPr txBox="1">
            <a:spLocks noGrp="1"/>
          </p:cNvSpPr>
          <p:nvPr>
            <p:ph type="subTitle" idx="14"/>
          </p:nvPr>
        </p:nvSpPr>
        <p:spPr>
          <a:xfrm>
            <a:off x="4097871" y="171559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pic>
        <p:nvPicPr>
          <p:cNvPr id="246" name="Google Shape;24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5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4213005" y="2140139"/>
            <a:ext cx="381033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150 mg d'extrait sec de Séné (Senna alexandrina)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136 mg Levure de bière (Saccharomyces cerevisiae)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mg d'extrait sec d'Aloès vera (Aloe vera)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5"/>
          <p:cNvSpPr txBox="1">
            <a:spLocks noGrp="1"/>
          </p:cNvSpPr>
          <p:nvPr>
            <p:ph type="subTitle" idx="14"/>
          </p:nvPr>
        </p:nvSpPr>
        <p:spPr>
          <a:xfrm>
            <a:off x="4308303" y="339272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251" name="Google Shape;251;p15"/>
          <p:cNvGraphicFramePr/>
          <p:nvPr/>
        </p:nvGraphicFramePr>
        <p:xfrm>
          <a:off x="4213005" y="3858292"/>
          <a:ext cx="37499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/>
                        <a:t>* Période maximale de 10 jours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90" y="1408386"/>
            <a:ext cx="2329824" cy="31981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1443" y="1034194"/>
            <a:ext cx="3963649" cy="396364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6"/>
          <p:cNvSpPr txBox="1"/>
          <p:nvPr/>
        </p:nvSpPr>
        <p:spPr>
          <a:xfrm>
            <a:off x="527181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PHYTODIGEST</a:t>
            </a:r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259" name="Google Shape;259;p16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Equilibre le transit intestinal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Confort intestinal continu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Laxatif doux et lubrifiant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Constipation chronique</a:t>
            </a:r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subTitle" idx="14"/>
          </p:nvPr>
        </p:nvSpPr>
        <p:spPr>
          <a:xfrm>
            <a:off x="4270256" y="171559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3 GÉLULES</a:t>
            </a:r>
            <a:endParaRPr sz="1800"/>
          </a:p>
        </p:txBody>
      </p:sp>
      <p:pic>
        <p:nvPicPr>
          <p:cNvPr id="261" name="Google Shape;26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6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4213005" y="2140139"/>
            <a:ext cx="430890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410 mg d'Extrait sec de Psyllium (Plantago ovata)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390 mg Pectine de pomme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150 mg Agar agar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 txBox="1">
            <a:spLocks noGrp="1"/>
          </p:cNvSpPr>
          <p:nvPr>
            <p:ph type="subTitle" idx="14"/>
          </p:nvPr>
        </p:nvSpPr>
        <p:spPr>
          <a:xfrm>
            <a:off x="4293313" y="314538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266" name="Google Shape;266;p16"/>
          <p:cNvGraphicFramePr/>
          <p:nvPr/>
        </p:nvGraphicFramePr>
        <p:xfrm>
          <a:off x="4213005" y="3610957"/>
          <a:ext cx="3749900" cy="6657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21" y="1034194"/>
            <a:ext cx="3730364" cy="373036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7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273" name="Google Shape;273;p17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973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Equilibre le transit intestinal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Confort intestinal continu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Laxatif doux et lubrifiant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Constipation chronique</a:t>
            </a:r>
            <a:endParaRPr/>
          </a:p>
        </p:txBody>
      </p:sp>
      <p:sp>
        <p:nvSpPr>
          <p:cNvPr id="274" name="Google Shape;274;p17"/>
          <p:cNvSpPr txBox="1">
            <a:spLocks noGrp="1"/>
          </p:cNvSpPr>
          <p:nvPr>
            <p:ph type="subTitle" idx="14"/>
          </p:nvPr>
        </p:nvSpPr>
        <p:spPr>
          <a:xfrm>
            <a:off x="4049926" y="138012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POUR 10ML</a:t>
            </a:r>
            <a:endParaRPr sz="1800"/>
          </a:p>
        </p:txBody>
      </p:sp>
      <p:sp>
        <p:nvSpPr>
          <p:cNvPr id="275" name="Google Shape;275;p17"/>
          <p:cNvSpPr txBox="1"/>
          <p:nvPr/>
        </p:nvSpPr>
        <p:spPr>
          <a:xfrm>
            <a:off x="2841162" y="3706727"/>
            <a:ext cx="11263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150</a:t>
            </a: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fr-FR" sz="1800" b="1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800" b="1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4213005" y="1772379"/>
            <a:ext cx="389284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47,5 mg d'Extrait sec de Psyllium (Plantago ovata)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47,5 mg Pectine de pomme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25 mg Agar agar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 txBox="1">
            <a:spLocks noGrp="1"/>
          </p:cNvSpPr>
          <p:nvPr>
            <p:ph type="subTitle" idx="14"/>
          </p:nvPr>
        </p:nvSpPr>
        <p:spPr>
          <a:xfrm>
            <a:off x="4282459" y="2922512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pic>
        <p:nvPicPr>
          <p:cNvPr id="278" name="Google Shape;27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31126" y="2801581"/>
            <a:ext cx="1453291" cy="14532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9" name="Google Shape;279;p17"/>
          <p:cNvGraphicFramePr/>
          <p:nvPr/>
        </p:nvGraphicFramePr>
        <p:xfrm>
          <a:off x="4303505" y="3529570"/>
          <a:ext cx="3749875" cy="107417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542650"/>
                <a:gridCol w="742025"/>
                <a:gridCol w="727025"/>
                <a:gridCol w="738175"/>
              </a:tblGrid>
              <a:tr h="330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0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10ml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10ml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10ml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41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Enfants &lt; 6 ans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10ml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80" name="Google Shape;280;p17"/>
          <p:cNvSpPr txBox="1"/>
          <p:nvPr/>
        </p:nvSpPr>
        <p:spPr>
          <a:xfrm>
            <a:off x="527181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PHYTODIGEST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0" y="1034194"/>
            <a:ext cx="3813866" cy="381386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8"/>
          <p:cNvSpPr txBox="1"/>
          <p:nvPr/>
        </p:nvSpPr>
        <p:spPr>
          <a:xfrm>
            <a:off x="83447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HEMOSTOP</a:t>
            </a:r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Hémorroïdes</a:t>
            </a:r>
            <a:endParaRPr sz="12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Soulage la douleur de la crise hémorroïdaire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Réduit l'inflammation due à l'hémorroïde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Réduit la 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fréquence et l’intensité </a:t>
            </a: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des crises hémorroïdaires</a:t>
            </a:r>
            <a:endParaRPr dirty="0"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14"/>
          </p:nvPr>
        </p:nvSpPr>
        <p:spPr>
          <a:xfrm>
            <a:off x="4270256" y="171559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2 GÉLULES</a:t>
            </a:r>
            <a:endParaRPr sz="1800"/>
          </a:p>
        </p:txBody>
      </p:sp>
      <p:pic>
        <p:nvPicPr>
          <p:cNvPr id="290" name="Google Shape;29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8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4213005" y="2140139"/>
            <a:ext cx="430890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272 mg d'Extrait sec de Marron d'Inde (Aesculus Hypocastanum)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260 mg d'Extrait sec d'Hamamélis (Hamamélis virginiana)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 mg d'Extrait sec de Fragon (Ruscus aculeatus)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14"/>
          </p:nvPr>
        </p:nvSpPr>
        <p:spPr>
          <a:xfrm>
            <a:off x="4293313" y="314538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295" name="Google Shape;295;p18"/>
          <p:cNvGraphicFramePr/>
          <p:nvPr/>
        </p:nvGraphicFramePr>
        <p:xfrm>
          <a:off x="4213005" y="3610957"/>
          <a:ext cx="37499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 cas de besoin : Prendre 2 à 3 gélules par jour 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250" y="974361"/>
            <a:ext cx="3895129" cy="389512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9"/>
          <p:cNvSpPr txBox="1"/>
          <p:nvPr/>
        </p:nvSpPr>
        <p:spPr>
          <a:xfrm>
            <a:off x="83447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HEMOSTOP</a:t>
            </a:r>
            <a:endParaRPr/>
          </a:p>
        </p:txBody>
      </p:sp>
      <p:sp>
        <p:nvSpPr>
          <p:cNvPr id="302" name="Google Shape;302;p19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303" name="Google Shape;303;p19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Hémorroïdes</a:t>
            </a:r>
            <a:endParaRPr sz="12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Soulage la douleur de la crise hémorroïdaire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Réduit l'inflammation due à l'hémorroïde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Réduit la 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fréquence et l’intensité </a:t>
            </a: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des crises hémorroïdaires</a:t>
            </a:r>
            <a:endParaRPr dirty="0"/>
          </a:p>
        </p:txBody>
      </p:sp>
      <p:sp>
        <p:nvSpPr>
          <p:cNvPr id="304" name="Google Shape;304;p19"/>
          <p:cNvSpPr txBox="1">
            <a:spLocks noGrp="1"/>
          </p:cNvSpPr>
          <p:nvPr>
            <p:ph type="subTitle" idx="14"/>
          </p:nvPr>
        </p:nvSpPr>
        <p:spPr>
          <a:xfrm>
            <a:off x="3300856" y="1472705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</a:t>
            </a:r>
            <a:endParaRPr sz="1800"/>
          </a:p>
        </p:txBody>
      </p:sp>
      <p:sp>
        <p:nvSpPr>
          <p:cNvPr id="305" name="Google Shape;305;p19"/>
          <p:cNvSpPr txBox="1"/>
          <p:nvPr/>
        </p:nvSpPr>
        <p:spPr>
          <a:xfrm>
            <a:off x="3125595" y="3534926"/>
            <a:ext cx="78524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45g</a:t>
            </a:r>
            <a:endParaRPr sz="16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4213005" y="1897251"/>
            <a:ext cx="430890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Gel d'Aloès vera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Vitamine A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Extrait de Fragon (Ruscus aculeatus)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Extrait de Marron d'Inde (Aesculus Hypocastanum)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Extrait d'Hamamélis (Hamamélis virginiana)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Extrait d'Arnica (Arnica montana)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9"/>
          <p:cNvSpPr txBox="1">
            <a:spLocks noGrp="1"/>
          </p:cNvSpPr>
          <p:nvPr>
            <p:ph type="subTitle" idx="14"/>
          </p:nvPr>
        </p:nvSpPr>
        <p:spPr>
          <a:xfrm>
            <a:off x="4293313" y="314538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CONSEILS D'UTILISATION </a:t>
            </a:r>
            <a:endParaRPr sz="1800"/>
          </a:p>
        </p:txBody>
      </p:sp>
      <p:graphicFrame>
        <p:nvGraphicFramePr>
          <p:cNvPr id="308" name="Google Shape;308;p19"/>
          <p:cNvGraphicFramePr/>
          <p:nvPr/>
        </p:nvGraphicFramePr>
        <p:xfrm>
          <a:off x="4213005" y="3610957"/>
          <a:ext cx="3749875" cy="97294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2812400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UTILISATION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Appliquer 3 à 4 fois par jour la pommade en couche mince, après la toilette locale 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09" name="Google Shape;309;p19"/>
          <p:cNvSpPr/>
          <p:nvPr/>
        </p:nvSpPr>
        <p:spPr>
          <a:xfrm>
            <a:off x="3117158" y="3843301"/>
            <a:ext cx="664106" cy="2616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3102168" y="3820616"/>
            <a:ext cx="9989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Crème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"/>
          <p:cNvSpPr txBox="1"/>
          <p:nvPr/>
        </p:nvSpPr>
        <p:spPr>
          <a:xfrm>
            <a:off x="33980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ARTHROFORCE</a:t>
            </a:r>
            <a:endParaRPr/>
          </a:p>
        </p:txBody>
      </p:sp>
      <p:sp>
        <p:nvSpPr>
          <p:cNvPr id="317" name="Google Shape;317;p20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318" name="Google Shape;318;p20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Douleurs articulaires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Arthrose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Arthrite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Tendinite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9" name="Google Shape;319;p20"/>
          <p:cNvSpPr txBox="1">
            <a:spLocks noGrp="1"/>
          </p:cNvSpPr>
          <p:nvPr>
            <p:ph type="subTitle" idx="14"/>
          </p:nvPr>
        </p:nvSpPr>
        <p:spPr>
          <a:xfrm>
            <a:off x="4097871" y="1528218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</a:t>
            </a:r>
            <a:r>
              <a:rPr lang="fr-FR" sz="1800" dirty="0" smtClean="0"/>
              <a:t>3 GÉLULES</a:t>
            </a:r>
            <a:endParaRPr sz="1800" dirty="0"/>
          </a:p>
        </p:txBody>
      </p:sp>
      <p:pic>
        <p:nvPicPr>
          <p:cNvPr id="320" name="Google Shape;32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0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4213005" y="1952764"/>
            <a:ext cx="493099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900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 de Glucosamine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90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 d'Extrait sec d'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Harpagophytum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Harpgophytum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procumbens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sym typeface="Montserrat Medium"/>
              </a:rPr>
              <a:t>600 mg de sulfate de </a:t>
            </a:r>
            <a:r>
              <a:rPr lang="fr-FR" sz="1200" dirty="0" err="1" smtClean="0">
                <a:solidFill>
                  <a:srgbClr val="6D6D6D"/>
                </a:solidFill>
                <a:latin typeface="Montserrat Medium"/>
                <a:sym typeface="Montserrat Medium"/>
              </a:rPr>
              <a:t>chondroitine</a:t>
            </a:r>
            <a:endParaRPr lang="fr-FR" sz="1200" b="0" i="0" u="none" strike="noStrike" cap="none" dirty="0" smtClean="0">
              <a:solidFill>
                <a:srgbClr val="6D6D6D"/>
              </a:solidFill>
              <a:latin typeface="Montserrat Medium"/>
              <a:ea typeface="Arial"/>
              <a:cs typeface="Arial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sym typeface="Montserrat Medium"/>
              </a:rPr>
              <a:t>60 mg d’Extrait sec de reine de prés((</a:t>
            </a:r>
            <a:r>
              <a:rPr lang="fr-FR" sz="1200" dirty="0" err="1" smtClean="0">
                <a:solidFill>
                  <a:srgbClr val="6D6D6D"/>
                </a:solidFill>
                <a:latin typeface="Montserrat Medium"/>
                <a:sym typeface="Montserrat Medium"/>
              </a:rPr>
              <a:t>filipendila</a:t>
            </a:r>
            <a:r>
              <a:rPr lang="fr-FR" sz="1200" dirty="0" smtClean="0">
                <a:solidFill>
                  <a:srgbClr val="6D6D6D"/>
                </a:solidFill>
                <a:latin typeface="Montserrat Medium"/>
                <a:sym typeface="Montserrat Medium"/>
              </a:rPr>
              <a:t> </a:t>
            </a:r>
            <a:r>
              <a:rPr lang="fr-FR" sz="1200" dirty="0" err="1" smtClean="0">
                <a:solidFill>
                  <a:srgbClr val="6D6D6D"/>
                </a:solidFill>
                <a:latin typeface="Montserrat Medium"/>
                <a:sym typeface="Montserrat Medium"/>
              </a:rPr>
              <a:t>ulmaria</a:t>
            </a:r>
            <a:r>
              <a:rPr lang="fr-FR" sz="1200" dirty="0" smtClean="0">
                <a:solidFill>
                  <a:srgbClr val="6D6D6D"/>
                </a:solidFill>
                <a:latin typeface="Montserrat Medium"/>
                <a:sym typeface="Montserrat Medium"/>
              </a:rPr>
              <a:t>)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Arial"/>
                <a:cs typeface="Arial"/>
                <a:sym typeface="Montserrat Medium"/>
              </a:rPr>
              <a:t>60 mg d’Extrait sec de saule(</a:t>
            </a:r>
            <a:r>
              <a:rPr lang="fr-FR" sz="1200" b="0" i="0" u="none" strike="noStrike" cap="none" dirty="0" err="1" smtClean="0">
                <a:solidFill>
                  <a:srgbClr val="6D6D6D"/>
                </a:solidFill>
                <a:latin typeface="Montserrat Medium"/>
                <a:ea typeface="Arial"/>
                <a:cs typeface="Arial"/>
                <a:sym typeface="Montserrat Medium"/>
              </a:rPr>
              <a:t>salix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Arial"/>
                <a:cs typeface="Arial"/>
                <a:sym typeface="Montserrat Medium"/>
              </a:rPr>
              <a:t> alba)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sym typeface="Montserrat Medium"/>
              </a:rPr>
              <a:t>1,4 mg Vitamine B 6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Arial"/>
                <a:cs typeface="Arial"/>
                <a:sym typeface="Montserrat Medium"/>
              </a:rPr>
              <a:t>2 µg de </a:t>
            </a:r>
            <a:r>
              <a:rPr lang="fr-FR" sz="1200" b="0" i="0" u="none" strike="noStrike" cap="none" dirty="0" err="1" smtClean="0">
                <a:solidFill>
                  <a:srgbClr val="6D6D6D"/>
                </a:solidFill>
                <a:latin typeface="Montserrat Medium"/>
                <a:ea typeface="Arial"/>
                <a:cs typeface="Arial"/>
                <a:sym typeface="Montserrat Medium"/>
              </a:rPr>
              <a:t>Manganése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0"/>
          <p:cNvSpPr txBox="1">
            <a:spLocks noGrp="1"/>
          </p:cNvSpPr>
          <p:nvPr>
            <p:ph type="subTitle" idx="14"/>
          </p:nvPr>
        </p:nvSpPr>
        <p:spPr>
          <a:xfrm>
            <a:off x="4197666" y="3522384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325" name="Google Shape;325;p20"/>
          <p:cNvGraphicFramePr/>
          <p:nvPr>
            <p:extLst>
              <p:ext uri="{D42A27DB-BD31-4B8C-83A1-F6EECF244321}">
                <p14:modId xmlns:p14="http://schemas.microsoft.com/office/powerpoint/2010/main" val="824489633"/>
              </p:ext>
            </p:extLst>
          </p:nvPr>
        </p:nvGraphicFramePr>
        <p:xfrm>
          <a:off x="4213005" y="3956597"/>
          <a:ext cx="4247824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061956"/>
                <a:gridCol w="1061956"/>
                <a:gridCol w="1061956"/>
                <a:gridCol w="1061956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</a:t>
                      </a:r>
                      <a:r>
                        <a:rPr lang="fr-FR" sz="12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gélule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</a:t>
                      </a:r>
                      <a:r>
                        <a:rPr lang="fr-FR" sz="12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r>
                        <a:rPr lang="fr-FR" sz="12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gélules</a:t>
                      </a:r>
                      <a:endParaRPr dirty="0"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Après les repas </a:t>
                      </a:r>
                      <a:endParaRPr dirty="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0315" y="741806"/>
            <a:ext cx="4121039" cy="393086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523" y="962389"/>
            <a:ext cx="3641361" cy="3641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31126" y="2801581"/>
            <a:ext cx="1453291" cy="145329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1"/>
          <p:cNvSpPr txBox="1">
            <a:spLocks noGrp="1"/>
          </p:cNvSpPr>
          <p:nvPr>
            <p:ph type="subTitle" idx="9"/>
          </p:nvPr>
        </p:nvSpPr>
        <p:spPr>
          <a:xfrm>
            <a:off x="3782206" y="3871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333" name="Google Shape;333;p21"/>
          <p:cNvSpPr txBox="1">
            <a:spLocks noGrp="1"/>
          </p:cNvSpPr>
          <p:nvPr>
            <p:ph type="subTitle" idx="13"/>
          </p:nvPr>
        </p:nvSpPr>
        <p:spPr>
          <a:xfrm>
            <a:off x="4213005" y="381423"/>
            <a:ext cx="3892841" cy="973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Douleurs articulaires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Arthrose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Arthrite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Tendinite</a:t>
            </a:r>
            <a:endParaRPr/>
          </a:p>
        </p:txBody>
      </p:sp>
      <p:sp>
        <p:nvSpPr>
          <p:cNvPr id="334" name="Google Shape;334;p21"/>
          <p:cNvSpPr txBox="1">
            <a:spLocks noGrp="1"/>
          </p:cNvSpPr>
          <p:nvPr>
            <p:ph type="subTitle" idx="14"/>
          </p:nvPr>
        </p:nvSpPr>
        <p:spPr>
          <a:xfrm>
            <a:off x="4297261" y="130517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</a:t>
            </a:r>
            <a:endParaRPr sz="1800"/>
          </a:p>
        </p:txBody>
      </p:sp>
      <p:sp>
        <p:nvSpPr>
          <p:cNvPr id="335" name="Google Shape;335;p21"/>
          <p:cNvSpPr txBox="1"/>
          <p:nvPr/>
        </p:nvSpPr>
        <p:spPr>
          <a:xfrm>
            <a:off x="2841162" y="3706727"/>
            <a:ext cx="112631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fr-FR" sz="1800" b="1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800" b="1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4213005" y="1697429"/>
            <a:ext cx="445131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Romarin (Rosmarinus officinalis)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Lavande (Lavandula angustifolia)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Menthe (Mentha piperita)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Cyprès (Cupressus sempervirens)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d'Eucalyptus (Eucalyptus globulus)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Girofie (Eugenia caryophyllata)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1"/>
          <p:cNvSpPr txBox="1">
            <a:spLocks noGrp="1"/>
          </p:cNvSpPr>
          <p:nvPr>
            <p:ph type="subTitle" idx="14"/>
          </p:nvPr>
        </p:nvSpPr>
        <p:spPr>
          <a:xfrm>
            <a:off x="4282459" y="326728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CONSEILS D'UTILISATION</a:t>
            </a:r>
            <a:endParaRPr sz="1800"/>
          </a:p>
        </p:txBody>
      </p:sp>
      <p:graphicFrame>
        <p:nvGraphicFramePr>
          <p:cNvPr id="338" name="Google Shape;338;p21"/>
          <p:cNvGraphicFramePr/>
          <p:nvPr/>
        </p:nvGraphicFramePr>
        <p:xfrm>
          <a:off x="4286958" y="3791893"/>
          <a:ext cx="4542250" cy="120547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868625"/>
                <a:gridCol w="2673625"/>
              </a:tblGrid>
              <a:tr h="26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UTILISATION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54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Appliquer quelques gouttes d'huile et masser doucement l'articulation 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67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 cos de douleur : 2 applications le matin et le soir 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9" name="Google Shape;339;p21"/>
          <p:cNvSpPr txBox="1"/>
          <p:nvPr/>
        </p:nvSpPr>
        <p:spPr>
          <a:xfrm>
            <a:off x="33980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ARTHROFORCE</a:t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2799034" y="1544589"/>
            <a:ext cx="1371843" cy="305679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2784044" y="1574980"/>
            <a:ext cx="206062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de massage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4268" y="1116767"/>
            <a:ext cx="3244684" cy="324468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2"/>
          <p:cNvSpPr txBox="1">
            <a:spLocks noGrp="1"/>
          </p:cNvSpPr>
          <p:nvPr>
            <p:ph type="subTitle" idx="9"/>
          </p:nvPr>
        </p:nvSpPr>
        <p:spPr>
          <a:xfrm>
            <a:off x="3782206" y="3871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348" name="Google Shape;348;p22"/>
          <p:cNvSpPr txBox="1">
            <a:spLocks noGrp="1"/>
          </p:cNvSpPr>
          <p:nvPr>
            <p:ph type="subTitle" idx="13"/>
          </p:nvPr>
        </p:nvSpPr>
        <p:spPr>
          <a:xfrm>
            <a:off x="4213005" y="381423"/>
            <a:ext cx="3892841" cy="973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Douleurs articulaires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Arthrose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Arthrite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Tendinite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9" name="Google Shape;349;p22"/>
          <p:cNvSpPr txBox="1">
            <a:spLocks noGrp="1"/>
          </p:cNvSpPr>
          <p:nvPr>
            <p:ph type="subTitle" idx="14"/>
          </p:nvPr>
        </p:nvSpPr>
        <p:spPr>
          <a:xfrm>
            <a:off x="4297261" y="141760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</a:t>
            </a:r>
            <a:endParaRPr sz="1800"/>
          </a:p>
        </p:txBody>
      </p:sp>
      <p:sp>
        <p:nvSpPr>
          <p:cNvPr id="350" name="Google Shape;350;p22"/>
          <p:cNvSpPr txBox="1"/>
          <p:nvPr/>
        </p:nvSpPr>
        <p:spPr>
          <a:xfrm>
            <a:off x="4213004" y="1809854"/>
            <a:ext cx="467616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Romarin (Rosmarinus officinalis)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Lavande (Lavandula angustifolia)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Menthe (/Vlentha piperita L.)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Cyprès (Cupressus sempervirens L.)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Girofle (Syzygium aromaticum)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d'Eucalyptus (Eucalyptus globulus)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2"/>
          <p:cNvSpPr txBox="1">
            <a:spLocks noGrp="1"/>
          </p:cNvSpPr>
          <p:nvPr>
            <p:ph type="subTitle" idx="14"/>
          </p:nvPr>
        </p:nvSpPr>
        <p:spPr>
          <a:xfrm>
            <a:off x="4282459" y="3214815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CONSEILS D'UTILISATION</a:t>
            </a:r>
            <a:endParaRPr sz="1800"/>
          </a:p>
        </p:txBody>
      </p:sp>
      <p:graphicFrame>
        <p:nvGraphicFramePr>
          <p:cNvPr id="352" name="Google Shape;352;p22"/>
          <p:cNvGraphicFramePr/>
          <p:nvPr/>
        </p:nvGraphicFramePr>
        <p:xfrm>
          <a:off x="4286958" y="3739428"/>
          <a:ext cx="4542250" cy="8687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868625"/>
                <a:gridCol w="2673625"/>
              </a:tblGrid>
              <a:tr h="26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UTILISATION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54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Appliquer une noisette de gel et masser doucement l'articulation en cas de douleur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53" name="Google Shape;353;p22"/>
          <p:cNvSpPr txBox="1"/>
          <p:nvPr/>
        </p:nvSpPr>
        <p:spPr>
          <a:xfrm>
            <a:off x="33980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ARTHROFORCE</a:t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1975019" y="1178788"/>
            <a:ext cx="524656" cy="232348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2014078" y="1146747"/>
            <a:ext cx="5642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Gel</a:t>
            </a:r>
            <a:endParaRPr sz="12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1920479" y="3687578"/>
            <a:ext cx="399938" cy="344774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3601451" y="3687578"/>
            <a:ext cx="399938" cy="344774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1887230" y="3740046"/>
            <a:ext cx="64610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90gr</a:t>
            </a:r>
            <a:endParaRPr sz="10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3578571" y="3736854"/>
            <a:ext cx="5479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45gr</a:t>
            </a:r>
            <a:endParaRPr sz="10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501" y="1355226"/>
            <a:ext cx="1173070" cy="285942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552" y="1026967"/>
            <a:ext cx="3713929" cy="371392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3"/>
          <p:cNvSpPr txBox="1"/>
          <p:nvPr/>
        </p:nvSpPr>
        <p:spPr>
          <a:xfrm>
            <a:off x="45972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PHYTOVEINE</a:t>
            </a:r>
            <a:endParaRPr/>
          </a:p>
        </p:txBody>
      </p:sp>
      <p:sp>
        <p:nvSpPr>
          <p:cNvPr id="367" name="Google Shape;367;p23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368" name="Google Shape;368;p23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Soulage les douleurs des jambes lourdes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Stimule la circulation sanguine</a:t>
            </a:r>
            <a:endParaRPr/>
          </a:p>
        </p:txBody>
      </p:sp>
      <p:sp>
        <p:nvSpPr>
          <p:cNvPr id="369" name="Google Shape;369;p23"/>
          <p:cNvSpPr txBox="1">
            <a:spLocks noGrp="1"/>
          </p:cNvSpPr>
          <p:nvPr>
            <p:ph type="subTitle" idx="14"/>
          </p:nvPr>
        </p:nvSpPr>
        <p:spPr>
          <a:xfrm>
            <a:off x="4270256" y="1528218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2 GÉLULES</a:t>
            </a:r>
            <a:endParaRPr sz="1800"/>
          </a:p>
        </p:txBody>
      </p:sp>
      <p:pic>
        <p:nvPicPr>
          <p:cNvPr id="370" name="Google Shape;37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4213005" y="1952764"/>
            <a:ext cx="430890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360 mg d'Extrait sec de Vigne rouge (Vitis vinifera)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120 mg Extrait sec de Marron d'inde (Aescu!us hippocastanum)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 mg de Vitamine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3"/>
          <p:cNvSpPr txBox="1">
            <a:spLocks noGrp="1"/>
          </p:cNvSpPr>
          <p:nvPr>
            <p:ph type="subTitle" idx="14"/>
          </p:nvPr>
        </p:nvSpPr>
        <p:spPr>
          <a:xfrm>
            <a:off x="4293313" y="291304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375" name="Google Shape;375;p23"/>
          <p:cNvGraphicFramePr/>
          <p:nvPr/>
        </p:nvGraphicFramePr>
        <p:xfrm>
          <a:off x="4213005" y="3378612"/>
          <a:ext cx="3749900" cy="6657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28820" y="1087902"/>
            <a:ext cx="3134818" cy="3134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934" y="1026826"/>
            <a:ext cx="3314128" cy="331412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4"/>
          <p:cNvSpPr txBox="1">
            <a:spLocks noGrp="1"/>
          </p:cNvSpPr>
          <p:nvPr>
            <p:ph type="subTitle" idx="9"/>
          </p:nvPr>
        </p:nvSpPr>
        <p:spPr>
          <a:xfrm>
            <a:off x="3782206" y="3871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383" name="Google Shape;383;p24"/>
          <p:cNvSpPr txBox="1">
            <a:spLocks noGrp="1"/>
          </p:cNvSpPr>
          <p:nvPr>
            <p:ph type="subTitle" idx="13"/>
          </p:nvPr>
        </p:nvSpPr>
        <p:spPr>
          <a:xfrm>
            <a:off x="4213005" y="381423"/>
            <a:ext cx="3892841" cy="973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Soulage les douleurs des jambes lourdes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Stimule la circulation sanguine</a:t>
            </a:r>
            <a:endParaRPr/>
          </a:p>
        </p:txBody>
      </p:sp>
      <p:sp>
        <p:nvSpPr>
          <p:cNvPr id="384" name="Google Shape;384;p24"/>
          <p:cNvSpPr txBox="1">
            <a:spLocks noGrp="1"/>
          </p:cNvSpPr>
          <p:nvPr>
            <p:ph type="subTitle" idx="14"/>
          </p:nvPr>
        </p:nvSpPr>
        <p:spPr>
          <a:xfrm>
            <a:off x="4297261" y="141760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</a:t>
            </a:r>
            <a:endParaRPr sz="1800"/>
          </a:p>
        </p:txBody>
      </p:sp>
      <p:sp>
        <p:nvSpPr>
          <p:cNvPr id="385" name="Google Shape;385;p24"/>
          <p:cNvSpPr txBox="1"/>
          <p:nvPr/>
        </p:nvSpPr>
        <p:spPr>
          <a:xfrm>
            <a:off x="4213004" y="1809854"/>
            <a:ext cx="467616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Citron (Citrus limon)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Menthe (Mentha piperita)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Lavande (Lavandula angustifolia) 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essentielle de Cyprès (Cupressus sempervirens)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Menthol</a:t>
            </a:r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subTitle" idx="14"/>
          </p:nvPr>
        </p:nvSpPr>
        <p:spPr>
          <a:xfrm>
            <a:off x="4282459" y="3214815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CONSEILS D'UTILISATION</a:t>
            </a:r>
            <a:endParaRPr sz="1800"/>
          </a:p>
        </p:txBody>
      </p:sp>
      <p:graphicFrame>
        <p:nvGraphicFramePr>
          <p:cNvPr id="387" name="Google Shape;387;p24"/>
          <p:cNvGraphicFramePr/>
          <p:nvPr/>
        </p:nvGraphicFramePr>
        <p:xfrm>
          <a:off x="4286958" y="3739428"/>
          <a:ext cx="4542250" cy="8687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868625"/>
                <a:gridCol w="2673625"/>
              </a:tblGrid>
              <a:tr h="26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UTILISATION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549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applications par jour matin et soir en massant du bas vers le haut 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88" name="Google Shape;388;p24"/>
          <p:cNvSpPr/>
          <p:nvPr/>
        </p:nvSpPr>
        <p:spPr>
          <a:xfrm>
            <a:off x="3085117" y="1145024"/>
            <a:ext cx="524656" cy="232348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4"/>
          <p:cNvSpPr txBox="1"/>
          <p:nvPr/>
        </p:nvSpPr>
        <p:spPr>
          <a:xfrm>
            <a:off x="3105418" y="1115044"/>
            <a:ext cx="5642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Gel</a:t>
            </a:r>
            <a:endParaRPr sz="12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3601451" y="3687578"/>
            <a:ext cx="399938" cy="344774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3578571" y="3736854"/>
            <a:ext cx="5479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90gr</a:t>
            </a:r>
            <a:endParaRPr sz="10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45972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PHYTOVEINE</a:t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1536890" y="1163552"/>
            <a:ext cx="524656" cy="232348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4"/>
          <p:cNvSpPr txBox="1"/>
          <p:nvPr/>
        </p:nvSpPr>
        <p:spPr>
          <a:xfrm>
            <a:off x="1510600" y="1142307"/>
            <a:ext cx="63299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</a:t>
            </a:r>
            <a:endParaRPr sz="11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95" name="Google Shape;39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13992" y="3064726"/>
            <a:ext cx="901987" cy="901987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4"/>
          <p:cNvSpPr txBox="1"/>
          <p:nvPr/>
        </p:nvSpPr>
        <p:spPr>
          <a:xfrm>
            <a:off x="1586198" y="3629131"/>
            <a:ext cx="61735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5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 </a:t>
            </a:r>
            <a:r>
              <a:rPr lang="fr-FR" sz="1050" b="1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050" b="1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5"/>
          <p:cNvSpPr txBox="1"/>
          <p:nvPr/>
        </p:nvSpPr>
        <p:spPr>
          <a:xfrm>
            <a:off x="45972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PHYTOCALM </a:t>
            </a:r>
            <a:endParaRPr/>
          </a:p>
        </p:txBody>
      </p:sp>
      <p:sp>
        <p:nvSpPr>
          <p:cNvPr id="403" name="Google Shape;403;p25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404" name="Google Shape;404;p25"/>
          <p:cNvSpPr txBox="1">
            <a:spLocks noGrp="1"/>
          </p:cNvSpPr>
          <p:nvPr>
            <p:ph type="subTitle" idx="13"/>
          </p:nvPr>
        </p:nvSpPr>
        <p:spPr>
          <a:xfrm>
            <a:off x="4131011" y="283681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fr-FR" sz="1200" dirty="0" smtClean="0"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r>
              <a:rPr lang="fr-FR" sz="1200" dirty="0">
                <a:latin typeface="Montserrat Medium" panose="020B0604020202020204" charset="0"/>
              </a:rPr>
              <a:t>-Etats dépressifs </a:t>
            </a:r>
            <a:r>
              <a:rPr lang="fr-FR" sz="1200" dirty="0" err="1">
                <a:latin typeface="Montserrat Medium" panose="020B0604020202020204" charset="0"/>
              </a:rPr>
              <a:t>légèrs</a:t>
            </a:r>
            <a:r>
              <a:rPr lang="fr-FR" sz="1200" dirty="0">
                <a:latin typeface="Montserrat Medium" panose="020B0604020202020204" charset="0"/>
              </a:rPr>
              <a:t> à modérés</a:t>
            </a:r>
          </a:p>
          <a:p>
            <a:r>
              <a:rPr lang="fr-FR" sz="1200" dirty="0">
                <a:latin typeface="Montserrat Medium" panose="020B0604020202020204" charset="0"/>
              </a:rPr>
              <a:t>-Anxiété et insomnie</a:t>
            </a:r>
          </a:p>
          <a:p>
            <a:r>
              <a:rPr lang="fr-FR" sz="1200" dirty="0">
                <a:latin typeface="Montserrat Medium" panose="020B0604020202020204" charset="0"/>
              </a:rPr>
              <a:t>-Troubles mineurs de sommeil</a:t>
            </a:r>
          </a:p>
          <a:p>
            <a:r>
              <a:rPr lang="fr-FR" sz="1200" dirty="0">
                <a:latin typeface="Montserrat Medium" panose="020B0604020202020204" charset="0"/>
              </a:rPr>
              <a:t>-Réduit les états de nervosité de stress et d’irritabilité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endParaRPr dirty="0">
              <a:latin typeface="Montserrat Medium" panose="020B0604020202020204" charset="0"/>
            </a:endParaRPr>
          </a:p>
        </p:txBody>
      </p:sp>
      <p:sp>
        <p:nvSpPr>
          <p:cNvPr id="405" name="Google Shape;405;p25"/>
          <p:cNvSpPr txBox="1">
            <a:spLocks noGrp="1"/>
          </p:cNvSpPr>
          <p:nvPr>
            <p:ph type="subTitle" idx="14"/>
          </p:nvPr>
        </p:nvSpPr>
        <p:spPr>
          <a:xfrm>
            <a:off x="4098379" y="1528218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GÉLULE</a:t>
            </a:r>
            <a:endParaRPr sz="1800" dirty="0"/>
          </a:p>
        </p:txBody>
      </p:sp>
      <p:pic>
        <p:nvPicPr>
          <p:cNvPr id="406" name="Google Shape;40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5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8" name="Google Shape;408;p25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9" name="Google Shape;409;p25"/>
          <p:cNvSpPr txBox="1"/>
          <p:nvPr/>
        </p:nvSpPr>
        <p:spPr>
          <a:xfrm>
            <a:off x="4213005" y="1952764"/>
            <a:ext cx="430890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 mg d'Extrait sec de Valériane (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Valeriano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officinalis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80 mg d'Extrait sec de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Passifiore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Passiflora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incarnata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 mg d'Extrait sec de Mélisse (Melissa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officinalis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5"/>
          <p:cNvSpPr txBox="1">
            <a:spLocks noGrp="1"/>
          </p:cNvSpPr>
          <p:nvPr>
            <p:ph type="subTitle" idx="14"/>
          </p:nvPr>
        </p:nvSpPr>
        <p:spPr>
          <a:xfrm>
            <a:off x="4293313" y="291304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411" name="Google Shape;411;p25"/>
          <p:cNvGraphicFramePr/>
          <p:nvPr/>
        </p:nvGraphicFramePr>
        <p:xfrm>
          <a:off x="4213005" y="3378612"/>
          <a:ext cx="3749900" cy="6657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1gélule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99" y="1309992"/>
            <a:ext cx="2359501" cy="312537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3374" y="2801581"/>
            <a:ext cx="1311871" cy="1311871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6"/>
          <p:cNvSpPr txBox="1">
            <a:spLocks noGrp="1"/>
          </p:cNvSpPr>
          <p:nvPr>
            <p:ph type="subTitle" idx="9"/>
          </p:nvPr>
        </p:nvSpPr>
        <p:spPr>
          <a:xfrm>
            <a:off x="3782206" y="3871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419" name="Google Shape;419;p26"/>
          <p:cNvSpPr txBox="1">
            <a:spLocks noGrp="1"/>
          </p:cNvSpPr>
          <p:nvPr>
            <p:ph type="subTitle" idx="13"/>
          </p:nvPr>
        </p:nvSpPr>
        <p:spPr>
          <a:xfrm>
            <a:off x="4210207" y="395711"/>
            <a:ext cx="3892841" cy="973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endParaRPr lang="fr-FR" sz="1200" dirty="0">
              <a:latin typeface="Montserrat Medium" panose="020B0604020202020204" charset="0"/>
              <a:ea typeface="Montserrat Medium"/>
              <a:cs typeface="Montserrat Medium"/>
              <a:sym typeface="Montserrat Medium"/>
            </a:endParaRPr>
          </a:p>
          <a:p>
            <a:r>
              <a:rPr lang="fr-FR" sz="1200" dirty="0">
                <a:latin typeface="Montserrat Medium" panose="020B0604020202020204" charset="0"/>
              </a:rPr>
              <a:t>-Etats dépressifs </a:t>
            </a:r>
            <a:r>
              <a:rPr lang="fr-FR" sz="1200" dirty="0" err="1">
                <a:latin typeface="Montserrat Medium" panose="020B0604020202020204" charset="0"/>
              </a:rPr>
              <a:t>légèrs</a:t>
            </a:r>
            <a:r>
              <a:rPr lang="fr-FR" sz="1200" dirty="0">
                <a:latin typeface="Montserrat Medium" panose="020B0604020202020204" charset="0"/>
              </a:rPr>
              <a:t> à modérés</a:t>
            </a:r>
          </a:p>
          <a:p>
            <a:r>
              <a:rPr lang="fr-FR" sz="1200" dirty="0">
                <a:latin typeface="Montserrat Medium" panose="020B0604020202020204" charset="0"/>
              </a:rPr>
              <a:t>-Anxiété et insomnie</a:t>
            </a:r>
          </a:p>
          <a:p>
            <a:r>
              <a:rPr lang="fr-FR" sz="1200" dirty="0">
                <a:latin typeface="Montserrat Medium" panose="020B0604020202020204" charset="0"/>
              </a:rPr>
              <a:t>-Troubles mineurs de sommeil</a:t>
            </a:r>
          </a:p>
          <a:p>
            <a:r>
              <a:rPr lang="fr-FR" sz="1200" dirty="0">
                <a:latin typeface="Montserrat Medium" panose="020B0604020202020204" charset="0"/>
              </a:rPr>
              <a:t>-Réduit les états de nervosité de stress et d’irritabilité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dirty="0"/>
          </a:p>
        </p:txBody>
      </p:sp>
      <p:sp>
        <p:nvSpPr>
          <p:cNvPr id="420" name="Google Shape;420;p26"/>
          <p:cNvSpPr txBox="1">
            <a:spLocks noGrp="1"/>
          </p:cNvSpPr>
          <p:nvPr>
            <p:ph type="subTitle" idx="14"/>
          </p:nvPr>
        </p:nvSpPr>
        <p:spPr>
          <a:xfrm>
            <a:off x="4293313" y="1548044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POUR 2 ML</a:t>
            </a:r>
            <a:endParaRPr sz="1800" dirty="0"/>
          </a:p>
        </p:txBody>
      </p:sp>
      <p:sp>
        <p:nvSpPr>
          <p:cNvPr id="421" name="Google Shape;421;p26"/>
          <p:cNvSpPr txBox="1"/>
          <p:nvPr/>
        </p:nvSpPr>
        <p:spPr>
          <a:xfrm>
            <a:off x="3083888" y="3671931"/>
            <a:ext cx="11263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 </a:t>
            </a:r>
            <a:r>
              <a:rPr lang="fr-FR" sz="1600" b="1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600" b="1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2" name="Google Shape;422;p26"/>
          <p:cNvSpPr txBox="1"/>
          <p:nvPr/>
        </p:nvSpPr>
        <p:spPr>
          <a:xfrm>
            <a:off x="4210207" y="1957078"/>
            <a:ext cx="445131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80 mg d'Extrait sec de Valériane (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Valeriano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officinalis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 mg d'Extrait sec de Mélisse (Melissa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officinalis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mg d'Extrait sec de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Passifiore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Passiflora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incarnata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6"/>
          <p:cNvSpPr txBox="1"/>
          <p:nvPr/>
        </p:nvSpPr>
        <p:spPr>
          <a:xfrm>
            <a:off x="465232" y="45148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PHYTOCALM </a:t>
            </a:r>
            <a:endParaRPr sz="3200" b="0" i="0" u="none" strike="noStrike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24" name="Google Shape;424;p26"/>
          <p:cNvSpPr/>
          <p:nvPr/>
        </p:nvSpPr>
        <p:spPr>
          <a:xfrm>
            <a:off x="3131528" y="1499793"/>
            <a:ext cx="815785" cy="305679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6"/>
          <p:cNvSpPr txBox="1"/>
          <p:nvPr/>
        </p:nvSpPr>
        <p:spPr>
          <a:xfrm>
            <a:off x="3114934" y="1518310"/>
            <a:ext cx="206062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Gouttes</a:t>
            </a:r>
            <a:endParaRPr sz="12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6" name="Google Shape;426;p26"/>
          <p:cNvSpPr txBox="1">
            <a:spLocks noGrp="1"/>
          </p:cNvSpPr>
          <p:nvPr>
            <p:ph type="subTitle" idx="14"/>
          </p:nvPr>
        </p:nvSpPr>
        <p:spPr>
          <a:xfrm>
            <a:off x="4293313" y="291304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427" name="Google Shape;427;p26"/>
          <p:cNvGraphicFramePr/>
          <p:nvPr/>
        </p:nvGraphicFramePr>
        <p:xfrm>
          <a:off x="4213005" y="3378612"/>
          <a:ext cx="3749900" cy="6657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2ml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2ml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6" y="1305176"/>
            <a:ext cx="2368701" cy="29435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70" y="991840"/>
            <a:ext cx="3673785" cy="367378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7"/>
          <p:cNvSpPr txBox="1"/>
          <p:nvPr/>
        </p:nvSpPr>
        <p:spPr>
          <a:xfrm>
            <a:off x="45972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MIGRAINAL</a:t>
            </a:r>
            <a:endParaRPr/>
          </a:p>
        </p:txBody>
      </p:sp>
      <p:sp>
        <p:nvSpPr>
          <p:cNvPr id="434" name="Google Shape;434;p27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435" name="Google Shape;435;p27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Réduit l'intensité de crise de migraine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Réduit la durée de crise de migraine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Réduit la fréquence des épisodes migraineux</a:t>
            </a:r>
            <a:endParaRPr/>
          </a:p>
        </p:txBody>
      </p:sp>
      <p:sp>
        <p:nvSpPr>
          <p:cNvPr id="436" name="Google Shape;436;p27"/>
          <p:cNvSpPr txBox="1">
            <a:spLocks noGrp="1"/>
          </p:cNvSpPr>
          <p:nvPr>
            <p:ph type="subTitle" idx="14"/>
          </p:nvPr>
        </p:nvSpPr>
        <p:spPr>
          <a:xfrm>
            <a:off x="4098379" y="1528218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pic>
        <p:nvPicPr>
          <p:cNvPr id="437" name="Google Shape;437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7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" name="Google Shape;439;p27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0" name="Google Shape;440;p27"/>
          <p:cNvSpPr txBox="1"/>
          <p:nvPr/>
        </p:nvSpPr>
        <p:spPr>
          <a:xfrm>
            <a:off x="4213005" y="1952764"/>
            <a:ext cx="430890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 mg d'Extrait sec de Grande camomille (Tanacetum parthenium)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120 mg d'Extrait sec de Ginkgo (Ginkgo biloba)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mg d'Extrait sec de Mélisse (/Vlelissa officinalis)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1,4 mg de Vitamine B2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7"/>
          <p:cNvSpPr txBox="1">
            <a:spLocks noGrp="1"/>
          </p:cNvSpPr>
          <p:nvPr>
            <p:ph type="subTitle" idx="14"/>
          </p:nvPr>
        </p:nvSpPr>
        <p:spPr>
          <a:xfrm>
            <a:off x="4293313" y="291304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442" name="Google Shape;442;p27"/>
          <p:cNvGraphicFramePr/>
          <p:nvPr/>
        </p:nvGraphicFramePr>
        <p:xfrm>
          <a:off x="4213005" y="3378612"/>
          <a:ext cx="37499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Pendant au moins 1 mois 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06" y="1034194"/>
            <a:ext cx="3632811" cy="3632811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8"/>
          <p:cNvSpPr txBox="1"/>
          <p:nvPr/>
        </p:nvSpPr>
        <p:spPr>
          <a:xfrm>
            <a:off x="45972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MELATONUIT</a:t>
            </a:r>
            <a:endParaRPr/>
          </a:p>
        </p:txBody>
      </p:sp>
      <p:sp>
        <p:nvSpPr>
          <p:cNvPr id="449" name="Google Shape;449;p28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450" name="Google Shape;450;p28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Améliore la qualité du sommeil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Diminue les réveils nocturnes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Favorise l'endormissement avec un sommeil réparateur</a:t>
            </a:r>
            <a:endParaRPr/>
          </a:p>
        </p:txBody>
      </p:sp>
      <p:sp>
        <p:nvSpPr>
          <p:cNvPr id="451" name="Google Shape;451;p28"/>
          <p:cNvSpPr txBox="1">
            <a:spLocks noGrp="1"/>
          </p:cNvSpPr>
          <p:nvPr>
            <p:ph type="subTitle" idx="14"/>
          </p:nvPr>
        </p:nvSpPr>
        <p:spPr>
          <a:xfrm>
            <a:off x="4270259" y="1528218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2 GÉLULES</a:t>
            </a:r>
            <a:endParaRPr sz="1800"/>
          </a:p>
        </p:txBody>
      </p:sp>
      <p:pic>
        <p:nvPicPr>
          <p:cNvPr id="452" name="Google Shape;45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8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" name="Google Shape;454;p28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5" name="Google Shape;455;p28"/>
          <p:cNvSpPr txBox="1"/>
          <p:nvPr/>
        </p:nvSpPr>
        <p:spPr>
          <a:xfrm>
            <a:off x="4213005" y="1952764"/>
            <a:ext cx="4308903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240 mg d'Extrait sec de Mélisse (/Vlelissa officinalis)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150 mg d'Extrait sec de Passiflore (Passif/ara incarnata)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8,4 mg d'Extrait sec de Pavot de Californie (Eschscholzia californica)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1,4 mg de Vitamine B6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 mg de Mélatonine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8"/>
          <p:cNvSpPr txBox="1">
            <a:spLocks noGrp="1"/>
          </p:cNvSpPr>
          <p:nvPr>
            <p:ph type="subTitle" idx="14"/>
          </p:nvPr>
        </p:nvSpPr>
        <p:spPr>
          <a:xfrm>
            <a:off x="4293313" y="351117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457" name="Google Shape;457;p28"/>
          <p:cNvGraphicFramePr/>
          <p:nvPr/>
        </p:nvGraphicFramePr>
        <p:xfrm>
          <a:off x="4213005" y="3976748"/>
          <a:ext cx="37499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gélules 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30 minutes à 1 heure avant de se coucher 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80" y="990456"/>
            <a:ext cx="3715036" cy="3715036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9"/>
          <p:cNvSpPr txBox="1"/>
          <p:nvPr/>
        </p:nvSpPr>
        <p:spPr>
          <a:xfrm>
            <a:off x="459726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 STRESS </a:t>
            </a:r>
            <a:endParaRPr/>
          </a:p>
        </p:txBody>
      </p:sp>
      <p:sp>
        <p:nvSpPr>
          <p:cNvPr id="464" name="Google Shape;464;p29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465" name="Google Shape;465;p29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Etats anxieux légers et émotifs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Troubles mineurs du sommeil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Réduction de la perception du stress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Pas d'effet d'accoutumance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Réduction des états de fatigue</a:t>
            </a:r>
            <a:endParaRPr/>
          </a:p>
        </p:txBody>
      </p:sp>
      <p:sp>
        <p:nvSpPr>
          <p:cNvPr id="466" name="Google Shape;466;p29"/>
          <p:cNvSpPr txBox="1">
            <a:spLocks noGrp="1"/>
          </p:cNvSpPr>
          <p:nvPr>
            <p:ph type="subTitle" idx="14"/>
          </p:nvPr>
        </p:nvSpPr>
        <p:spPr>
          <a:xfrm>
            <a:off x="4270256" y="1528218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2 GÉLULES</a:t>
            </a:r>
            <a:endParaRPr sz="1800"/>
          </a:p>
        </p:txBody>
      </p:sp>
      <p:pic>
        <p:nvPicPr>
          <p:cNvPr id="467" name="Google Shape;46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9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9" name="Google Shape;469;p29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0" name="Google Shape;470;p29"/>
          <p:cNvSpPr txBox="1"/>
          <p:nvPr/>
        </p:nvSpPr>
        <p:spPr>
          <a:xfrm>
            <a:off x="4213005" y="1952684"/>
            <a:ext cx="352158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220 mg de Triptophane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190 mg d'Extrait sec de Lavande (Lavendula angustifolia)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110 mg de Magnésium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1,4 mg de Vrtamine B6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9"/>
          <p:cNvSpPr txBox="1">
            <a:spLocks noGrp="1"/>
          </p:cNvSpPr>
          <p:nvPr>
            <p:ph type="subTitle" idx="14"/>
          </p:nvPr>
        </p:nvSpPr>
        <p:spPr>
          <a:xfrm>
            <a:off x="4293313" y="291304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472" name="Google Shape;472;p29"/>
          <p:cNvGraphicFramePr/>
          <p:nvPr/>
        </p:nvGraphicFramePr>
        <p:xfrm>
          <a:off x="4213005" y="3378612"/>
          <a:ext cx="3749900" cy="66570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2683" y="1115321"/>
            <a:ext cx="3856788" cy="373149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0"/>
          <p:cNvSpPr txBox="1"/>
          <p:nvPr/>
        </p:nvSpPr>
        <p:spPr>
          <a:xfrm>
            <a:off x="47218" y="511294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VITAL SELENIUM </a:t>
            </a:r>
            <a:r>
              <a:rPr lang="fr-FR" sz="2400" b="0" i="0" u="none" strike="noStrike" cap="none">
                <a:solidFill>
                  <a:srgbClr val="FCD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A,C,E </a:t>
            </a:r>
            <a:endParaRPr/>
          </a:p>
        </p:txBody>
      </p:sp>
      <p:sp>
        <p:nvSpPr>
          <p:cNvPr id="479" name="Google Shape;479;p30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480" name="Google Shape;480;p30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 err="1" smtClean="0">
                <a:latin typeface="Montserrat Medium"/>
                <a:ea typeface="Montserrat Medium"/>
                <a:cs typeface="Montserrat Medium"/>
                <a:sym typeface="Montserrat Medium"/>
              </a:rPr>
              <a:t>Revitalisant,Anti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 –oxydant et Anti </a:t>
            </a: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- âge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Protège les cellules contre le stress 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oxydatif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 smtClean="0">
                <a:latin typeface="Montserrat Medium"/>
                <a:sym typeface="Montserrat Medium"/>
              </a:rPr>
              <a:t>Indiqué dés l’apparition des signes de </a:t>
            </a:r>
            <a:r>
              <a:rPr lang="fr-FR" sz="1200" dirty="0" err="1" smtClean="0">
                <a:latin typeface="Montserrat Medium"/>
                <a:sym typeface="Montserrat Medium"/>
              </a:rPr>
              <a:t>veillissement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subTitle" idx="14"/>
          </p:nvPr>
        </p:nvSpPr>
        <p:spPr>
          <a:xfrm>
            <a:off x="4024419" y="1639274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GÉLULE</a:t>
            </a:r>
            <a:endParaRPr sz="1800" dirty="0"/>
          </a:p>
        </p:txBody>
      </p:sp>
      <p:pic>
        <p:nvPicPr>
          <p:cNvPr id="482" name="Google Shape;48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0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" name="Google Shape;484;p30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5" name="Google Shape;485;p30"/>
          <p:cNvSpPr txBox="1"/>
          <p:nvPr/>
        </p:nvSpPr>
        <p:spPr>
          <a:xfrm>
            <a:off x="4281915" y="2045858"/>
            <a:ext cx="430890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120 mg de Vitamine C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90 mg de Gelée Royale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 mg de Vitamine E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800 µg de Vitamine A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70 µg de Sélénium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0"/>
          <p:cNvSpPr txBox="1">
            <a:spLocks noGrp="1"/>
          </p:cNvSpPr>
          <p:nvPr>
            <p:ph type="subTitle" idx="14"/>
          </p:nvPr>
        </p:nvSpPr>
        <p:spPr>
          <a:xfrm>
            <a:off x="4293313" y="3084919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487" name="Google Shape;487;p30"/>
          <p:cNvGraphicFramePr/>
          <p:nvPr/>
        </p:nvGraphicFramePr>
        <p:xfrm>
          <a:off x="4213005" y="3550490"/>
          <a:ext cx="37499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Cure de 3 mois à renouveler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0"/>
          <p:cNvSpPr txBox="1"/>
          <p:nvPr/>
        </p:nvSpPr>
        <p:spPr>
          <a:xfrm>
            <a:off x="135599" y="482694"/>
            <a:ext cx="579081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VITAL </a:t>
            </a:r>
            <a:r>
              <a:rPr lang="fr-FR" sz="2400" b="0" i="0" u="none" strike="noStrike" cap="none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SELENIUM  </a:t>
            </a:r>
            <a:r>
              <a:rPr lang="fr-FR" sz="2400" b="0" i="0" u="none" strike="noStrike" cap="none" dirty="0" smtClean="0">
                <a:solidFill>
                  <a:srgbClr val="FFC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A,C,E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0" i="0" u="none" strike="noStrike" cap="none" dirty="0" smtClean="0">
                <a:solidFill>
                  <a:schemeClr val="accent1">
                    <a:lumMod val="75000"/>
                  </a:schemeClr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ANTI AGE 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79" name="Google Shape;479;p30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480" name="Google Shape;480;p30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 err="1" smtClean="0">
                <a:latin typeface="Montserrat Medium"/>
                <a:ea typeface="Montserrat Medium"/>
                <a:cs typeface="Montserrat Medium"/>
                <a:sym typeface="Montserrat Medium"/>
              </a:rPr>
              <a:t>Revitalisant,Anti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-oxydant et Anti </a:t>
            </a: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- âge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Protège les cellules contre le stress </a:t>
            </a:r>
            <a:r>
              <a:rPr lang="fr-FR" sz="1200" dirty="0" smtClean="0">
                <a:latin typeface="Montserrat Medium"/>
                <a:ea typeface="Montserrat Medium"/>
                <a:cs typeface="Montserrat Medium"/>
                <a:sym typeface="Montserrat Medium"/>
              </a:rPr>
              <a:t>oxydatif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 smtClean="0">
                <a:latin typeface="Montserrat Medium"/>
                <a:sym typeface="Montserrat Medium"/>
              </a:rPr>
              <a:t>Indiqué après l’apparition des signes de </a:t>
            </a:r>
            <a:r>
              <a:rPr lang="fr-FR" sz="1200" dirty="0" err="1" smtClean="0">
                <a:latin typeface="Montserrat Medium"/>
                <a:sym typeface="Montserrat Medium"/>
              </a:rPr>
              <a:t>veillissement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subTitle" idx="14"/>
          </p:nvPr>
        </p:nvSpPr>
        <p:spPr>
          <a:xfrm>
            <a:off x="4168975" y="1506462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GÉLULE</a:t>
            </a:r>
            <a:endParaRPr sz="1800" dirty="0"/>
          </a:p>
        </p:txBody>
      </p:sp>
      <p:pic>
        <p:nvPicPr>
          <p:cNvPr id="482" name="Google Shape;48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0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" name="Google Shape;484;p30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5" name="Google Shape;485;p30"/>
          <p:cNvSpPr txBox="1"/>
          <p:nvPr/>
        </p:nvSpPr>
        <p:spPr>
          <a:xfrm>
            <a:off x="4213005" y="1863462"/>
            <a:ext cx="4308903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90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 de Vitamine 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 mg de Vitamine E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800 µg de Vitamine A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µg de 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Sélénium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30 mg d’Extrait sec de Romarin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30 mg d’Extrait sec de Rhizomes de curcuma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56 mg d’Extrait sec de vigne rouge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 mg de 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de Bourache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 mg de Zinc</a:t>
            </a:r>
            <a:endParaRPr lang="fr-FR" sz="1200" b="0" i="0" u="none" strike="noStrike" cap="none" dirty="0" smtClean="0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dirty="0">
              <a:solidFill>
                <a:srgbClr val="6D6D6D"/>
              </a:solidFill>
              <a:latin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b="0" i="0" u="none" strike="noStrike" cap="none" dirty="0" smtClean="0">
              <a:solidFill>
                <a:srgbClr val="6D6D6D"/>
              </a:solidFill>
              <a:latin typeface="Montserrat Medium"/>
              <a:ea typeface="Arial"/>
              <a:cs typeface="Arial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lang="fr-FR" sz="1200" dirty="0">
              <a:solidFill>
                <a:srgbClr val="6D6D6D"/>
              </a:solidFill>
              <a:latin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0"/>
          <p:cNvSpPr txBox="1">
            <a:spLocks noGrp="1"/>
          </p:cNvSpPr>
          <p:nvPr>
            <p:ph type="subTitle" idx="14"/>
          </p:nvPr>
        </p:nvSpPr>
        <p:spPr>
          <a:xfrm>
            <a:off x="4307637" y="3467995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487" name="Google Shape;487;p30"/>
          <p:cNvGraphicFramePr/>
          <p:nvPr>
            <p:extLst>
              <p:ext uri="{D42A27DB-BD31-4B8C-83A1-F6EECF244321}">
                <p14:modId xmlns:p14="http://schemas.microsoft.com/office/powerpoint/2010/main" val="3396086636"/>
              </p:ext>
            </p:extLst>
          </p:nvPr>
        </p:nvGraphicFramePr>
        <p:xfrm>
          <a:off x="4213005" y="3995561"/>
          <a:ext cx="37499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Cure de 3 mois à renouveler</a:t>
                      </a:r>
                      <a:endParaRPr dirty="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48" y="1524606"/>
            <a:ext cx="2475554" cy="340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72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744" y="990026"/>
            <a:ext cx="3903118" cy="3903118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1"/>
          <p:cNvSpPr txBox="1"/>
          <p:nvPr/>
        </p:nvSpPr>
        <p:spPr>
          <a:xfrm>
            <a:off x="208837" y="449419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L.V VITAMINE A</a:t>
            </a:r>
            <a:endParaRPr/>
          </a:p>
        </p:txBody>
      </p:sp>
      <p:sp>
        <p:nvSpPr>
          <p:cNvPr id="494" name="Google Shape;494;p31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495" name="Google Shape;495;p31"/>
          <p:cNvSpPr txBox="1">
            <a:spLocks noGrp="1"/>
          </p:cNvSpPr>
          <p:nvPr>
            <p:ph type="subTitle" idx="13"/>
          </p:nvPr>
        </p:nvSpPr>
        <p:spPr>
          <a:xfrm>
            <a:off x="4213005" y="516333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 err="1" smtClean="0">
                <a:latin typeface="Montserrat Medium"/>
                <a:ea typeface="Montserrat Medium"/>
                <a:cs typeface="Montserrat Medium"/>
                <a:sym typeface="Montserrat Medium"/>
              </a:rPr>
              <a:t>Engélures</a:t>
            </a:r>
            <a:endParaRPr sz="12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Réduit l'</a:t>
            </a:r>
            <a:r>
              <a:rPr lang="fr-FR" sz="12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apparation</a:t>
            </a: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 des rides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Traite l'acné chez les adolescents et les adultes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Régule la pigmentation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Prévient les dommages cellulaires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Soutient la santé de la peau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Stimule la production de collagène</a:t>
            </a:r>
            <a:endParaRPr dirty="0"/>
          </a:p>
        </p:txBody>
      </p:sp>
      <p:sp>
        <p:nvSpPr>
          <p:cNvPr id="496" name="Google Shape;496;p31"/>
          <p:cNvSpPr txBox="1">
            <a:spLocks noGrp="1"/>
          </p:cNvSpPr>
          <p:nvPr>
            <p:ph type="subTitle" idx="14"/>
          </p:nvPr>
        </p:nvSpPr>
        <p:spPr>
          <a:xfrm>
            <a:off x="3307732" y="217623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</a:t>
            </a:r>
            <a:endParaRPr sz="1800"/>
          </a:p>
        </p:txBody>
      </p:sp>
      <p:sp>
        <p:nvSpPr>
          <p:cNvPr id="497" name="Google Shape;497;p31"/>
          <p:cNvSpPr txBox="1"/>
          <p:nvPr/>
        </p:nvSpPr>
        <p:spPr>
          <a:xfrm>
            <a:off x="3125595" y="3534926"/>
            <a:ext cx="78524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45g</a:t>
            </a:r>
            <a:endParaRPr sz="16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8" name="Google Shape;498;p31"/>
          <p:cNvSpPr txBox="1"/>
          <p:nvPr/>
        </p:nvSpPr>
        <p:spPr>
          <a:xfrm>
            <a:off x="4213005" y="2600776"/>
            <a:ext cx="43089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135 mg de Vitamine 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1"/>
          <p:cNvSpPr txBox="1">
            <a:spLocks noGrp="1"/>
          </p:cNvSpPr>
          <p:nvPr>
            <p:ph type="subTitle" idx="14"/>
          </p:nvPr>
        </p:nvSpPr>
        <p:spPr>
          <a:xfrm>
            <a:off x="4293313" y="314538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CONSEILS D'UTILISATION </a:t>
            </a:r>
            <a:endParaRPr sz="1800"/>
          </a:p>
        </p:txBody>
      </p:sp>
      <p:graphicFrame>
        <p:nvGraphicFramePr>
          <p:cNvPr id="500" name="Google Shape;500;p31"/>
          <p:cNvGraphicFramePr/>
          <p:nvPr/>
        </p:nvGraphicFramePr>
        <p:xfrm>
          <a:off x="4213003" y="3610957"/>
          <a:ext cx="41885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047125"/>
                <a:gridCol w="1047125"/>
                <a:gridCol w="1047125"/>
                <a:gridCol w="104712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application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application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05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 effectuant de légers mouvements de massage 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01" name="Google Shape;501;p31"/>
          <p:cNvSpPr/>
          <p:nvPr/>
        </p:nvSpPr>
        <p:spPr>
          <a:xfrm>
            <a:off x="3117158" y="3843301"/>
            <a:ext cx="664106" cy="2616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1"/>
          <p:cNvSpPr txBox="1"/>
          <p:nvPr/>
        </p:nvSpPr>
        <p:spPr>
          <a:xfrm>
            <a:off x="3102168" y="3820616"/>
            <a:ext cx="9989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Crème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2"/>
          <p:cNvSpPr txBox="1"/>
          <p:nvPr/>
        </p:nvSpPr>
        <p:spPr>
          <a:xfrm>
            <a:off x="1175435" y="446693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SESA</a:t>
            </a:r>
            <a:endParaRPr/>
          </a:p>
        </p:txBody>
      </p:sp>
      <p:sp>
        <p:nvSpPr>
          <p:cNvPr id="509" name="Google Shape;509;p32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510" name="Google Shape;510;p32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Favorise la cicatrisation et la réparation dermique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Brûlures de premier degré &amp; second degré superficielles et profondes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Plaies chroniques (escarres de lit, pied de diabétique), uclères des jambes, plaies chirurgicales y compris obstetriques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1" name="Google Shape;511;p32"/>
          <p:cNvSpPr txBox="1">
            <a:spLocks noGrp="1"/>
          </p:cNvSpPr>
          <p:nvPr>
            <p:ph type="subTitle" idx="14"/>
          </p:nvPr>
        </p:nvSpPr>
        <p:spPr>
          <a:xfrm>
            <a:off x="3307732" y="2279355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</a:t>
            </a:r>
            <a:endParaRPr sz="1800"/>
          </a:p>
        </p:txBody>
      </p:sp>
      <p:sp>
        <p:nvSpPr>
          <p:cNvPr id="512" name="Google Shape;512;p32"/>
          <p:cNvSpPr txBox="1"/>
          <p:nvPr/>
        </p:nvSpPr>
        <p:spPr>
          <a:xfrm>
            <a:off x="3125595" y="3534926"/>
            <a:ext cx="78524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fr-FR" sz="1600" b="1" i="0" u="none" strike="noStrike" cap="none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5g</a:t>
            </a:r>
            <a:endParaRPr sz="16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3" name="Google Shape;513;p32"/>
          <p:cNvSpPr txBox="1"/>
          <p:nvPr/>
        </p:nvSpPr>
        <p:spPr>
          <a:xfrm>
            <a:off x="4213005" y="2703901"/>
            <a:ext cx="430890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Miel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de Sésame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B-sitostérol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2"/>
          <p:cNvSpPr txBox="1">
            <a:spLocks noGrp="1"/>
          </p:cNvSpPr>
          <p:nvPr>
            <p:ph type="subTitle" idx="14"/>
          </p:nvPr>
        </p:nvSpPr>
        <p:spPr>
          <a:xfrm>
            <a:off x="4293313" y="339289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CONSEILS D'UTILISATION </a:t>
            </a:r>
            <a:endParaRPr sz="1800"/>
          </a:p>
        </p:txBody>
      </p:sp>
      <p:sp>
        <p:nvSpPr>
          <p:cNvPr id="515" name="Google Shape;515;p32"/>
          <p:cNvSpPr/>
          <p:nvPr/>
        </p:nvSpPr>
        <p:spPr>
          <a:xfrm>
            <a:off x="3117158" y="3843301"/>
            <a:ext cx="664106" cy="2616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3102168" y="3820616"/>
            <a:ext cx="9989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Crème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4392613" y="3782431"/>
            <a:ext cx="356885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Appliquer une fine couche de pommade </a:t>
            </a: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 de gel 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sur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les zones à problèmes, 2 à 3 fois par jour</a:t>
            </a:r>
            <a:endParaRPr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058" y="1194814"/>
            <a:ext cx="1315000" cy="3280367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194815"/>
            <a:ext cx="1452986" cy="328036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7367" y="1031468"/>
            <a:ext cx="3976723" cy="3976723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3"/>
          <p:cNvSpPr txBox="1"/>
          <p:nvPr/>
        </p:nvSpPr>
        <p:spPr>
          <a:xfrm>
            <a:off x="1175435" y="446693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PSOCALM</a:t>
            </a:r>
            <a:endParaRPr/>
          </a:p>
        </p:txBody>
      </p:sp>
      <p:sp>
        <p:nvSpPr>
          <p:cNvPr id="524" name="Google Shape;524;p33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525" name="Google Shape;525;p33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Diminue les démangeaisons lièes au psoriasis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Soulage et apaise les irritations dûes au psoriasis</a:t>
            </a:r>
            <a:endParaRPr/>
          </a:p>
        </p:txBody>
      </p:sp>
      <p:sp>
        <p:nvSpPr>
          <p:cNvPr id="526" name="Google Shape;526;p33"/>
          <p:cNvSpPr txBox="1">
            <a:spLocks noGrp="1"/>
          </p:cNvSpPr>
          <p:nvPr>
            <p:ph type="subTitle" idx="14"/>
          </p:nvPr>
        </p:nvSpPr>
        <p:spPr>
          <a:xfrm>
            <a:off x="3307732" y="159871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</a:t>
            </a:r>
            <a:endParaRPr sz="1800"/>
          </a:p>
        </p:txBody>
      </p:sp>
      <p:sp>
        <p:nvSpPr>
          <p:cNvPr id="527" name="Google Shape;527;p33"/>
          <p:cNvSpPr txBox="1"/>
          <p:nvPr/>
        </p:nvSpPr>
        <p:spPr>
          <a:xfrm>
            <a:off x="3212342" y="4057268"/>
            <a:ext cx="78524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45 g</a:t>
            </a:r>
            <a:endParaRPr sz="16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p33"/>
          <p:cNvSpPr txBox="1"/>
          <p:nvPr/>
        </p:nvSpPr>
        <p:spPr>
          <a:xfrm>
            <a:off x="4213005" y="2023259"/>
            <a:ext cx="430890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0,9 gr d'Acide salicylique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0,9 gr de gel d'Aloès Vera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0,45 gr de Diméthicone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0,45 gr de Huile d'onagre (Oenothera biennis)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0,45 gr Huile d'amande douce (Prunus amygdalus) </a:t>
            </a:r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subTitle" idx="14"/>
          </p:nvPr>
        </p:nvSpPr>
        <p:spPr>
          <a:xfrm>
            <a:off x="4293313" y="339289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CONSEILS D'UTILISATION </a:t>
            </a:r>
            <a:endParaRPr sz="1800"/>
          </a:p>
        </p:txBody>
      </p:sp>
      <p:sp>
        <p:nvSpPr>
          <p:cNvPr id="530" name="Google Shape;530;p33"/>
          <p:cNvSpPr/>
          <p:nvPr/>
        </p:nvSpPr>
        <p:spPr>
          <a:xfrm>
            <a:off x="3216376" y="4512280"/>
            <a:ext cx="1024729" cy="22741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3"/>
          <p:cNvSpPr txBox="1"/>
          <p:nvPr/>
        </p:nvSpPr>
        <p:spPr>
          <a:xfrm>
            <a:off x="3282915" y="4496095"/>
            <a:ext cx="101039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Crème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3"/>
          <p:cNvSpPr txBox="1"/>
          <p:nvPr/>
        </p:nvSpPr>
        <p:spPr>
          <a:xfrm>
            <a:off x="4392613" y="3782431"/>
            <a:ext cx="35688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Appliquer une fine couche de pommade sur les zones à problèmes, 2 à 3 fois par jour</a:t>
            </a:r>
            <a:endParaRPr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586" y="-6964931"/>
            <a:ext cx="1593800" cy="397800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532" y="1417626"/>
            <a:ext cx="1520723" cy="33554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05524" y="4057228"/>
            <a:ext cx="6270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fr-FR" sz="1600" b="1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90 g</a:t>
            </a:r>
          </a:p>
        </p:txBody>
      </p:sp>
      <p:sp>
        <p:nvSpPr>
          <p:cNvPr id="18" name="Google Shape;531;p33"/>
          <p:cNvSpPr txBox="1"/>
          <p:nvPr/>
        </p:nvSpPr>
        <p:spPr>
          <a:xfrm>
            <a:off x="982707" y="4955931"/>
            <a:ext cx="9989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Crème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530;p33"/>
          <p:cNvSpPr/>
          <p:nvPr/>
        </p:nvSpPr>
        <p:spPr>
          <a:xfrm>
            <a:off x="1433192" y="4496095"/>
            <a:ext cx="1024729" cy="22741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531;p33"/>
          <p:cNvSpPr txBox="1"/>
          <p:nvPr/>
        </p:nvSpPr>
        <p:spPr>
          <a:xfrm>
            <a:off x="1446442" y="4460960"/>
            <a:ext cx="101039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Crème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 txBox="1"/>
          <p:nvPr/>
        </p:nvSpPr>
        <p:spPr>
          <a:xfrm>
            <a:off x="1175435" y="446693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PSOCALM</a:t>
            </a:r>
            <a:endParaRPr/>
          </a:p>
        </p:txBody>
      </p:sp>
      <p:sp>
        <p:nvSpPr>
          <p:cNvPr id="524" name="Google Shape;524;p33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525" name="Google Shape;525;p33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Diminue les démangeaisons </a:t>
            </a:r>
            <a:r>
              <a:rPr lang="fr-FR" sz="12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lièes</a:t>
            </a: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 au psoriasis</a:t>
            </a:r>
            <a:endParaRPr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Soulage et apaise les irritations </a:t>
            </a:r>
            <a:r>
              <a:rPr lang="fr-FR" sz="1200" dirty="0" err="1">
                <a:latin typeface="Montserrat Medium"/>
                <a:ea typeface="Montserrat Medium"/>
                <a:cs typeface="Montserrat Medium"/>
                <a:sym typeface="Montserrat Medium"/>
              </a:rPr>
              <a:t>dûes</a:t>
            </a:r>
            <a:r>
              <a:rPr lang="fr-FR" sz="1200" dirty="0">
                <a:latin typeface="Montserrat Medium"/>
                <a:ea typeface="Montserrat Medium"/>
                <a:cs typeface="Montserrat Medium"/>
                <a:sym typeface="Montserrat Medium"/>
              </a:rPr>
              <a:t> au psoriasis</a:t>
            </a:r>
            <a:endParaRPr dirty="0"/>
          </a:p>
        </p:txBody>
      </p:sp>
      <p:sp>
        <p:nvSpPr>
          <p:cNvPr id="526" name="Google Shape;526;p33"/>
          <p:cNvSpPr txBox="1">
            <a:spLocks noGrp="1"/>
          </p:cNvSpPr>
          <p:nvPr>
            <p:ph type="subTitle" idx="14"/>
          </p:nvPr>
        </p:nvSpPr>
        <p:spPr>
          <a:xfrm>
            <a:off x="3356500" y="139459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</a:t>
            </a:r>
            <a:endParaRPr sz="1800" dirty="0"/>
          </a:p>
        </p:txBody>
      </p:sp>
      <p:sp>
        <p:nvSpPr>
          <p:cNvPr id="527" name="Google Shape;527;p33"/>
          <p:cNvSpPr txBox="1"/>
          <p:nvPr/>
        </p:nvSpPr>
        <p:spPr>
          <a:xfrm>
            <a:off x="3090391" y="3516918"/>
            <a:ext cx="100745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200 ml </a:t>
            </a:r>
            <a:endParaRPr sz="16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p33"/>
          <p:cNvSpPr txBox="1"/>
          <p:nvPr/>
        </p:nvSpPr>
        <p:spPr>
          <a:xfrm>
            <a:off x="4213005" y="2023259"/>
            <a:ext cx="430890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dirty="0"/>
          </a:p>
        </p:txBody>
      </p:sp>
      <p:sp>
        <p:nvSpPr>
          <p:cNvPr id="529" name="Google Shape;529;p33"/>
          <p:cNvSpPr txBox="1">
            <a:spLocks noGrp="1"/>
          </p:cNvSpPr>
          <p:nvPr>
            <p:ph type="subTitle" idx="14"/>
          </p:nvPr>
        </p:nvSpPr>
        <p:spPr>
          <a:xfrm>
            <a:off x="4299914" y="373613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CONSEILS D'UTILISATION </a:t>
            </a:r>
            <a:endParaRPr sz="1800" dirty="0"/>
          </a:p>
        </p:txBody>
      </p:sp>
      <p:sp>
        <p:nvSpPr>
          <p:cNvPr id="530" name="Google Shape;530;p33"/>
          <p:cNvSpPr/>
          <p:nvPr/>
        </p:nvSpPr>
        <p:spPr>
          <a:xfrm>
            <a:off x="3117158" y="3843301"/>
            <a:ext cx="664106" cy="2616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3"/>
          <p:cNvSpPr txBox="1"/>
          <p:nvPr/>
        </p:nvSpPr>
        <p:spPr>
          <a:xfrm>
            <a:off x="3168428" y="3816131"/>
            <a:ext cx="9989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 smtClean="0">
                <a:solidFill>
                  <a:schemeClr val="lt1"/>
                </a:solidFill>
                <a:latin typeface="Montserrat Medium"/>
                <a:sym typeface="Montserrat Medium"/>
              </a:rPr>
              <a:t>GEL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3"/>
          <p:cNvSpPr txBox="1"/>
          <p:nvPr/>
        </p:nvSpPr>
        <p:spPr>
          <a:xfrm>
            <a:off x="4359183" y="4127878"/>
            <a:ext cx="3568855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200" dirty="0">
                <a:latin typeface="Montserrat Medium" panose="020B0604020202020204" charset="0"/>
              </a:rPr>
              <a:t>CONSEILS D’UTILISATION</a:t>
            </a:r>
          </a:p>
          <a:p>
            <a:r>
              <a:rPr lang="fr-FR" sz="1200" dirty="0">
                <a:latin typeface="Montserrat Medium" panose="020B0604020202020204" charset="0"/>
              </a:rPr>
              <a:t>Laver délicatement les cheveux et le corps</a:t>
            </a:r>
          </a:p>
          <a:p>
            <a:r>
              <a:rPr lang="fr-FR" sz="1200" dirty="0">
                <a:latin typeface="Montserrat Medium" panose="020B0604020202020204" charset="0"/>
              </a:rPr>
              <a:t>préalablement mouillés puis rincer soigneusement,</a:t>
            </a:r>
          </a:p>
          <a:p>
            <a:r>
              <a:rPr lang="fr-FR" sz="1200" dirty="0">
                <a:latin typeface="Montserrat Medium" panose="020B0604020202020204" charset="0"/>
              </a:rPr>
              <a:t>une à deux fois par semaine.</a:t>
            </a:r>
            <a:endParaRPr sz="1200" dirty="0">
              <a:latin typeface="Montserrat Medium" panose="020B060402020202020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586" y="-6964931"/>
            <a:ext cx="1593800" cy="397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59183" y="1809924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200" dirty="0" smtClean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-Gel </a:t>
            </a:r>
            <a:r>
              <a:rPr lang="fr-FR" sz="1200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d’</a:t>
            </a:r>
            <a:r>
              <a:rPr lang="fr-FR" sz="1200" dirty="0" err="1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Aloés</a:t>
            </a:r>
            <a:r>
              <a:rPr lang="fr-FR" sz="1200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 Véra</a:t>
            </a:r>
          </a:p>
          <a:p>
            <a:r>
              <a:rPr lang="fr-FR" sz="1200" dirty="0" smtClean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-Acide </a:t>
            </a:r>
            <a:r>
              <a:rPr lang="fr-FR" sz="1200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salicylique</a:t>
            </a:r>
          </a:p>
          <a:p>
            <a:r>
              <a:rPr lang="fr-FR" sz="1200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Huile d’onagre</a:t>
            </a:r>
          </a:p>
          <a:p>
            <a:r>
              <a:rPr lang="fr-FR" sz="1200" i="1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(</a:t>
            </a:r>
            <a:r>
              <a:rPr lang="fr-FR" sz="1200" i="1" dirty="0" err="1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Oenothera</a:t>
            </a:r>
            <a:r>
              <a:rPr lang="fr-FR" sz="1200" i="1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 </a:t>
            </a:r>
            <a:r>
              <a:rPr lang="fr-FR" sz="1200" i="1" dirty="0" err="1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biennis</a:t>
            </a:r>
            <a:r>
              <a:rPr lang="fr-FR" sz="1200" i="1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)</a:t>
            </a:r>
          </a:p>
          <a:p>
            <a:r>
              <a:rPr lang="fr-FR" sz="1200" dirty="0" smtClean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-Huile </a:t>
            </a:r>
            <a:r>
              <a:rPr lang="fr-FR" sz="1200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essentielle de romarin</a:t>
            </a:r>
          </a:p>
          <a:p>
            <a:r>
              <a:rPr lang="fr-FR" sz="1200" i="1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(ROSMARINUS OFFICINALIS LEAF OIL)</a:t>
            </a:r>
          </a:p>
          <a:p>
            <a:r>
              <a:rPr lang="fr-FR" sz="1200" dirty="0" smtClean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-Huile </a:t>
            </a:r>
            <a:r>
              <a:rPr lang="fr-FR" sz="1200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essentielle de menthe</a:t>
            </a:r>
          </a:p>
          <a:p>
            <a:r>
              <a:rPr lang="fr-FR" sz="1200" i="1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(MENTHA PIPERITA OIL)</a:t>
            </a:r>
          </a:p>
          <a:p>
            <a:r>
              <a:rPr lang="fr-FR" sz="1200" dirty="0" smtClean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-Huile </a:t>
            </a:r>
            <a:r>
              <a:rPr lang="fr-FR" sz="1200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essentielle d’arbre à </a:t>
            </a:r>
            <a:r>
              <a:rPr lang="fr-FR" sz="1200" dirty="0" err="1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thè</a:t>
            </a:r>
            <a:endParaRPr lang="fr-FR" sz="1200" dirty="0">
              <a:solidFill>
                <a:schemeClr val="tx1">
                  <a:lumMod val="50000"/>
                </a:schemeClr>
              </a:solidFill>
              <a:latin typeface="Montserrat Medium" panose="020B0604020202020204" charset="0"/>
            </a:endParaRPr>
          </a:p>
          <a:p>
            <a:r>
              <a:rPr lang="fr-FR" sz="1200" i="1" dirty="0">
                <a:solidFill>
                  <a:schemeClr val="tx1">
                    <a:lumMod val="50000"/>
                  </a:schemeClr>
                </a:solidFill>
                <a:latin typeface="Montserrat Medium" panose="020B0604020202020204" charset="0"/>
              </a:rPr>
              <a:t>(MELALEUCA ALTERNIFOLIA LEAF OIL)</a:t>
            </a:r>
            <a:endParaRPr lang="fr-FR" sz="1200" dirty="0">
              <a:solidFill>
                <a:schemeClr val="tx1">
                  <a:lumMod val="50000"/>
                </a:schemeClr>
              </a:solidFill>
              <a:latin typeface="Montserrat Medium" panose="020B060402020202020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88" y="1031468"/>
            <a:ext cx="2165253" cy="424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714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7519" y="1092941"/>
            <a:ext cx="3891962" cy="3891962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4"/>
          <p:cNvSpPr txBox="1"/>
          <p:nvPr/>
        </p:nvSpPr>
        <p:spPr>
          <a:xfrm>
            <a:off x="1175435" y="446693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LANOROSE</a:t>
            </a:r>
            <a:endParaRPr/>
          </a:p>
        </p:txBody>
      </p:sp>
      <p:sp>
        <p:nvSpPr>
          <p:cNvPr id="539" name="Google Shape;539;p34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540" name="Google Shape;540;p34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Protège l'aréole mammaire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Soulage les mamèlons douloureux pendant la période d'allaitement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Prévient les crevasses à partir du 7 ème mois de la grossesse</a:t>
            </a:r>
            <a:endParaRPr/>
          </a:p>
        </p:txBody>
      </p:sp>
      <p:sp>
        <p:nvSpPr>
          <p:cNvPr id="541" name="Google Shape;541;p34"/>
          <p:cNvSpPr txBox="1">
            <a:spLocks noGrp="1"/>
          </p:cNvSpPr>
          <p:nvPr>
            <p:ph type="subTitle" idx="14"/>
          </p:nvPr>
        </p:nvSpPr>
        <p:spPr>
          <a:xfrm>
            <a:off x="3307732" y="184621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</a:t>
            </a:r>
            <a:endParaRPr sz="1800"/>
          </a:p>
        </p:txBody>
      </p:sp>
      <p:sp>
        <p:nvSpPr>
          <p:cNvPr id="542" name="Google Shape;542;p34"/>
          <p:cNvSpPr txBox="1"/>
          <p:nvPr/>
        </p:nvSpPr>
        <p:spPr>
          <a:xfrm>
            <a:off x="3125595" y="3534926"/>
            <a:ext cx="78524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35g</a:t>
            </a:r>
            <a:endParaRPr sz="16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3" name="Google Shape;543;p34"/>
          <p:cNvSpPr txBox="1"/>
          <p:nvPr/>
        </p:nvSpPr>
        <p:spPr>
          <a:xfrm>
            <a:off x="4213005" y="2236388"/>
            <a:ext cx="430890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Lanoline ultra pure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Huile d'olive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Miel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Eau de fleur d'oranger</a:t>
            </a:r>
            <a:endParaRPr/>
          </a:p>
        </p:txBody>
      </p:sp>
      <p:sp>
        <p:nvSpPr>
          <p:cNvPr id="544" name="Google Shape;544;p34"/>
          <p:cNvSpPr txBox="1">
            <a:spLocks noGrp="1"/>
          </p:cNvSpPr>
          <p:nvPr>
            <p:ph type="subTitle" idx="14"/>
          </p:nvPr>
        </p:nvSpPr>
        <p:spPr>
          <a:xfrm>
            <a:off x="4293313" y="3241638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CONSEILS D'UTILISATION </a:t>
            </a:r>
            <a:endParaRPr sz="1800"/>
          </a:p>
        </p:txBody>
      </p:sp>
      <p:sp>
        <p:nvSpPr>
          <p:cNvPr id="545" name="Google Shape;545;p34"/>
          <p:cNvSpPr/>
          <p:nvPr/>
        </p:nvSpPr>
        <p:spPr>
          <a:xfrm>
            <a:off x="3117158" y="3843301"/>
            <a:ext cx="664106" cy="2616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4"/>
          <p:cNvSpPr txBox="1"/>
          <p:nvPr/>
        </p:nvSpPr>
        <p:spPr>
          <a:xfrm>
            <a:off x="3102168" y="3820616"/>
            <a:ext cx="9989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Crème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4"/>
          <p:cNvSpPr txBox="1"/>
          <p:nvPr/>
        </p:nvSpPr>
        <p:spPr>
          <a:xfrm>
            <a:off x="4392613" y="3631178"/>
            <a:ext cx="41292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Appliquer plusieurs fois par jour sur les mamelons irrités, avant et après l'allaitement, sans rinçage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78379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5"/>
          <p:cNvSpPr txBox="1"/>
          <p:nvPr/>
        </p:nvSpPr>
        <p:spPr>
          <a:xfrm>
            <a:off x="1175435" y="446693"/>
            <a:ext cx="579081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DALIBOUR</a:t>
            </a:r>
            <a:endParaRPr/>
          </a:p>
        </p:txBody>
      </p:sp>
      <p:sp>
        <p:nvSpPr>
          <p:cNvPr id="554" name="Google Shape;554;p35"/>
          <p:cNvSpPr txBox="1">
            <a:spLocks noGrp="1"/>
          </p:cNvSpPr>
          <p:nvPr>
            <p:ph type="subTitle" idx="9"/>
          </p:nvPr>
        </p:nvSpPr>
        <p:spPr>
          <a:xfrm>
            <a:off x="3782206" y="55175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555" name="Google Shape;555;p35"/>
          <p:cNvSpPr txBox="1">
            <a:spLocks noGrp="1"/>
          </p:cNvSpPr>
          <p:nvPr>
            <p:ph type="subTitle" idx="13"/>
          </p:nvPr>
        </p:nvSpPr>
        <p:spPr>
          <a:xfrm>
            <a:off x="4213005" y="89446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Favorise la cicatrisation 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Cicatrice post opératoire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Circoncision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Post laser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Post épilatoire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Dermites irritatives</a:t>
            </a:r>
            <a:endParaRPr/>
          </a:p>
        </p:txBody>
      </p:sp>
      <p:sp>
        <p:nvSpPr>
          <p:cNvPr id="556" name="Google Shape;556;p35"/>
          <p:cNvSpPr txBox="1">
            <a:spLocks noGrp="1"/>
          </p:cNvSpPr>
          <p:nvPr>
            <p:ph type="subTitle" idx="14"/>
          </p:nvPr>
        </p:nvSpPr>
        <p:spPr>
          <a:xfrm>
            <a:off x="3307732" y="213497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</a:t>
            </a:r>
            <a:endParaRPr sz="1800"/>
          </a:p>
        </p:txBody>
      </p:sp>
      <p:sp>
        <p:nvSpPr>
          <p:cNvPr id="557" name="Google Shape;557;p35"/>
          <p:cNvSpPr txBox="1"/>
          <p:nvPr/>
        </p:nvSpPr>
        <p:spPr>
          <a:xfrm>
            <a:off x="3125595" y="3534926"/>
            <a:ext cx="78524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40g</a:t>
            </a:r>
            <a:endParaRPr sz="16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8" name="Google Shape;558;p35"/>
          <p:cNvSpPr txBox="1"/>
          <p:nvPr/>
        </p:nvSpPr>
        <p:spPr>
          <a:xfrm>
            <a:off x="4213005" y="2525147"/>
            <a:ext cx="430890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Oxyde de zinc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Aloés vera (Aloe vera)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Sulfate de zinc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Sulfate de cuivre</a:t>
            </a:r>
            <a:endParaRPr/>
          </a:p>
        </p:txBody>
      </p:sp>
      <p:sp>
        <p:nvSpPr>
          <p:cNvPr id="559" name="Google Shape;559;p35"/>
          <p:cNvSpPr txBox="1">
            <a:spLocks noGrp="1"/>
          </p:cNvSpPr>
          <p:nvPr>
            <p:ph type="subTitle" idx="14"/>
          </p:nvPr>
        </p:nvSpPr>
        <p:spPr>
          <a:xfrm>
            <a:off x="4293313" y="353039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CONSEILS D'UTILISATION </a:t>
            </a:r>
            <a:endParaRPr sz="1800"/>
          </a:p>
        </p:txBody>
      </p:sp>
      <p:sp>
        <p:nvSpPr>
          <p:cNvPr id="560" name="Google Shape;560;p35"/>
          <p:cNvSpPr/>
          <p:nvPr/>
        </p:nvSpPr>
        <p:spPr>
          <a:xfrm>
            <a:off x="3117158" y="3843301"/>
            <a:ext cx="664106" cy="2616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5"/>
          <p:cNvSpPr txBox="1"/>
          <p:nvPr/>
        </p:nvSpPr>
        <p:spPr>
          <a:xfrm>
            <a:off x="3102168" y="3820616"/>
            <a:ext cx="9989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Crème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5"/>
          <p:cNvSpPr txBox="1"/>
          <p:nvPr/>
        </p:nvSpPr>
        <p:spPr>
          <a:xfrm>
            <a:off x="4392613" y="3919937"/>
            <a:ext cx="41292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Application 2 à 4 fois par jour</a:t>
            </a:r>
            <a:endParaRPr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65" y="1239860"/>
            <a:ext cx="1382053" cy="340156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3263" y="993584"/>
            <a:ext cx="3825469" cy="382546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6"/>
          <p:cNvSpPr txBox="1"/>
          <p:nvPr/>
        </p:nvSpPr>
        <p:spPr>
          <a:xfrm>
            <a:off x="528479" y="511294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NORMAPROST</a:t>
            </a:r>
            <a:endParaRPr sz="2400" b="0" i="0" u="none" strike="noStrike" cap="none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69" name="Google Shape;569;p36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570" name="Google Shape;570;p36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Adénome de la prostate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Prostatite chronique</a:t>
            </a:r>
            <a:endParaRPr/>
          </a:p>
        </p:txBody>
      </p:sp>
      <p:sp>
        <p:nvSpPr>
          <p:cNvPr id="571" name="Google Shape;571;p36"/>
          <p:cNvSpPr txBox="1">
            <a:spLocks noGrp="1"/>
          </p:cNvSpPr>
          <p:nvPr>
            <p:ph type="subTitle" idx="14"/>
          </p:nvPr>
        </p:nvSpPr>
        <p:spPr>
          <a:xfrm>
            <a:off x="4098384" y="1239458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pic>
        <p:nvPicPr>
          <p:cNvPr id="572" name="Google Shape;572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36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4" name="Google Shape;574;p36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5" name="Google Shape;575;p36"/>
          <p:cNvSpPr txBox="1"/>
          <p:nvPr/>
        </p:nvSpPr>
        <p:spPr>
          <a:xfrm>
            <a:off x="4213005" y="1739634"/>
            <a:ext cx="4539109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150 mg de Palmier nain (Serenoa repens)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87 mg de Racine d'Ortie (Urtica dioica)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mg de Prunier d'afrique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mg de Huile de graine de Courge (Cucurbita pepo)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7,5 mg de Lycopène de tomate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 mg de Vitamine E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35 µg de Sélénium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1,25 µg de Vitamine 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6"/>
          <p:cNvSpPr txBox="1">
            <a:spLocks noGrp="1"/>
          </p:cNvSpPr>
          <p:nvPr>
            <p:ph type="subTitle" idx="14"/>
          </p:nvPr>
        </p:nvSpPr>
        <p:spPr>
          <a:xfrm>
            <a:off x="4293313" y="333930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577" name="Google Shape;577;p36"/>
          <p:cNvGraphicFramePr/>
          <p:nvPr/>
        </p:nvGraphicFramePr>
        <p:xfrm>
          <a:off x="4213005" y="3804874"/>
          <a:ext cx="37499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Pendant au moins 6 mois 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"/>
          <p:cNvSpPr txBox="1"/>
          <p:nvPr/>
        </p:nvSpPr>
        <p:spPr>
          <a:xfrm>
            <a:off x="528479" y="511294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CYSPROTECT</a:t>
            </a:r>
            <a:endParaRPr sz="2400" b="0" i="0" u="none" strike="noStrike" cap="none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4" name="Google Shape;584;p37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585" name="Google Shape;585;p37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Protège les voies urinaires sensibles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Cystites récidivantes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Complément d'une antibiothérapie fondée dans les infections urinaires basses</a:t>
            </a:r>
            <a:endParaRPr/>
          </a:p>
        </p:txBody>
      </p:sp>
      <p:sp>
        <p:nvSpPr>
          <p:cNvPr id="586" name="Google Shape;586;p37"/>
          <p:cNvSpPr txBox="1">
            <a:spLocks noGrp="1"/>
          </p:cNvSpPr>
          <p:nvPr>
            <p:ph type="subTitle" idx="14"/>
          </p:nvPr>
        </p:nvSpPr>
        <p:spPr>
          <a:xfrm>
            <a:off x="4098384" y="176884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pic>
        <p:nvPicPr>
          <p:cNvPr id="587" name="Google Shape;58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7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p37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0" name="Google Shape;590;p37"/>
          <p:cNvSpPr txBox="1"/>
          <p:nvPr/>
        </p:nvSpPr>
        <p:spPr>
          <a:xfrm>
            <a:off x="4213005" y="2269022"/>
            <a:ext cx="453910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100 mg d'Extrait sec d'Hibscus (Hibiscus sabdariffa)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mg d'Extrait sec de Cannberge (Vaccinium macrocarpon)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7"/>
          <p:cNvSpPr txBox="1">
            <a:spLocks noGrp="1"/>
          </p:cNvSpPr>
          <p:nvPr>
            <p:ph type="subTitle" idx="14"/>
          </p:nvPr>
        </p:nvSpPr>
        <p:spPr>
          <a:xfrm>
            <a:off x="4293313" y="3181174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592" name="Google Shape;592;p37"/>
          <p:cNvGraphicFramePr/>
          <p:nvPr/>
        </p:nvGraphicFramePr>
        <p:xfrm>
          <a:off x="4213005" y="3646745"/>
          <a:ext cx="37499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Pendant au moins 6 mois 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251" y="1347029"/>
            <a:ext cx="28575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"/>
          <p:cNvSpPr txBox="1"/>
          <p:nvPr/>
        </p:nvSpPr>
        <p:spPr>
          <a:xfrm>
            <a:off x="528479" y="511294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CYSPROTECT</a:t>
            </a:r>
            <a:endParaRPr sz="2400" b="0" i="0" u="none" strike="noStrike" cap="none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4" name="Google Shape;584;p37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585" name="Google Shape;585;p37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Protège les voies urinaires sensibles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Cystites récidivantes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Complément d'une antibiothérapie fondée dans les infections urinaires basses</a:t>
            </a:r>
            <a:endParaRPr/>
          </a:p>
        </p:txBody>
      </p:sp>
      <p:sp>
        <p:nvSpPr>
          <p:cNvPr id="586" name="Google Shape;586;p37"/>
          <p:cNvSpPr txBox="1">
            <a:spLocks noGrp="1"/>
          </p:cNvSpPr>
          <p:nvPr>
            <p:ph type="subTitle" idx="14"/>
          </p:nvPr>
        </p:nvSpPr>
        <p:spPr>
          <a:xfrm>
            <a:off x="4098384" y="176884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</a:t>
            </a:r>
            <a:r>
              <a:rPr lang="fr-FR" sz="1800" dirty="0" smtClean="0"/>
              <a:t>sachet</a:t>
            </a:r>
            <a:endParaRPr sz="1800" dirty="0"/>
          </a:p>
        </p:txBody>
      </p:sp>
      <p:sp>
        <p:nvSpPr>
          <p:cNvPr id="588" name="Google Shape;588;p37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p37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 smtClean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SACHETS</a:t>
            </a:r>
            <a:endParaRPr sz="1100" b="0" i="0" u="none" strike="noStrike" cap="none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0" name="Google Shape;590;p37"/>
          <p:cNvSpPr txBox="1"/>
          <p:nvPr/>
        </p:nvSpPr>
        <p:spPr>
          <a:xfrm>
            <a:off x="4213005" y="2269022"/>
            <a:ext cx="453910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00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 d'Extrait sec d'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Hibscus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(Hibiscus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sabdariffa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</a:t>
            </a:r>
            <a:r>
              <a:rPr lang="fr-FR" sz="1200" b="0" i="0" u="none" strike="noStrike" cap="none" dirty="0" smtClean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 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mg d'Extrait sec de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Cannberge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(Vaccinium </a:t>
            </a:r>
            <a:r>
              <a:rPr lang="fr-FR" sz="1200" b="0" i="0" u="none" strike="noStrike" cap="none" dirty="0" err="1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macrocarpon</a:t>
            </a:r>
            <a:r>
              <a:rPr lang="fr-FR" sz="1200" b="0" i="0" u="none" strike="noStrike" cap="none" dirty="0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7"/>
          <p:cNvSpPr txBox="1">
            <a:spLocks noGrp="1"/>
          </p:cNvSpPr>
          <p:nvPr>
            <p:ph type="subTitle" idx="14"/>
          </p:nvPr>
        </p:nvSpPr>
        <p:spPr>
          <a:xfrm>
            <a:off x="4293313" y="3181174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592" name="Google Shape;592;p37"/>
          <p:cNvGraphicFramePr/>
          <p:nvPr>
            <p:extLst>
              <p:ext uri="{D42A27DB-BD31-4B8C-83A1-F6EECF244321}">
                <p14:modId xmlns:p14="http://schemas.microsoft.com/office/powerpoint/2010/main" val="4142847712"/>
              </p:ext>
            </p:extLst>
          </p:nvPr>
        </p:nvGraphicFramePr>
        <p:xfrm>
          <a:off x="4213005" y="3646745"/>
          <a:ext cx="37499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</a:t>
                      </a:r>
                      <a:r>
                        <a:rPr lang="fr-FR" sz="12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sachet 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Pendant au moins 6 mois 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5362" name="Picture 2" descr="https://vital.com.tn/wp-content/uploads/2023/10/LV-CYSPROTEC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34" y="972960"/>
            <a:ext cx="2970493" cy="414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0323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30" y="1230332"/>
            <a:ext cx="3962275" cy="3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8"/>
          <p:cNvSpPr txBox="1"/>
          <p:nvPr/>
        </p:nvSpPr>
        <p:spPr>
          <a:xfrm>
            <a:off x="615315" y="563105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TABASTOP</a:t>
            </a:r>
            <a:endParaRPr sz="2400" b="0" i="0" u="none" strike="noStrike" cap="none" dirty="0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99" name="Google Shape;599;p38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600" name="Google Shape;600;p38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Renforce les défenses immunitaires qui sont fragilisées lors du sevrage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Aide au sevrage tabagique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Pas d'effet secondaire ni tabagique</a:t>
            </a:r>
            <a:endParaRPr/>
          </a:p>
        </p:txBody>
      </p:sp>
      <p:sp>
        <p:nvSpPr>
          <p:cNvPr id="601" name="Google Shape;601;p38"/>
          <p:cNvSpPr txBox="1">
            <a:spLocks noGrp="1"/>
          </p:cNvSpPr>
          <p:nvPr>
            <p:ph type="subTitle" idx="14"/>
          </p:nvPr>
        </p:nvSpPr>
        <p:spPr>
          <a:xfrm>
            <a:off x="4098384" y="1658845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pic>
        <p:nvPicPr>
          <p:cNvPr id="602" name="Google Shape;602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38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4" name="Google Shape;604;p38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5" name="Google Shape;605;p38"/>
          <p:cNvSpPr txBox="1"/>
          <p:nvPr/>
        </p:nvSpPr>
        <p:spPr>
          <a:xfrm>
            <a:off x="4213005" y="2159021"/>
            <a:ext cx="453910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170 mg d'Extrait de Kudzu</a:t>
            </a:r>
            <a:endParaRPr sz="1200" b="0" i="0" u="none" strike="noStrike" cap="none">
              <a:solidFill>
                <a:srgbClr val="6D6D6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 mg d'Extrait sec de Thym (Thymus vulgaris)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35 mg de Vitamine 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8"/>
          <p:cNvSpPr txBox="1">
            <a:spLocks noGrp="1"/>
          </p:cNvSpPr>
          <p:nvPr>
            <p:ph type="subTitle" idx="14"/>
          </p:nvPr>
        </p:nvSpPr>
        <p:spPr>
          <a:xfrm>
            <a:off x="4293313" y="285447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607" name="Google Shape;607;p38"/>
          <p:cNvGraphicFramePr/>
          <p:nvPr>
            <p:extLst>
              <p:ext uri="{D42A27DB-BD31-4B8C-83A1-F6EECF244321}">
                <p14:modId xmlns:p14="http://schemas.microsoft.com/office/powerpoint/2010/main" val="4072030838"/>
              </p:ext>
            </p:extLst>
          </p:nvPr>
        </p:nvGraphicFramePr>
        <p:xfrm>
          <a:off x="4042253" y="3421202"/>
          <a:ext cx="4562000" cy="164749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140500"/>
                <a:gridCol w="1140500"/>
                <a:gridCol w="1140500"/>
                <a:gridCol w="1140500"/>
              </a:tblGrid>
              <a:tr h="259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PÉRIODE</a:t>
                      </a:r>
                      <a:endParaRPr sz="11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259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 premiers jours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 sz="1100"/>
                    </a:p>
                  </a:txBody>
                  <a:tcPr marL="91450" marR="91450" marT="45725" marB="45725"/>
                </a:tc>
              </a:tr>
              <a:tr h="259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15 jours suivants 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 sz="1100"/>
                    </a:p>
                  </a:txBody>
                  <a:tcPr marL="91450" marR="91450" marT="45725" marB="45725"/>
                </a:tc>
              </a:tr>
              <a:tr h="259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Après les repas </a:t>
                      </a:r>
                      <a:endParaRPr sz="110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259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Durant 1mois 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gélule 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 u="none" strike="noStrike" cap="none" dirty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</a:t>
                      </a:r>
                      <a:endParaRPr sz="1100" dirty="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19067"/>
            <a:ext cx="3756717" cy="3756717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9"/>
          <p:cNvSpPr txBox="1"/>
          <p:nvPr/>
        </p:nvSpPr>
        <p:spPr>
          <a:xfrm>
            <a:off x="1112869" y="511294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VIAMEN</a:t>
            </a:r>
            <a:endParaRPr sz="2400" b="0" i="0" u="none" strike="noStrike" cap="none" dirty="0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4" name="Google Shape;614;p39"/>
          <p:cNvSpPr txBox="1">
            <a:spLocks noGrp="1"/>
          </p:cNvSpPr>
          <p:nvPr>
            <p:ph type="subTitle" idx="9"/>
          </p:nvPr>
        </p:nvSpPr>
        <p:spPr>
          <a:xfrm>
            <a:off x="3782206" y="421126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615" name="Google Shape;615;p39"/>
          <p:cNvSpPr txBox="1">
            <a:spLocks noGrp="1"/>
          </p:cNvSpPr>
          <p:nvPr>
            <p:ph type="subTitle" idx="13"/>
          </p:nvPr>
        </p:nvSpPr>
        <p:spPr>
          <a:xfrm>
            <a:off x="4213005" y="763838"/>
            <a:ext cx="3892841" cy="144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Améliore la spermatogenèse et la fertilité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Stimule le désir sexuel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fr-FR" sz="1200">
                <a:latin typeface="Montserrat Medium"/>
                <a:ea typeface="Montserrat Medium"/>
                <a:cs typeface="Montserrat Medium"/>
                <a:sym typeface="Montserrat Medium"/>
              </a:rPr>
              <a:t>Améliore la libido en augmentant l'énérgie en relation à la pulsion sexuelle</a:t>
            </a:r>
            <a:endParaRPr/>
          </a:p>
        </p:txBody>
      </p:sp>
      <p:sp>
        <p:nvSpPr>
          <p:cNvPr id="616" name="Google Shape;616;p39"/>
          <p:cNvSpPr txBox="1">
            <a:spLocks noGrp="1"/>
          </p:cNvSpPr>
          <p:nvPr>
            <p:ph type="subTitle" idx="14"/>
          </p:nvPr>
        </p:nvSpPr>
        <p:spPr>
          <a:xfrm>
            <a:off x="4270262" y="176884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2 GÉLULES</a:t>
            </a:r>
            <a:endParaRPr sz="1800"/>
          </a:p>
        </p:txBody>
      </p:sp>
      <p:pic>
        <p:nvPicPr>
          <p:cNvPr id="617" name="Google Shape;617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1158" y="3227282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39"/>
          <p:cNvSpPr txBox="1"/>
          <p:nvPr/>
        </p:nvSpPr>
        <p:spPr>
          <a:xfrm>
            <a:off x="3118100" y="3527431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2400" b="1" i="0" u="none" strike="noStrike" cap="none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39"/>
          <p:cNvSpPr txBox="1"/>
          <p:nvPr/>
        </p:nvSpPr>
        <p:spPr>
          <a:xfrm>
            <a:off x="3048648" y="385829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0" name="Google Shape;620;p39"/>
          <p:cNvSpPr txBox="1"/>
          <p:nvPr/>
        </p:nvSpPr>
        <p:spPr>
          <a:xfrm>
            <a:off x="4213005" y="2269022"/>
            <a:ext cx="453910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300 mg de L -arginine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160 mg d'Extrait sec de Tribulus (Tribu/us terrestris)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160 mg d'Extrait sec de Moca (Lepidium meyenii)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80 mg d'Extrait sec de Ginkgo (Ginkgo biloba)</a:t>
            </a:r>
            <a:endParaRPr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6D6D6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16 mg de Vitamine B3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9"/>
          <p:cNvSpPr txBox="1">
            <a:spLocks noGrp="1"/>
          </p:cNvSpPr>
          <p:nvPr>
            <p:ph type="subTitle" idx="14"/>
          </p:nvPr>
        </p:nvSpPr>
        <p:spPr>
          <a:xfrm>
            <a:off x="4293313" y="3318674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622" name="Google Shape;622;p39"/>
          <p:cNvGraphicFramePr/>
          <p:nvPr/>
        </p:nvGraphicFramePr>
        <p:xfrm>
          <a:off x="4213005" y="3784245"/>
          <a:ext cx="3749900" cy="9985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7475"/>
                <a:gridCol w="937475"/>
                <a:gridCol w="937475"/>
                <a:gridCol w="937475"/>
              </a:tblGrid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b="1" i="0" u="none" strike="noStrike" cap="none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       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 gélules 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3285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 heure avant le moment souhaité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084417" y="179225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82459" y="2754722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2258524079"/>
              </p:ext>
            </p:extLst>
          </p:nvPr>
        </p:nvGraphicFramePr>
        <p:xfrm>
          <a:off x="4358123" y="3327108"/>
          <a:ext cx="3737300" cy="8256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 dirty="0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1 gélule</a:t>
                      </a:r>
                      <a:endParaRPr sz="1200" u="none" strike="noStrike" cap="none" dirty="0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" panose="020B0604020202020204" charset="0"/>
                        </a:rPr>
                        <a:t>       -</a:t>
                      </a:r>
                      <a:endParaRPr sz="1200" u="none" strike="noStrike" cap="none">
                        <a:latin typeface="Montserrat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" panose="020B0604020202020204" charset="0"/>
                        </a:rPr>
                        <a:t>       -</a:t>
                      </a:r>
                      <a:endParaRPr sz="1200" u="none" strike="noStrike" cap="none">
                        <a:latin typeface="Montserrat" panose="020B0604020202020204" charset="0"/>
                      </a:endParaRPr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Cure </a:t>
                      </a:r>
                      <a:r>
                        <a:rPr lang="fr-FR" sz="1200" u="none" strike="noStrike" cap="none" dirty="0" err="1" smtClean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mimimum</a:t>
                      </a:r>
                      <a:r>
                        <a:rPr lang="fr-FR" sz="1200" u="none" strike="noStrike" cap="none" dirty="0" smtClean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de 3 mois</a:t>
                      </a:r>
                      <a:endParaRPr sz="1200" u="none" strike="noStrike" cap="none" dirty="0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ous-titre 1"/>
          <p:cNvSpPr>
            <a:spLocks noGrp="1"/>
          </p:cNvSpPr>
          <p:nvPr>
            <p:ph type="subTitle" idx="13"/>
          </p:nvPr>
        </p:nvSpPr>
        <p:spPr>
          <a:xfrm>
            <a:off x="4282459" y="2207564"/>
            <a:ext cx="2986241" cy="618600"/>
          </a:xfrm>
        </p:spPr>
        <p:txBody>
          <a:bodyPr/>
          <a:lstStyle/>
          <a:p>
            <a:pPr lvl="0"/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300 mg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de Coenzyme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QlO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endParaRPr lang="fr-FR" dirty="0"/>
          </a:p>
        </p:txBody>
      </p:sp>
      <p:pic>
        <p:nvPicPr>
          <p:cNvPr id="11266" name="Picture 2" descr="https://vital.com.tn/wp-content/uploads/2025/06/LV-VITAL-CO-Q10-300-M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22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ous-titre 1"/>
          <p:cNvSpPr>
            <a:spLocks noGrp="1"/>
          </p:cNvSpPr>
          <p:nvPr>
            <p:ph type="subTitle" idx="13"/>
          </p:nvPr>
        </p:nvSpPr>
        <p:spPr>
          <a:xfrm>
            <a:off x="4388382" y="675968"/>
            <a:ext cx="3966480" cy="618600"/>
          </a:xfrm>
        </p:spPr>
        <p:txBody>
          <a:bodyPr/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Améliore les performances physiques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Protège contre le vieillissement cellulaire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Aide en période de convalescence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Diminue la fonte musculaire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Anti - oxydant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24407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59282" y="295343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201946" y="187189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GÉLULE</a:t>
            </a:r>
            <a:endParaRPr sz="1800" dirty="0"/>
          </a:p>
        </p:txBody>
      </p:sp>
      <p:sp>
        <p:nvSpPr>
          <p:cNvPr id="85" name="Google Shape;85;p4"/>
          <p:cNvSpPr txBox="1"/>
          <p:nvPr/>
        </p:nvSpPr>
        <p:spPr>
          <a:xfrm>
            <a:off x="3131148" y="397641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4331841"/>
            <a:ext cx="1186938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 smtClean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Comprimés</a:t>
            </a:r>
            <a:endParaRPr sz="1100" b="0" i="0" u="none" strike="noStrike" cap="none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318086" y="362890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841009784"/>
              </p:ext>
            </p:extLst>
          </p:nvPr>
        </p:nvGraphicFramePr>
        <p:xfrm>
          <a:off x="4318086" y="4108646"/>
          <a:ext cx="4537648" cy="115827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134412"/>
                <a:gridCol w="1134412"/>
                <a:gridCol w="1134412"/>
                <a:gridCol w="1134412"/>
              </a:tblGrid>
              <a:tr h="21639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 dirty="0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5049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 dirty="0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          1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Comprimé</a:t>
                      </a:r>
                      <a:endParaRPr sz="1200" u="none" strike="noStrike" cap="none" dirty="0">
                        <a:latin typeface="Montserrat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u="none" strike="noStrike" cap="none" dirty="0">
                          <a:latin typeface="Montserrat" panose="020B0604020202020204" charset="0"/>
                        </a:rPr>
                        <a:t>  </a:t>
                      </a:r>
                      <a:r>
                        <a:rPr lang="fr-FR" sz="1200" u="none" strike="noStrike" cap="none" dirty="0" smtClean="0">
                          <a:latin typeface="Montserrat" panose="020B0604020202020204" charset="0"/>
                        </a:rPr>
                        <a:t>    </a:t>
                      </a:r>
                      <a:r>
                        <a:rPr lang="fr-FR" sz="1200" u="none" strike="noStrike" cap="none" dirty="0" smtClean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1 Comprimé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Montserrat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u="none" strike="noStrike" cap="none" dirty="0">
                          <a:latin typeface="Montserrat" panose="020B0604020202020204" charset="0"/>
                        </a:rPr>
                        <a:t>  </a:t>
                      </a:r>
                      <a:r>
                        <a:rPr lang="fr-FR" sz="1200" u="none" strike="noStrike" cap="none" dirty="0" smtClean="0">
                          <a:latin typeface="Montserrat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1 Comprimé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Montserrat" panose="020B0604020202020204" charset="0"/>
                      </a:endParaRPr>
                    </a:p>
                  </a:txBody>
                  <a:tcPr marL="91450" marR="91450" marT="45725" marB="45725"/>
                </a:tc>
              </a:tr>
              <a:tr h="217061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Cure maximum de 10</a:t>
                      </a:r>
                      <a:r>
                        <a:rPr lang="fr-FR" sz="1000" u="none" strike="noStrike" cap="none" baseline="0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jours</a:t>
                      </a:r>
                      <a:endParaRPr sz="10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ous-titre 1"/>
          <p:cNvSpPr>
            <a:spLocks noGrp="1"/>
          </p:cNvSpPr>
          <p:nvPr>
            <p:ph type="subTitle" idx="13"/>
          </p:nvPr>
        </p:nvSpPr>
        <p:spPr>
          <a:xfrm>
            <a:off x="4055301" y="2137539"/>
            <a:ext cx="5088699" cy="116050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/>
              <a:t>185 mg de charbon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/>
              <a:t>105 mg d’Extrait de séné(</a:t>
            </a:r>
            <a:r>
              <a:rPr lang="fr-FR" sz="1200" dirty="0" err="1" smtClean="0"/>
              <a:t>senna</a:t>
            </a:r>
            <a:r>
              <a:rPr lang="fr-FR" sz="1200" dirty="0" smtClean="0"/>
              <a:t> </a:t>
            </a:r>
            <a:r>
              <a:rPr lang="fr-FR" sz="1200" dirty="0" err="1" smtClean="0"/>
              <a:t>alexendrina</a:t>
            </a:r>
            <a:r>
              <a:rPr lang="fr-FR" sz="1200" dirty="0" smtClean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/>
              <a:t>20 mg d’Extrait de rhubarbe(</a:t>
            </a:r>
            <a:r>
              <a:rPr lang="fr-FR" sz="1200" dirty="0" err="1" smtClean="0"/>
              <a:t>Rheum</a:t>
            </a:r>
            <a:r>
              <a:rPr lang="fr-FR" sz="1200" dirty="0" smtClean="0"/>
              <a:t> officinale)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/>
              <a:t>1,5 mg d’ Huile essentielle de fenouil(</a:t>
            </a:r>
            <a:r>
              <a:rPr lang="fr-FR" sz="1200" dirty="0" err="1" smtClean="0"/>
              <a:t>Foeniculum</a:t>
            </a:r>
            <a:r>
              <a:rPr lang="fr-FR" sz="1200" dirty="0" smtClean="0"/>
              <a:t> </a:t>
            </a:r>
            <a:r>
              <a:rPr lang="fr-FR" sz="1200" dirty="0" err="1" smtClean="0"/>
              <a:t>vulgare</a:t>
            </a:r>
            <a:r>
              <a:rPr lang="fr-FR" sz="1200" dirty="0" smtClean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/>
              <a:t>1,5 mg D’huile essentielle de menthe(</a:t>
            </a:r>
            <a:r>
              <a:rPr lang="fr-FR" sz="1200" dirty="0" err="1" smtClean="0"/>
              <a:t>Mentha</a:t>
            </a:r>
            <a:r>
              <a:rPr lang="fr-FR" sz="1200" dirty="0" smtClean="0"/>
              <a:t> </a:t>
            </a:r>
            <a:r>
              <a:rPr lang="fr-FR" sz="1200" dirty="0" err="1" smtClean="0"/>
              <a:t>piperita</a:t>
            </a:r>
            <a:r>
              <a:rPr lang="fr-FR" sz="1200" dirty="0" smtClean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dirty="0" smtClean="0"/>
          </a:p>
        </p:txBody>
      </p:sp>
      <p:pic>
        <p:nvPicPr>
          <p:cNvPr id="10242" name="Picture 2" descr="https://vital.com.tn/wp-content/uploads/2025/11/LV-V-CARBON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70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59982" y="72425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Ballonnements abdominaux liés à une production excessive de gaz</a:t>
            </a:r>
            <a:r>
              <a:rPr lang="fr-FR" sz="1200" dirty="0" smtClean="0">
                <a:latin typeface="Montserrat" panose="020B0604020202020204" charset="0"/>
              </a:rPr>
              <a:t>.</a:t>
            </a:r>
            <a:endParaRPr lang="fr-FR" sz="1200" dirty="0">
              <a:latin typeface="Montserrat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Flatulences et inconfort digestif postprandial</a:t>
            </a:r>
            <a:r>
              <a:rPr lang="fr-FR" sz="1200" dirty="0" smtClean="0">
                <a:latin typeface="Montserrat" panose="020B0604020202020204" charset="0"/>
              </a:rPr>
              <a:t>.</a:t>
            </a:r>
            <a:endParaRPr lang="fr-FR" sz="1200" dirty="0">
              <a:latin typeface="Montserrat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Digestion lente avec sensation de lourdeur</a:t>
            </a:r>
            <a:r>
              <a:rPr lang="fr-FR" sz="1200" dirty="0" smtClean="0">
                <a:latin typeface="Montserrat" panose="020B0604020202020204" charset="0"/>
              </a:rPr>
              <a:t>.</a:t>
            </a:r>
            <a:endParaRPr lang="fr-FR" sz="1200" dirty="0">
              <a:latin typeface="Montserrat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Colopathies fonctionnelles chroniques (type SII) avec alternance constipation/diarrhée.</a:t>
            </a:r>
          </a:p>
        </p:txBody>
      </p:sp>
      <p:sp>
        <p:nvSpPr>
          <p:cNvPr id="14" name="Google Shape;613;p39"/>
          <p:cNvSpPr txBox="1"/>
          <p:nvPr/>
        </p:nvSpPr>
        <p:spPr>
          <a:xfrm>
            <a:off x="1112869" y="511294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0" i="0" u="none" strike="noStrike" cap="none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V- CARBON</a:t>
            </a:r>
            <a:endParaRPr sz="2400" b="0" i="0" u="none" strike="noStrike" cap="none" dirty="0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3844566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084417" y="179225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</a:t>
            </a:r>
            <a:r>
              <a:rPr lang="fr-FR" sz="1800" dirty="0" smtClean="0"/>
              <a:t>5 ml</a:t>
            </a:r>
            <a:endParaRPr sz="1800" dirty="0"/>
          </a:p>
        </p:txBody>
      </p:sp>
      <p:sp>
        <p:nvSpPr>
          <p:cNvPr id="85" name="Google Shape;85;p4"/>
          <p:cNvSpPr txBox="1"/>
          <p:nvPr/>
        </p:nvSpPr>
        <p:spPr>
          <a:xfrm>
            <a:off x="2983182" y="4381832"/>
            <a:ext cx="125925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150 ml</a:t>
            </a:r>
            <a:endParaRPr sz="20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82459" y="308704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1495617334"/>
              </p:ext>
            </p:extLst>
          </p:nvPr>
        </p:nvGraphicFramePr>
        <p:xfrm>
          <a:off x="4282459" y="3675530"/>
          <a:ext cx="3737300" cy="100756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1264199"/>
                <a:gridCol w="604451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Enfant&gt;6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ans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5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ml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</a:rPr>
                        <a:t> 5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</a:rPr>
                        <a:t> ml</a:t>
                      </a:r>
                      <a:endParaRPr sz="1200" u="none" strike="noStrike" cap="none" dirty="0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</a:rPr>
                        <a:t>5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</a:rPr>
                        <a:t> ml</a:t>
                      </a:r>
                      <a:endParaRPr sz="1200" u="none" strike="noStrike" cap="none" dirty="0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Adulte&gt;18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ANS    15 ml    15 ml                15 ml                                   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ous-titre 1"/>
          <p:cNvSpPr>
            <a:spLocks noGrp="1"/>
          </p:cNvSpPr>
          <p:nvPr>
            <p:ph type="subTitle" idx="13"/>
          </p:nvPr>
        </p:nvSpPr>
        <p:spPr>
          <a:xfrm>
            <a:off x="4174615" y="2368095"/>
            <a:ext cx="3745075" cy="618600"/>
          </a:xfrm>
        </p:spPr>
        <p:txBody>
          <a:bodyPr/>
          <a:lstStyle/>
          <a:p>
            <a:pPr marL="425450" indent="-285750">
              <a:buFont typeface="Arial" panose="020B0604020202020204" pitchFamily="34" charset="0"/>
              <a:buChar char="•"/>
            </a:pPr>
            <a:r>
              <a:rPr lang="fr-FR" dirty="0" smtClean="0"/>
              <a:t>3,93 gr d’Huile de paraffine légère </a:t>
            </a:r>
            <a:endParaRPr lang="fr-FR" dirty="0"/>
          </a:p>
        </p:txBody>
      </p:sp>
      <p:pic>
        <p:nvPicPr>
          <p:cNvPr id="9218" name="Picture 2" descr="https://vital.com.tn/wp-content/uploads/2024/07/LV-Vitalax-Laxatif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70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3;p39"/>
          <p:cNvSpPr txBox="1"/>
          <p:nvPr/>
        </p:nvSpPr>
        <p:spPr>
          <a:xfrm>
            <a:off x="1112869" y="511294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VITALAX</a:t>
            </a:r>
            <a:endParaRPr sz="2400" b="0" i="0" u="none" strike="noStrike" cap="none" dirty="0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82459" y="86787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Aide </a:t>
            </a:r>
            <a:r>
              <a:rPr lang="fr-FR" sz="1200" dirty="0">
                <a:latin typeface="Montserrat Medium" panose="020B0604020202020204" charset="0"/>
              </a:rPr>
              <a:t>à dépasser les épisodes de constipation occasionnelle et les difficultés de </a:t>
            </a:r>
            <a:r>
              <a:rPr lang="fr-FR" sz="1200" dirty="0" smtClean="0">
                <a:latin typeface="Montserrat Medium" panose="020B0604020202020204" charset="0"/>
              </a:rPr>
              <a:t>digestion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Effet Laxatif et lubrifiant</a:t>
            </a:r>
            <a:endParaRPr lang="fr-FR" sz="1200" dirty="0">
              <a:latin typeface="Montserrat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8769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3956282" y="227949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</a:t>
            </a:r>
            <a:r>
              <a:rPr lang="fr-FR" sz="1800" dirty="0" smtClean="0"/>
              <a:t>2 ML</a:t>
            </a:r>
            <a:endParaRPr sz="1800" dirty="0"/>
          </a:p>
        </p:txBody>
      </p:sp>
      <p:sp>
        <p:nvSpPr>
          <p:cNvPr id="85" name="Google Shape;85;p4"/>
          <p:cNvSpPr txBox="1"/>
          <p:nvPr/>
        </p:nvSpPr>
        <p:spPr>
          <a:xfrm>
            <a:off x="3032127" y="4073073"/>
            <a:ext cx="105229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70 ml</a:t>
            </a:r>
            <a:endParaRPr sz="20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032127" y="4347401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 dirty="0" smtClean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Gouttes</a:t>
            </a:r>
            <a:endParaRPr sz="1100" b="0" i="0" u="none" strike="noStrike" cap="none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366038" y="3296481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4161685512"/>
              </p:ext>
            </p:extLst>
          </p:nvPr>
        </p:nvGraphicFramePr>
        <p:xfrm>
          <a:off x="4362544" y="3900049"/>
          <a:ext cx="3737300" cy="100768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Adulte 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2  ml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</a:rPr>
                        <a:t>       -</a:t>
                      </a:r>
                      <a:endParaRPr sz="1200" u="none" strike="noStrike" cap="none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>
                          <a:latin typeface="Montserrat Medium" panose="020B0604020202020204" charset="0"/>
                        </a:rPr>
                        <a:t>    </a:t>
                      </a:r>
                      <a:r>
                        <a:rPr lang="fr-FR" sz="1200" u="none" strike="noStrike" cap="none" dirty="0" smtClean="0">
                          <a:latin typeface="Montserrat Medium" panose="020B0604020202020204" charset="0"/>
                        </a:rPr>
                        <a:t>2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</a:rPr>
                        <a:t> ml</a:t>
                      </a:r>
                      <a:r>
                        <a:rPr lang="fr-FR" sz="1200" u="none" strike="noStrike" cap="none" dirty="0" smtClean="0">
                          <a:latin typeface="Montserrat Medium" panose="020B0604020202020204" charset="0"/>
                        </a:rPr>
                        <a:t>   </a:t>
                      </a:r>
                      <a:r>
                        <a:rPr lang="fr-FR" sz="1200" u="none" strike="noStrike" cap="none" dirty="0">
                          <a:latin typeface="Montserrat Medium" panose="020B0604020202020204" charset="0"/>
                        </a:rPr>
                        <a:t>-</a:t>
                      </a:r>
                      <a:endParaRPr sz="1200" u="none" strike="noStrike" cap="none" dirty="0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A éviter chez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la femme enceinte , allaitante et les enfants mois de 12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ans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ous-titre 1"/>
          <p:cNvSpPr>
            <a:spLocks noGrp="1"/>
          </p:cNvSpPr>
          <p:nvPr>
            <p:ph type="subTitle" idx="13"/>
          </p:nvPr>
        </p:nvSpPr>
        <p:spPr>
          <a:xfrm>
            <a:off x="3479311" y="2604595"/>
            <a:ext cx="4383258" cy="618600"/>
          </a:xfrm>
        </p:spPr>
        <p:txBody>
          <a:bodyPr/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  40 mg Extrait </a:t>
            </a:r>
            <a:r>
              <a:rPr lang="fr-FR" sz="1200" dirty="0">
                <a:latin typeface="Montserrat Medium" panose="020B0604020202020204" charset="0"/>
              </a:rPr>
              <a:t>sec de Ginkgo </a:t>
            </a:r>
            <a:r>
              <a:rPr lang="fr-FR" sz="1200" dirty="0" smtClean="0">
                <a:latin typeface="Montserrat Medium" panose="020B0604020202020204" charset="0"/>
              </a:rPr>
              <a:t>standardisé à </a:t>
            </a:r>
            <a:r>
              <a:rPr lang="fr-FR" sz="1200" dirty="0">
                <a:latin typeface="Montserrat Medium" panose="020B0604020202020204" charset="0"/>
              </a:rPr>
              <a:t>22-27% de </a:t>
            </a:r>
            <a:r>
              <a:rPr lang="fr-FR" sz="1200" dirty="0" err="1" smtClean="0">
                <a:latin typeface="Montserrat Medium" panose="020B0604020202020204" charset="0"/>
              </a:rPr>
              <a:t>flavoglycosides</a:t>
            </a:r>
            <a:endParaRPr lang="fr-FR" sz="1200" dirty="0">
              <a:latin typeface="Montserrat Medium" panose="020B0604020202020204" charset="0"/>
            </a:endParaRP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Ginkgo </a:t>
            </a:r>
            <a:r>
              <a:rPr lang="fr-FR" sz="1200" dirty="0" err="1">
                <a:latin typeface="Montserrat Medium" panose="020B0604020202020204" charset="0"/>
              </a:rPr>
              <a:t>biloba</a:t>
            </a:r>
            <a:r>
              <a:rPr lang="fr-FR" sz="1200" dirty="0">
                <a:latin typeface="Montserrat Medium" panose="020B0604020202020204" charset="0"/>
              </a:rPr>
              <a:t> </a:t>
            </a:r>
            <a:r>
              <a:rPr lang="fr-FR" sz="1200" b="1" dirty="0" smtClean="0">
                <a:latin typeface="Montserrat Medium" panose="020B0604020202020204" charset="0"/>
              </a:rPr>
              <a:t>L </a:t>
            </a:r>
            <a:r>
              <a:rPr lang="fr-FR" sz="1200" dirty="0" smtClean="0">
                <a:latin typeface="Montserrat Medium" panose="020B0604020202020204" charset="0"/>
              </a:rPr>
              <a:t>Feuilles </a:t>
            </a:r>
            <a:endParaRPr lang="fr-FR" sz="1200" dirty="0">
              <a:latin typeface="Montserrat Medium" panose="020B0604020202020204" charset="0"/>
            </a:endParaRPr>
          </a:p>
        </p:txBody>
      </p:sp>
      <p:pic>
        <p:nvPicPr>
          <p:cNvPr id="8194" name="Picture 2" descr="https://vital.com.tn/wp-content/uploads/2023/10/LV-GINKO-Extra-70m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2" y="1100229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084417" y="972959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  <a:ea typeface="Calibri" panose="020F0502020204030204" pitchFamily="34" charset="0"/>
              </a:rPr>
              <a:t>Soulage </a:t>
            </a:r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l’Insuffisance veineuse(jambes lourdes et crises d’hémorroïdes)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  <a:ea typeface="Calibri" panose="020F0502020204030204" pitchFamily="34" charset="0"/>
              </a:rPr>
              <a:t>Améliore </a:t>
            </a:r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les troubles </a:t>
            </a:r>
            <a:r>
              <a:rPr lang="fr-FR" sz="1200" dirty="0" err="1">
                <a:latin typeface="Montserrat Medium" panose="020B0604020202020204" charset="0"/>
                <a:ea typeface="Calibri" panose="020F0502020204030204" pitchFamily="34" charset="0"/>
              </a:rPr>
              <a:t>congnitifs</a:t>
            </a:r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 chez les personnes âgés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  <a:ea typeface="Calibri" panose="020F0502020204030204" pitchFamily="34" charset="0"/>
              </a:rPr>
              <a:t>Réduit </a:t>
            </a:r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les troubles de mémoire et de concentration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  <a:ea typeface="Calibri" panose="020F0502020204030204" pitchFamily="34" charset="0"/>
              </a:rPr>
              <a:t>Traite </a:t>
            </a:r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les </a:t>
            </a:r>
            <a:r>
              <a:rPr lang="fr-FR" sz="1200" dirty="0" err="1">
                <a:latin typeface="Montserrat Medium" panose="020B0604020202020204" charset="0"/>
                <a:ea typeface="Calibri" panose="020F0502020204030204" pitchFamily="34" charset="0"/>
              </a:rPr>
              <a:t>accouphénes</a:t>
            </a:r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 et la claudication intermittente</a:t>
            </a:r>
            <a:endParaRPr lang="fr-FR" sz="1200" dirty="0">
              <a:effectLst/>
              <a:latin typeface="Montserrat Medium" panose="020B0604020202020204" charset="0"/>
              <a:ea typeface="Calibri" panose="020F0502020204030204" pitchFamily="34" charset="0"/>
            </a:endParaRPr>
          </a:p>
        </p:txBody>
      </p:sp>
      <p:sp>
        <p:nvSpPr>
          <p:cNvPr id="12" name="Google Shape;613;p39"/>
          <p:cNvSpPr txBox="1"/>
          <p:nvPr/>
        </p:nvSpPr>
        <p:spPr>
          <a:xfrm>
            <a:off x="-119877" y="520958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GINKO EXTRA GOUTTES</a:t>
            </a:r>
            <a:endParaRPr sz="2400" b="0" i="0" u="none" strike="noStrike" cap="none" dirty="0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894849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084417" y="179225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</a:t>
            </a:r>
            <a:r>
              <a:rPr lang="fr-FR" sz="1800" dirty="0" smtClean="0"/>
              <a:t>2 GÉLULES</a:t>
            </a:r>
            <a:endParaRPr sz="1800" dirty="0"/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5380" y="3574294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3188636" y="3859317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19182" y="4190177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 dirty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82459" y="33497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2765708059"/>
              </p:ext>
            </p:extLst>
          </p:nvPr>
        </p:nvGraphicFramePr>
        <p:xfrm>
          <a:off x="4364705" y="3803011"/>
          <a:ext cx="3737300" cy="118972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 smtClean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</a:t>
                      </a:r>
                      <a:r>
                        <a:rPr lang="fr-FR" sz="1200" u="none" strike="noStrike" cap="none" baseline="0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gélule 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 dirty="0"/>
                        <a:t> </a:t>
                      </a:r>
                      <a:r>
                        <a:rPr lang="fr-FR" sz="1400" u="none" strike="noStrike" cap="none" dirty="0" smtClean="0"/>
                        <a:t>1 gélule      </a:t>
                      </a:r>
                      <a:r>
                        <a:rPr lang="fr-FR" sz="1400" u="none" strike="noStrike" cap="none" dirty="0"/>
                        <a:t>-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A éviter chez</a:t>
                      </a:r>
                      <a:r>
                        <a:rPr lang="fr-FR" sz="10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r>
                        <a:rPr lang="fr-FR" sz="10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la femme enceinte , allaitante et les enfants mois de 12</a:t>
                      </a:r>
                      <a:r>
                        <a:rPr lang="fr-FR" sz="10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ans</a:t>
                      </a:r>
                      <a:endParaRPr lang="fr-FR" sz="1000" u="none" strike="noStrike" cap="none" dirty="0" smtClean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ous-titre 1"/>
          <p:cNvSpPr>
            <a:spLocks noGrp="1"/>
          </p:cNvSpPr>
          <p:nvPr>
            <p:ph type="subTitle" idx="13"/>
          </p:nvPr>
        </p:nvSpPr>
        <p:spPr>
          <a:xfrm>
            <a:off x="4159510" y="2280050"/>
            <a:ext cx="4171370" cy="1061715"/>
          </a:xfrm>
        </p:spPr>
        <p:txBody>
          <a:bodyPr/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 80 mg Extrait sec de Ginkgo standardisé à 22-27% de </a:t>
            </a:r>
            <a:r>
              <a:rPr lang="fr-FR" sz="1200" dirty="0" err="1">
                <a:latin typeface="Montserrat Medium" panose="020B0604020202020204" charset="0"/>
              </a:rPr>
              <a:t>flavoglycosides</a:t>
            </a:r>
            <a:endParaRPr lang="fr-FR" sz="1200" dirty="0">
              <a:latin typeface="Montserrat Medium" panose="020B0604020202020204" charset="0"/>
            </a:endParaRP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Ginkgo </a:t>
            </a:r>
            <a:r>
              <a:rPr lang="fr-FR" sz="1200" dirty="0" err="1">
                <a:latin typeface="Montserrat Medium" panose="020B0604020202020204" charset="0"/>
              </a:rPr>
              <a:t>biloba</a:t>
            </a:r>
            <a:r>
              <a:rPr lang="fr-FR" sz="1200" dirty="0">
                <a:latin typeface="Montserrat Medium" panose="020B0604020202020204" charset="0"/>
              </a:rPr>
              <a:t> L Feuilles </a:t>
            </a:r>
          </a:p>
        </p:txBody>
      </p:sp>
      <p:pic>
        <p:nvPicPr>
          <p:cNvPr id="7170" name="Picture 2" descr="https://vital.com.tn/wp-content/uploads/2023/10/LV-GINKO-Extra-60ml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2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3;p39"/>
          <p:cNvSpPr txBox="1"/>
          <p:nvPr/>
        </p:nvSpPr>
        <p:spPr>
          <a:xfrm>
            <a:off x="-34725" y="532317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GINKO EXTRA GELULES</a:t>
            </a:r>
            <a:endParaRPr sz="2400" b="0" i="0" u="none" strike="noStrike" cap="none" dirty="0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70006" y="59833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-Soulage l’Insuffisance veineuse(jambes lourdes et crises d’hémorroïdes)</a:t>
            </a:r>
          </a:p>
          <a:p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-Améliore les troubles </a:t>
            </a:r>
            <a:r>
              <a:rPr lang="fr-FR" sz="1200" dirty="0" err="1">
                <a:latin typeface="Montserrat Medium" panose="020B0604020202020204" charset="0"/>
                <a:ea typeface="Calibri" panose="020F0502020204030204" pitchFamily="34" charset="0"/>
              </a:rPr>
              <a:t>congnitifs</a:t>
            </a:r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 chez les personnes âgés</a:t>
            </a:r>
          </a:p>
          <a:p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-Réduit les troubles de mémoire et de concentration</a:t>
            </a:r>
          </a:p>
          <a:p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-Traite les </a:t>
            </a:r>
            <a:r>
              <a:rPr lang="fr-FR" sz="1200" dirty="0" err="1">
                <a:latin typeface="Montserrat Medium" panose="020B0604020202020204" charset="0"/>
                <a:ea typeface="Calibri" panose="020F0502020204030204" pitchFamily="34" charset="0"/>
              </a:rPr>
              <a:t>accouphénes</a:t>
            </a:r>
            <a:r>
              <a:rPr lang="fr-FR" sz="1200" dirty="0">
                <a:latin typeface="Montserrat Medium" panose="020B0604020202020204" charset="0"/>
                <a:ea typeface="Calibri" panose="020F0502020204030204" pitchFamily="34" charset="0"/>
              </a:rPr>
              <a:t> et la claudication intermittente</a:t>
            </a:r>
          </a:p>
        </p:txBody>
      </p:sp>
    </p:spTree>
    <p:extLst>
      <p:ext uri="{BB962C8B-B14F-4D97-AF65-F5344CB8AC3E}">
        <p14:creationId xmlns:p14="http://schemas.microsoft.com/office/powerpoint/2010/main" val="36257705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104209" y="122727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</a:t>
            </a:r>
            <a:r>
              <a:rPr lang="fr-FR" sz="1800" dirty="0" smtClean="0"/>
              <a:t>CAPSULE</a:t>
            </a:r>
            <a:endParaRPr sz="1800" dirty="0"/>
          </a:p>
        </p:txBody>
      </p:sp>
      <p:sp>
        <p:nvSpPr>
          <p:cNvPr id="85" name="Google Shape;85;p4"/>
          <p:cNvSpPr txBox="1"/>
          <p:nvPr/>
        </p:nvSpPr>
        <p:spPr>
          <a:xfrm>
            <a:off x="3200601" y="4073073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4403933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 smtClean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Capsules</a:t>
            </a:r>
            <a:endParaRPr sz="1100" b="0" i="0" u="none" strike="noStrike" cap="none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82459" y="3345613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3083765190"/>
              </p:ext>
            </p:extLst>
          </p:nvPr>
        </p:nvGraphicFramePr>
        <p:xfrm>
          <a:off x="4376545" y="3839893"/>
          <a:ext cx="3737300" cy="8256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1  capsule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</a:rPr>
                        <a:t>1 capsule</a:t>
                      </a:r>
                      <a:endParaRPr sz="1200" u="none" strike="noStrike" cap="none" dirty="0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</a:rPr>
                        <a:t>1 capsule</a:t>
                      </a:r>
                      <a:endParaRPr sz="1200" u="none" strike="noStrike" cap="none" dirty="0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Cure de 7</a:t>
                      </a:r>
                      <a:r>
                        <a:rPr lang="fr-FR" sz="1000" u="none" strike="noStrike" cap="none" baseline="0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à 10 jours</a:t>
                      </a:r>
                      <a:endParaRPr sz="10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ous-titre 1"/>
          <p:cNvSpPr>
            <a:spLocks noGrp="1"/>
          </p:cNvSpPr>
          <p:nvPr>
            <p:ph type="subTitle" idx="13"/>
          </p:nvPr>
        </p:nvSpPr>
        <p:spPr>
          <a:xfrm>
            <a:off x="3593224" y="1561275"/>
            <a:ext cx="6193104" cy="177087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20B0604020202020204" charset="0"/>
            </a:endParaRPr>
          </a:p>
          <a:p>
            <a:pPr marL="311150" indent="-171450" algn="just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10 mg </a:t>
            </a:r>
            <a:r>
              <a:rPr lang="fr-FR" sz="1200" dirty="0">
                <a:latin typeface="Montserrat Medium" panose="020B0604020202020204" charset="0"/>
              </a:rPr>
              <a:t>Huile essentielle de lavande vraie </a:t>
            </a:r>
            <a:r>
              <a:rPr lang="fr-FR" sz="1200" dirty="0" smtClean="0">
                <a:latin typeface="Montserrat Medium" panose="020B0604020202020204" charset="0"/>
              </a:rPr>
              <a:t>(</a:t>
            </a:r>
            <a:r>
              <a:rPr lang="fr-FR" sz="1200" dirty="0" err="1" smtClean="0">
                <a:latin typeface="Montserrat Medium" panose="020B0604020202020204" charset="0"/>
              </a:rPr>
              <a:t>Lavandula</a:t>
            </a:r>
            <a:r>
              <a:rPr lang="fr-FR" sz="1200" dirty="0" smtClean="0">
                <a:latin typeface="Montserrat Medium" panose="020B0604020202020204" charset="0"/>
              </a:rPr>
              <a:t> </a:t>
            </a:r>
            <a:r>
              <a:rPr lang="fr-FR" sz="1200" dirty="0" err="1" smtClean="0">
                <a:latin typeface="Montserrat Medium" panose="020B0604020202020204" charset="0"/>
              </a:rPr>
              <a:t>angustifolia</a:t>
            </a:r>
            <a:r>
              <a:rPr lang="fr-FR" sz="1200" dirty="0" smtClean="0">
                <a:latin typeface="Montserrat Medium" panose="020B0604020202020204" charset="0"/>
              </a:rPr>
              <a:t>)</a:t>
            </a:r>
          </a:p>
          <a:p>
            <a:pPr marL="311150" indent="-171450" algn="just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10 mg Huile </a:t>
            </a:r>
            <a:r>
              <a:rPr lang="fr-FR" sz="1200" dirty="0">
                <a:latin typeface="Montserrat Medium" panose="020B0604020202020204" charset="0"/>
              </a:rPr>
              <a:t>essentielle de gingembre </a:t>
            </a:r>
            <a:r>
              <a:rPr lang="fr-FR" sz="1200" dirty="0" smtClean="0">
                <a:latin typeface="Montserrat Medium" panose="020B0604020202020204" charset="0"/>
              </a:rPr>
              <a:t>(</a:t>
            </a:r>
            <a:r>
              <a:rPr lang="fr-FR" sz="1200" dirty="0" err="1" smtClean="0">
                <a:latin typeface="Montserrat Medium" panose="020B0604020202020204" charset="0"/>
              </a:rPr>
              <a:t>Zingiber</a:t>
            </a:r>
            <a:r>
              <a:rPr lang="fr-FR" sz="1200" dirty="0" smtClean="0">
                <a:latin typeface="Montserrat Medium" panose="020B0604020202020204" charset="0"/>
              </a:rPr>
              <a:t> </a:t>
            </a:r>
            <a:r>
              <a:rPr lang="fr-FR" sz="1200" dirty="0" err="1">
                <a:latin typeface="Montserrat Medium" panose="020B0604020202020204" charset="0"/>
              </a:rPr>
              <a:t>officinalis</a:t>
            </a:r>
            <a:r>
              <a:rPr lang="fr-FR" sz="1200" dirty="0">
                <a:latin typeface="Montserrat Medium" panose="020B0604020202020204" charset="0"/>
              </a:rPr>
              <a:t> </a:t>
            </a:r>
            <a:r>
              <a:rPr lang="fr-FR" sz="1200" dirty="0" smtClean="0">
                <a:latin typeface="Montserrat Medium" panose="020B0604020202020204" charset="0"/>
              </a:rPr>
              <a:t>)</a:t>
            </a:r>
            <a:r>
              <a:rPr lang="fr-FR" sz="1200" dirty="0">
                <a:latin typeface="Montserrat Medium" panose="020B0604020202020204" charset="0"/>
              </a:rPr>
              <a:t>	</a:t>
            </a:r>
          </a:p>
          <a:p>
            <a:pPr marL="311150" indent="-171450" algn="just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10Huile </a:t>
            </a:r>
            <a:r>
              <a:rPr lang="fr-FR" sz="1200" dirty="0">
                <a:latin typeface="Montserrat Medium" panose="020B0604020202020204" charset="0"/>
              </a:rPr>
              <a:t>essentielle de Lemongrass </a:t>
            </a:r>
            <a:r>
              <a:rPr lang="fr-FR" sz="1200" dirty="0" smtClean="0">
                <a:latin typeface="Montserrat Medium" panose="020B0604020202020204" charset="0"/>
              </a:rPr>
              <a:t>(</a:t>
            </a:r>
            <a:r>
              <a:rPr lang="fr-FR" sz="1200" dirty="0" err="1" smtClean="0">
                <a:latin typeface="Montserrat Medium" panose="020B0604020202020204" charset="0"/>
              </a:rPr>
              <a:t>Cymbopognon</a:t>
            </a:r>
            <a:r>
              <a:rPr lang="fr-FR" sz="1200" dirty="0" smtClean="0">
                <a:latin typeface="Montserrat Medium" panose="020B0604020202020204" charset="0"/>
              </a:rPr>
              <a:t> </a:t>
            </a:r>
            <a:r>
              <a:rPr lang="fr-FR" sz="1200" dirty="0" err="1">
                <a:latin typeface="Montserrat Medium" panose="020B0604020202020204" charset="0"/>
              </a:rPr>
              <a:t>citratus</a:t>
            </a:r>
            <a:r>
              <a:rPr lang="fr-FR" sz="1200" dirty="0">
                <a:latin typeface="Montserrat Medium" panose="020B0604020202020204" charset="0"/>
              </a:rPr>
              <a:t> </a:t>
            </a:r>
            <a:r>
              <a:rPr lang="fr-FR" sz="1200" dirty="0" smtClean="0">
                <a:latin typeface="Montserrat Medium" panose="020B0604020202020204" charset="0"/>
              </a:rPr>
              <a:t>)</a:t>
            </a:r>
            <a:r>
              <a:rPr lang="fr-FR" sz="1200" dirty="0">
                <a:latin typeface="Montserrat Medium" panose="020B0604020202020204" charset="0"/>
              </a:rPr>
              <a:t>	</a:t>
            </a:r>
            <a:r>
              <a:rPr lang="fr-FR" sz="1200" dirty="0" smtClean="0">
                <a:latin typeface="Montserrat Medium" panose="020B0604020202020204" charset="0"/>
              </a:rPr>
              <a:t> </a:t>
            </a:r>
            <a:endParaRPr lang="fr-FR" sz="1200" dirty="0">
              <a:latin typeface="Montserrat Medium" panose="020B0604020202020204" charset="0"/>
            </a:endParaRPr>
          </a:p>
          <a:p>
            <a:pPr marL="311150" indent="-171450" algn="just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Huile essentielle d’estragon </a:t>
            </a:r>
            <a:r>
              <a:rPr lang="fr-FR" sz="1200" dirty="0" smtClean="0">
                <a:latin typeface="Montserrat Medium" panose="020B0604020202020204" charset="0"/>
              </a:rPr>
              <a:t>(</a:t>
            </a:r>
            <a:r>
              <a:rPr lang="pl-PL" sz="1200" dirty="0" smtClean="0">
                <a:latin typeface="Montserrat Medium" panose="020B0604020202020204" charset="0"/>
              </a:rPr>
              <a:t>Artemisia </a:t>
            </a:r>
            <a:r>
              <a:rPr lang="pl-PL" sz="1200" dirty="0">
                <a:latin typeface="Montserrat Medium" panose="020B0604020202020204" charset="0"/>
              </a:rPr>
              <a:t>dracunculus </a:t>
            </a:r>
            <a:r>
              <a:rPr lang="pl-PL" sz="1200" dirty="0" smtClean="0">
                <a:latin typeface="Montserrat Medium" panose="020B0604020202020204" charset="0"/>
              </a:rPr>
              <a:t>L</a:t>
            </a:r>
            <a:r>
              <a:rPr lang="fr-FR" sz="1200" dirty="0" smtClean="0">
                <a:latin typeface="Montserrat Medium" panose="020B0604020202020204" charset="0"/>
              </a:rPr>
              <a:t>)</a:t>
            </a:r>
            <a:r>
              <a:rPr lang="pl-PL" sz="1200" dirty="0" smtClean="0">
                <a:latin typeface="Montserrat Medium" panose="020B0604020202020204" charset="0"/>
              </a:rPr>
              <a:t> </a:t>
            </a:r>
            <a:r>
              <a:rPr lang="pl-PL" sz="1200" dirty="0">
                <a:latin typeface="Montserrat Medium" panose="020B0604020202020204" charset="0"/>
              </a:rPr>
              <a:t>	</a:t>
            </a:r>
          </a:p>
          <a:p>
            <a:pPr marL="311150" indent="-171450" algn="just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10 mg Huile </a:t>
            </a:r>
            <a:r>
              <a:rPr lang="fr-FR" sz="1200" dirty="0">
                <a:latin typeface="Montserrat Medium" panose="020B0604020202020204" charset="0"/>
              </a:rPr>
              <a:t>essentielle d’Eucalyptus globuleux </a:t>
            </a:r>
            <a:r>
              <a:rPr lang="fr-FR" sz="1200" dirty="0" smtClean="0">
                <a:latin typeface="Montserrat Medium" panose="020B0604020202020204" charset="0"/>
              </a:rPr>
              <a:t>(Eucalyptus </a:t>
            </a:r>
            <a:r>
              <a:rPr lang="fr-FR" sz="1200" dirty="0" err="1" smtClean="0">
                <a:latin typeface="Montserrat Medium" panose="020B0604020202020204" charset="0"/>
              </a:rPr>
              <a:t>globul</a:t>
            </a:r>
            <a:r>
              <a:rPr lang="fr-FR" sz="1200" dirty="0" smtClean="0">
                <a:latin typeface="Montserrat Medium" panose="020B0604020202020204" charset="0"/>
              </a:rPr>
              <a:t>)</a:t>
            </a:r>
            <a:r>
              <a:rPr lang="fr-FR" sz="1200" dirty="0">
                <a:latin typeface="Montserrat Medium" panose="020B0604020202020204" charset="0"/>
              </a:rPr>
              <a:t>	</a:t>
            </a:r>
          </a:p>
          <a:p>
            <a:pPr marL="311150" indent="-171450" algn="just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10 mg Huile </a:t>
            </a:r>
            <a:r>
              <a:rPr lang="fr-FR" sz="1200" dirty="0">
                <a:latin typeface="Montserrat Medium" panose="020B0604020202020204" charset="0"/>
              </a:rPr>
              <a:t>essentielle de bergamote </a:t>
            </a:r>
            <a:r>
              <a:rPr lang="fr-FR" sz="1200" i="1" dirty="0" smtClean="0">
                <a:latin typeface="Montserrat Medium" panose="020B0604020202020204" charset="0"/>
              </a:rPr>
              <a:t>(Citrus </a:t>
            </a:r>
            <a:r>
              <a:rPr lang="fr-FR" sz="1200" i="1" dirty="0" err="1">
                <a:latin typeface="Montserrat Medium" panose="020B0604020202020204" charset="0"/>
              </a:rPr>
              <a:t>aurantium</a:t>
            </a:r>
            <a:r>
              <a:rPr lang="fr-FR" sz="1200" i="1" dirty="0">
                <a:latin typeface="Montserrat Medium" panose="020B0604020202020204" charset="0"/>
              </a:rPr>
              <a:t> </a:t>
            </a:r>
            <a:r>
              <a:rPr lang="fr-FR" sz="1200" i="1" dirty="0" err="1">
                <a:latin typeface="Montserrat Medium" panose="020B0604020202020204" charset="0"/>
              </a:rPr>
              <a:t>ssp</a:t>
            </a:r>
            <a:r>
              <a:rPr lang="fr-FR" sz="1200" i="1" dirty="0">
                <a:latin typeface="Montserrat Medium" panose="020B0604020202020204" charset="0"/>
              </a:rPr>
              <a:t>. </a:t>
            </a:r>
            <a:r>
              <a:rPr lang="fr-FR" sz="1200" i="1" dirty="0" smtClean="0">
                <a:latin typeface="Montserrat Medium" panose="020B0604020202020204" charset="0"/>
              </a:rPr>
              <a:t>Berg</a:t>
            </a:r>
            <a:r>
              <a:rPr lang="fr-FR" sz="1200" dirty="0">
                <a:latin typeface="Montserrat Medium" panose="020B0604020202020204" charset="0"/>
              </a:rPr>
              <a:t>	</a:t>
            </a:r>
          </a:p>
          <a:p>
            <a:pPr marL="311150" indent="-171450" algn="just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10 mg Huile </a:t>
            </a:r>
            <a:r>
              <a:rPr lang="fr-FR" sz="1200" dirty="0">
                <a:latin typeface="Montserrat Medium" panose="020B0604020202020204" charset="0"/>
              </a:rPr>
              <a:t>essentielle de Menthe poivrée </a:t>
            </a:r>
            <a:r>
              <a:rPr lang="fr-FR" sz="1200" dirty="0" smtClean="0">
                <a:latin typeface="Montserrat Medium" panose="020B0604020202020204" charset="0"/>
              </a:rPr>
              <a:t>(</a:t>
            </a:r>
            <a:r>
              <a:rPr lang="fr-FR" sz="1200" dirty="0" err="1" smtClean="0">
                <a:latin typeface="Montserrat Medium" panose="020B0604020202020204" charset="0"/>
              </a:rPr>
              <a:t>Mentha</a:t>
            </a:r>
            <a:r>
              <a:rPr lang="fr-FR" sz="1200" dirty="0" smtClean="0">
                <a:latin typeface="Montserrat Medium" panose="020B0604020202020204" charset="0"/>
              </a:rPr>
              <a:t> </a:t>
            </a:r>
            <a:r>
              <a:rPr lang="fr-FR" sz="1200" dirty="0" err="1">
                <a:latin typeface="Montserrat Medium" panose="020B0604020202020204" charset="0"/>
              </a:rPr>
              <a:t>piperita</a:t>
            </a:r>
            <a:r>
              <a:rPr lang="fr-FR" sz="1200" dirty="0">
                <a:latin typeface="Montserrat Medium" panose="020B0604020202020204" charset="0"/>
              </a:rPr>
              <a:t> </a:t>
            </a:r>
            <a:r>
              <a:rPr lang="fr-FR" sz="1200" dirty="0" smtClean="0">
                <a:latin typeface="Montserrat Medium" panose="020B0604020202020204" charset="0"/>
              </a:rPr>
              <a:t>)</a:t>
            </a:r>
            <a:r>
              <a:rPr lang="fr-FR" sz="1200" dirty="0">
                <a:latin typeface="Montserrat Medium" panose="020B0604020202020204" charset="0"/>
              </a:rPr>
              <a:t>	</a:t>
            </a:r>
            <a:r>
              <a:rPr lang="fr-FR" dirty="0"/>
              <a:t>	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11" name="Picture 2" descr="https://vital.com.tn/wp-content/uploads/2023/10/LV-DYMEA-Confort-menstrue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2" y="1294445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82459" y="645776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23363"/>
                </a:solidFill>
                <a:latin typeface="Montserrat Medium" panose="020B0604020202020204" charset="0"/>
              </a:rPr>
              <a:t>Confort et soulagement aux femmes</a:t>
            </a:r>
          </a:p>
          <a:p>
            <a:r>
              <a:rPr lang="fr-FR" sz="1200" dirty="0">
                <a:solidFill>
                  <a:srgbClr val="623363"/>
                </a:solidFill>
                <a:latin typeface="Montserrat Medium" panose="020B0604020202020204" charset="0"/>
              </a:rPr>
              <a:t>avant ou pendant les </a:t>
            </a:r>
            <a:r>
              <a:rPr lang="fr-FR" sz="1200" dirty="0" err="1">
                <a:solidFill>
                  <a:srgbClr val="623363"/>
                </a:solidFill>
                <a:latin typeface="Montserrat Medium" panose="020B0604020202020204" charset="0"/>
              </a:rPr>
              <a:t>régles</a:t>
            </a:r>
            <a:endParaRPr lang="fr-FR" sz="1200" dirty="0">
              <a:latin typeface="Montserrat Medium" panose="020B0604020202020204" charset="0"/>
            </a:endParaRPr>
          </a:p>
        </p:txBody>
      </p:sp>
      <p:sp>
        <p:nvSpPr>
          <p:cNvPr id="13" name="Google Shape;613;p39"/>
          <p:cNvSpPr txBox="1"/>
          <p:nvPr/>
        </p:nvSpPr>
        <p:spPr>
          <a:xfrm>
            <a:off x="1112869" y="511294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 err="1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Dymea</a:t>
            </a:r>
            <a:r>
              <a:rPr lang="fr-FR" sz="2400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capsule</a:t>
            </a:r>
            <a:endParaRPr sz="2400" b="0" i="0" u="none" strike="noStrike" cap="none" dirty="0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1770200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3478531" y="1792244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</a:t>
            </a:r>
            <a:endParaRPr sz="1800" dirty="0"/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82459" y="3780566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 smtClean="0"/>
              <a:t>CONSEIL D’UTILUSATION</a:t>
            </a:r>
            <a:endParaRPr sz="1800" dirty="0"/>
          </a:p>
        </p:txBody>
      </p:sp>
      <p:sp>
        <p:nvSpPr>
          <p:cNvPr id="2" name="Sous-titre 1"/>
          <p:cNvSpPr>
            <a:spLocks noGrp="1"/>
          </p:cNvSpPr>
          <p:nvPr>
            <p:ph type="subTitle" idx="13"/>
          </p:nvPr>
        </p:nvSpPr>
        <p:spPr>
          <a:xfrm>
            <a:off x="4534693" y="2236418"/>
            <a:ext cx="4332316" cy="1130829"/>
          </a:xfrm>
        </p:spPr>
        <p:txBody>
          <a:bodyPr/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Huile essentielle de lavande</a:t>
            </a:r>
          </a:p>
          <a:p>
            <a:pPr marL="139700" indent="0" algn="l"/>
            <a:r>
              <a:rPr lang="fr-FR" sz="1200" i="1" dirty="0">
                <a:latin typeface="Montserrat Medium" panose="020B0604020202020204" charset="0"/>
              </a:rPr>
              <a:t>(</a:t>
            </a:r>
            <a:r>
              <a:rPr lang="fr-FR" sz="1200" i="1" dirty="0" err="1">
                <a:latin typeface="Montserrat Medium" panose="020B0604020202020204" charset="0"/>
              </a:rPr>
              <a:t>Lavandula</a:t>
            </a:r>
            <a:r>
              <a:rPr lang="fr-FR" sz="1200" i="1" dirty="0">
                <a:latin typeface="Montserrat Medium" panose="020B0604020202020204" charset="0"/>
              </a:rPr>
              <a:t> </a:t>
            </a:r>
            <a:r>
              <a:rPr lang="fr-FR" sz="1200" i="1" dirty="0" err="1" smtClean="0">
                <a:latin typeface="Montserrat Medium" panose="020B0604020202020204" charset="0"/>
              </a:rPr>
              <a:t>angustifolia</a:t>
            </a:r>
            <a:r>
              <a:rPr lang="fr-FR" sz="1200" i="1" dirty="0" smtClean="0">
                <a:latin typeface="Montserrat Medium" panose="020B0604020202020204" charset="0"/>
              </a:rPr>
              <a:t>)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Huile </a:t>
            </a:r>
            <a:r>
              <a:rPr lang="fr-FR" sz="1200" dirty="0">
                <a:latin typeface="Montserrat Medium" panose="020B0604020202020204" charset="0"/>
              </a:rPr>
              <a:t>essentielle de marjolaine</a:t>
            </a:r>
          </a:p>
          <a:p>
            <a:pPr marL="139700" indent="0" algn="l"/>
            <a:r>
              <a:rPr lang="fr-FR" sz="1200" i="1" dirty="0">
                <a:latin typeface="Montserrat Medium" panose="020B0604020202020204" charset="0"/>
              </a:rPr>
              <a:t>(</a:t>
            </a:r>
            <a:r>
              <a:rPr lang="fr-FR" sz="1200" i="1" dirty="0" err="1">
                <a:latin typeface="Montserrat Medium" panose="020B0604020202020204" charset="0"/>
              </a:rPr>
              <a:t>Origanum</a:t>
            </a:r>
            <a:r>
              <a:rPr lang="fr-FR" sz="1200" i="1" dirty="0">
                <a:latin typeface="Montserrat Medium" panose="020B0604020202020204" charset="0"/>
              </a:rPr>
              <a:t> </a:t>
            </a:r>
            <a:r>
              <a:rPr lang="fr-FR" sz="1200" i="1" dirty="0" err="1">
                <a:latin typeface="Montserrat Medium" panose="020B0604020202020204" charset="0"/>
              </a:rPr>
              <a:t>majorana</a:t>
            </a:r>
            <a:r>
              <a:rPr lang="fr-FR" sz="1200" i="1" dirty="0" smtClean="0">
                <a:latin typeface="Montserrat Medium" panose="020B0604020202020204" charset="0"/>
              </a:rPr>
              <a:t>)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Huile essentielle de sauge sclarée</a:t>
            </a:r>
          </a:p>
          <a:p>
            <a:pPr marL="139700" indent="0" algn="l"/>
            <a:r>
              <a:rPr lang="fr-FR" sz="1200" i="1" dirty="0">
                <a:latin typeface="Montserrat Medium" panose="020B0604020202020204" charset="0"/>
              </a:rPr>
              <a:t>(</a:t>
            </a:r>
            <a:r>
              <a:rPr lang="fr-FR" sz="1200" i="1" dirty="0" err="1">
                <a:latin typeface="Montserrat Medium" panose="020B0604020202020204" charset="0"/>
              </a:rPr>
              <a:t>Salvia</a:t>
            </a:r>
            <a:r>
              <a:rPr lang="fr-FR" sz="1200" i="1" dirty="0">
                <a:latin typeface="Montserrat Medium" panose="020B0604020202020204" charset="0"/>
              </a:rPr>
              <a:t> </a:t>
            </a:r>
            <a:r>
              <a:rPr lang="fr-FR" sz="1200" i="1" dirty="0" err="1">
                <a:latin typeface="Montserrat Medium" panose="020B0604020202020204" charset="0"/>
              </a:rPr>
              <a:t>sclarea</a:t>
            </a:r>
            <a:r>
              <a:rPr lang="fr-FR" sz="1200" i="1" dirty="0">
                <a:latin typeface="Montserrat Medium" panose="020B0604020202020204" charset="0"/>
              </a:rPr>
              <a:t> L)</a:t>
            </a:r>
            <a:endParaRPr lang="fr-FR" sz="1200" i="1" dirty="0" smtClean="0">
              <a:latin typeface="Montserrat Medium" panose="020B0604020202020204" charset="0"/>
            </a:endParaRPr>
          </a:p>
          <a:p>
            <a:endParaRPr lang="fr-FR" dirty="0"/>
          </a:p>
        </p:txBody>
      </p:sp>
      <p:pic>
        <p:nvPicPr>
          <p:cNvPr id="6146" name="Picture 2" descr="https://vital.com.tn/wp-content/uploads/2023/10/LV-DYMEA-Confort-menstruel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22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86052" y="589117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23363"/>
                </a:solidFill>
                <a:latin typeface="Montserrat Medium" panose="020B0604020202020204" charset="0"/>
              </a:rPr>
              <a:t>Confort </a:t>
            </a:r>
            <a:r>
              <a:rPr lang="fr-FR" sz="1200" dirty="0">
                <a:solidFill>
                  <a:srgbClr val="623363"/>
                </a:solidFill>
                <a:latin typeface="Montserrat Medium" panose="020B0604020202020204" charset="0"/>
              </a:rPr>
              <a:t>et soulagement aux femmes</a:t>
            </a:r>
          </a:p>
          <a:p>
            <a:r>
              <a:rPr lang="fr-FR" sz="1200" dirty="0">
                <a:solidFill>
                  <a:srgbClr val="623363"/>
                </a:solidFill>
                <a:latin typeface="Montserrat Medium" panose="020B0604020202020204" charset="0"/>
              </a:rPr>
              <a:t>avant ou pendant les </a:t>
            </a:r>
            <a:r>
              <a:rPr lang="fr-FR" sz="1200" dirty="0" err="1" smtClean="0">
                <a:solidFill>
                  <a:srgbClr val="623363"/>
                </a:solidFill>
                <a:latin typeface="Montserrat Medium" panose="020B0604020202020204" charset="0"/>
              </a:rPr>
              <a:t>régles</a:t>
            </a:r>
            <a:endParaRPr lang="fr-FR" sz="1200" dirty="0">
              <a:latin typeface="Montserrat Medium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34693" y="4316603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200" dirty="0">
                <a:solidFill>
                  <a:srgbClr val="575756"/>
                </a:solidFill>
                <a:latin typeface="Montserrat Medium" panose="020B0604020202020204" charset="0"/>
              </a:rPr>
              <a:t>Faire un massage circulaire sur le</a:t>
            </a:r>
          </a:p>
          <a:p>
            <a:r>
              <a:rPr lang="fr-FR" sz="1200" dirty="0">
                <a:solidFill>
                  <a:srgbClr val="575756"/>
                </a:solidFill>
                <a:latin typeface="Montserrat Medium" panose="020B0604020202020204" charset="0"/>
              </a:rPr>
              <a:t>bas du ventre </a:t>
            </a:r>
            <a:r>
              <a:rPr lang="fr-FR" sz="1200" b="1" dirty="0">
                <a:solidFill>
                  <a:srgbClr val="623363"/>
                </a:solidFill>
                <a:latin typeface="Montserrat Medium" panose="020B0604020202020204" charset="0"/>
              </a:rPr>
              <a:t>2 </a:t>
            </a:r>
            <a:r>
              <a:rPr lang="fr-FR" sz="1200" dirty="0">
                <a:solidFill>
                  <a:srgbClr val="575756"/>
                </a:solidFill>
                <a:latin typeface="Montserrat Medium" panose="020B0604020202020204" charset="0"/>
              </a:rPr>
              <a:t>à </a:t>
            </a:r>
            <a:r>
              <a:rPr lang="fr-FR" sz="1200" b="1" dirty="0">
                <a:solidFill>
                  <a:srgbClr val="623363"/>
                </a:solidFill>
                <a:latin typeface="Montserrat Medium" panose="020B0604020202020204" charset="0"/>
              </a:rPr>
              <a:t>3 </a:t>
            </a:r>
            <a:r>
              <a:rPr lang="fr-FR" sz="1200" dirty="0">
                <a:solidFill>
                  <a:srgbClr val="575756"/>
                </a:solidFill>
                <a:latin typeface="Montserrat Medium" panose="020B0604020202020204" charset="0"/>
              </a:rPr>
              <a:t>fois par jour.</a:t>
            </a:r>
            <a:endParaRPr lang="fr-FR" sz="1200" dirty="0">
              <a:latin typeface="Montserrat Medium" panose="020B0604020202020204" charset="0"/>
            </a:endParaRPr>
          </a:p>
        </p:txBody>
      </p:sp>
      <p:pic>
        <p:nvPicPr>
          <p:cNvPr id="13" name="Picture 2" descr="https://vital.com.tn/wp-content/uploads/2023/10/LV-DYMEA-Creme-%E2%80%93-confort-menstruel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335" y="1382829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13;p39"/>
          <p:cNvSpPr txBox="1"/>
          <p:nvPr/>
        </p:nvSpPr>
        <p:spPr>
          <a:xfrm>
            <a:off x="1112869" y="511294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DYMEA CREME</a:t>
            </a:r>
            <a:endParaRPr sz="2400" b="0" i="0" u="none" strike="noStrike" cap="none" dirty="0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5163816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/>
        </p:nvSpPr>
        <p:spPr>
          <a:xfrm>
            <a:off x="3061694" y="4132450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061694" y="4463310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 smtClean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Sachets</a:t>
            </a:r>
            <a:endParaRPr sz="1100" b="0" i="0" u="none" strike="noStrike" cap="none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373778568"/>
              </p:ext>
            </p:extLst>
          </p:nvPr>
        </p:nvGraphicFramePr>
        <p:xfrm>
          <a:off x="4282906" y="4135461"/>
          <a:ext cx="3737300" cy="8256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1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Sachet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</a:rPr>
                        <a:t>       -</a:t>
                      </a:r>
                      <a:endParaRPr sz="1200" u="none" strike="noStrike" cap="none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</a:rPr>
                        <a:t>1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</a:rPr>
                        <a:t> Sachet</a:t>
                      </a:r>
                      <a:endParaRPr sz="1200" u="none" strike="noStrike" cap="none" dirty="0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Cure minimale de 3 mois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122" name="Picture 2" descr="https://vital.com.tn/wp-content/uploads/2022/10/OSFOR_Articul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69" y="13335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10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055303" y="1665322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</a:t>
            </a:r>
            <a:r>
              <a:rPr lang="fr-FR" sz="1800" dirty="0" smtClean="0"/>
              <a:t>SACHET</a:t>
            </a:r>
            <a:endParaRPr sz="1800" dirty="0"/>
          </a:p>
        </p:txBody>
      </p:sp>
      <p:sp>
        <p:nvSpPr>
          <p:cNvPr id="4" name="Rectangle 3"/>
          <p:cNvSpPr/>
          <p:nvPr/>
        </p:nvSpPr>
        <p:spPr>
          <a:xfrm>
            <a:off x="4282906" y="662729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  <a:latin typeface="Montserrat Medium" panose="020B0604020202020204" charset="0"/>
                <a:ea typeface="Calibri" panose="020F0502020204030204" pitchFamily="34" charset="0"/>
              </a:rPr>
              <a:t>Traitement antalgique anti-inflammation et </a:t>
            </a:r>
            <a:r>
              <a:rPr lang="fr-FR" sz="1200" dirty="0" err="1">
                <a:solidFill>
                  <a:schemeClr val="tx1"/>
                </a:solidFill>
                <a:latin typeface="Montserrat Medium" panose="020B0604020202020204" charset="0"/>
                <a:ea typeface="Calibri" panose="020F0502020204030204" pitchFamily="34" charset="0"/>
              </a:rPr>
              <a:t>chondroprotecteur</a:t>
            </a:r>
            <a:r>
              <a:rPr lang="fr-FR" sz="1200" dirty="0">
                <a:solidFill>
                  <a:schemeClr val="tx1"/>
                </a:solidFill>
                <a:latin typeface="Montserrat Medium" panose="020B0604020202020204" charset="0"/>
                <a:ea typeface="Calibri" panose="020F0502020204030204" pitchFamily="34" charset="0"/>
              </a:rPr>
              <a:t> des pathologies articulaires chroniques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  <a:latin typeface="Montserrat Medium" panose="020B0604020202020204" charset="0"/>
                <a:ea typeface="Calibri" panose="020F0502020204030204" pitchFamily="34" charset="0"/>
              </a:rPr>
              <a:t>Réduit la fréquence l’intensité et la durée des poussées articulaires de l’arthrose </a:t>
            </a:r>
            <a:r>
              <a:rPr lang="fr-FR" sz="1200" dirty="0" smtClean="0">
                <a:solidFill>
                  <a:schemeClr val="tx1"/>
                </a:solidFill>
                <a:latin typeface="Montserrat Medium" panose="020B0604020202020204" charset="0"/>
                <a:ea typeface="Calibri" panose="020F0502020204030204" pitchFamily="34" charset="0"/>
              </a:rPr>
              <a:t>Légère à modérée</a:t>
            </a:r>
            <a:endParaRPr lang="fr-FR" sz="1200" dirty="0">
              <a:solidFill>
                <a:schemeClr val="tx1"/>
              </a:solidFill>
              <a:effectLst/>
              <a:latin typeface="Montserrat Medium" panose="020B0604020202020204" charset="0"/>
              <a:ea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82906" y="2225999"/>
            <a:ext cx="51353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Sulfate de Glucosamine 500 mg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 err="1">
                <a:latin typeface="Montserrat Medium" panose="020B0604020202020204" charset="0"/>
              </a:rPr>
              <a:t>Methylsulfonylmethane</a:t>
            </a:r>
            <a:r>
              <a:rPr lang="fr-FR" sz="1200" dirty="0">
                <a:latin typeface="Montserrat Medium" panose="020B0604020202020204" charset="0"/>
              </a:rPr>
              <a:t> MSM 500 mg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Sulfate de </a:t>
            </a:r>
            <a:r>
              <a:rPr lang="fr-FR" sz="1200" dirty="0" err="1">
                <a:latin typeface="Montserrat Medium" panose="020B0604020202020204" charset="0"/>
              </a:rPr>
              <a:t>chondroitine</a:t>
            </a:r>
            <a:r>
              <a:rPr lang="fr-FR" sz="1200" dirty="0">
                <a:latin typeface="Montserrat Medium" panose="020B0604020202020204" charset="0"/>
              </a:rPr>
              <a:t> 400 mg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Extrait sec de rhizome de </a:t>
            </a:r>
            <a:r>
              <a:rPr lang="fr-FR" sz="1200" dirty="0" smtClean="0">
                <a:latin typeface="Montserrat Medium" panose="020B0604020202020204" charset="0"/>
              </a:rPr>
              <a:t>curcuma </a:t>
            </a:r>
            <a:r>
              <a:rPr lang="fr-FR" sz="1200" dirty="0" err="1" smtClean="0">
                <a:latin typeface="Montserrat Medium" panose="020B0604020202020204" charset="0"/>
              </a:rPr>
              <a:t>Curcuma</a:t>
            </a:r>
            <a:r>
              <a:rPr lang="fr-FR" sz="1200" dirty="0" smtClean="0">
                <a:latin typeface="Montserrat Medium" panose="020B0604020202020204" charset="0"/>
              </a:rPr>
              <a:t> </a:t>
            </a:r>
            <a:r>
              <a:rPr lang="fr-FR" sz="1200" dirty="0" err="1">
                <a:latin typeface="Montserrat Medium" panose="020B0604020202020204" charset="0"/>
              </a:rPr>
              <a:t>longa</a:t>
            </a:r>
            <a:r>
              <a:rPr lang="fr-FR" sz="1200" dirty="0">
                <a:latin typeface="Montserrat Medium" panose="020B0604020202020204" charset="0"/>
              </a:rPr>
              <a:t> </a:t>
            </a:r>
            <a:r>
              <a:rPr lang="fr-FR" sz="1200" dirty="0" smtClean="0">
                <a:latin typeface="Montserrat Medium" panose="020B0604020202020204" charset="0"/>
              </a:rPr>
              <a:t>250 </a:t>
            </a:r>
            <a:r>
              <a:rPr lang="fr-FR" sz="1200" dirty="0">
                <a:latin typeface="Montserrat Medium" panose="020B0604020202020204" charset="0"/>
              </a:rPr>
              <a:t>mg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Extrait sec de prèles des </a:t>
            </a:r>
            <a:r>
              <a:rPr lang="fr-FR" sz="1200" dirty="0" smtClean="0">
                <a:latin typeface="Montserrat Medium" panose="020B0604020202020204" charset="0"/>
              </a:rPr>
              <a:t>champs Equisetum </a:t>
            </a:r>
            <a:r>
              <a:rPr lang="fr-FR" sz="1200" dirty="0" err="1">
                <a:latin typeface="Montserrat Medium" panose="020B0604020202020204" charset="0"/>
              </a:rPr>
              <a:t>Arvense</a:t>
            </a:r>
            <a:r>
              <a:rPr lang="fr-FR" sz="1200" dirty="0">
                <a:latin typeface="Montserrat Medium" panose="020B0604020202020204" charset="0"/>
              </a:rPr>
              <a:t> </a:t>
            </a:r>
            <a:r>
              <a:rPr lang="fr-FR" sz="1200" dirty="0" err="1">
                <a:latin typeface="Montserrat Medium" panose="020B0604020202020204" charset="0"/>
              </a:rPr>
              <a:t>leaf</a:t>
            </a:r>
            <a:r>
              <a:rPr lang="fr-FR" sz="1200" dirty="0">
                <a:latin typeface="Montserrat Medium" panose="020B0604020202020204" charset="0"/>
              </a:rPr>
              <a:t> </a:t>
            </a:r>
            <a:r>
              <a:rPr lang="fr-FR" sz="1200" dirty="0" err="1" smtClean="0">
                <a:latin typeface="Montserrat Medium" panose="020B0604020202020204" charset="0"/>
              </a:rPr>
              <a:t>extract</a:t>
            </a:r>
            <a:r>
              <a:rPr lang="fr-FR" sz="1200" dirty="0" smtClean="0">
                <a:latin typeface="Montserrat Medium" panose="020B0604020202020204" charset="0"/>
              </a:rPr>
              <a:t> 250 </a:t>
            </a:r>
            <a:r>
              <a:rPr lang="fr-FR" sz="1200" dirty="0">
                <a:latin typeface="Montserrat Medium" panose="020B0604020202020204" charset="0"/>
              </a:rPr>
              <a:t>mg</a:t>
            </a:r>
          </a:p>
        </p:txBody>
      </p:sp>
      <p:sp>
        <p:nvSpPr>
          <p:cNvPr id="13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82906" y="3625079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sp>
        <p:nvSpPr>
          <p:cNvPr id="14" name="Google Shape;613;p39"/>
          <p:cNvSpPr txBox="1"/>
          <p:nvPr/>
        </p:nvSpPr>
        <p:spPr>
          <a:xfrm>
            <a:off x="-40078" y="498539"/>
            <a:ext cx="579081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OSFOR ARTICULATION</a:t>
            </a:r>
            <a:endParaRPr sz="2400" b="0" i="0" u="none" strike="noStrike" cap="none" dirty="0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8174705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084417" y="179225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</a:t>
            </a:r>
            <a:r>
              <a:rPr lang="fr-FR" sz="1800" dirty="0" smtClean="0"/>
              <a:t>SACHET</a:t>
            </a:r>
            <a:endParaRPr sz="1800" dirty="0"/>
          </a:p>
        </p:txBody>
      </p:sp>
      <p:sp>
        <p:nvSpPr>
          <p:cNvPr id="85" name="Google Shape;85;p4"/>
          <p:cNvSpPr txBox="1"/>
          <p:nvPr/>
        </p:nvSpPr>
        <p:spPr>
          <a:xfrm>
            <a:off x="3067379" y="4168076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067379" y="4498936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 smtClean="0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Sachets</a:t>
            </a:r>
            <a:endParaRPr sz="1100" b="0" i="0" u="none" strike="noStrike" cap="none" dirty="0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96138" y="3418634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2607102227"/>
              </p:ext>
            </p:extLst>
          </p:nvPr>
        </p:nvGraphicFramePr>
        <p:xfrm>
          <a:off x="4296138" y="3992613"/>
          <a:ext cx="3737300" cy="8256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Adulte 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1 Sachet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</a:rPr>
                        <a:t>       -</a:t>
                      </a:r>
                      <a:endParaRPr sz="1200" u="none" strike="noStrike" cap="none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</a:rPr>
                        <a:t>1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</a:rPr>
                        <a:t> Sachet</a:t>
                      </a:r>
                      <a:endParaRPr sz="1200" u="none" strike="noStrike" cap="none" dirty="0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Cure minimale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de 3 mois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ous-titre 1"/>
          <p:cNvSpPr>
            <a:spLocks noGrp="1"/>
          </p:cNvSpPr>
          <p:nvPr>
            <p:ph type="subTitle" idx="13"/>
          </p:nvPr>
        </p:nvSpPr>
        <p:spPr>
          <a:xfrm>
            <a:off x="4084417" y="2134476"/>
            <a:ext cx="5470507" cy="1067179"/>
          </a:xfrm>
        </p:spPr>
        <p:txBody>
          <a:bodyPr/>
          <a:lstStyle/>
          <a:p>
            <a:pPr algn="l"/>
            <a:r>
              <a:rPr lang="fr-FR" sz="1200" dirty="0">
                <a:latin typeface="Montserrat Medium" panose="020B0604020202020204" charset="0"/>
              </a:rPr>
              <a:t>	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600 Calcium </a:t>
            </a:r>
            <a:r>
              <a:rPr lang="fr-FR" sz="1200" dirty="0" err="1" smtClean="0">
                <a:latin typeface="Montserrat Medium" panose="020B0604020202020204" charset="0"/>
              </a:rPr>
              <a:t>Algalithe</a:t>
            </a:r>
            <a:r>
              <a:rPr lang="fr-FR" sz="1200" dirty="0" smtClean="0">
                <a:latin typeface="Montserrat Medium" panose="020B0604020202020204" charset="0"/>
              </a:rPr>
              <a:t> (</a:t>
            </a:r>
            <a:r>
              <a:rPr lang="fr-FR" sz="1200" i="1" dirty="0" smtClean="0">
                <a:latin typeface="Montserrat Medium" panose="020B0604020202020204" charset="0"/>
              </a:rPr>
              <a:t>Lithothamnium </a:t>
            </a:r>
            <a:r>
              <a:rPr lang="fr-FR" sz="1200" i="1" dirty="0" err="1">
                <a:latin typeface="Montserrat Medium" panose="020B0604020202020204" charset="0"/>
              </a:rPr>
              <a:t>calcareum</a:t>
            </a:r>
            <a:r>
              <a:rPr lang="fr-FR" sz="1200" i="1" dirty="0">
                <a:latin typeface="Montserrat Medium" panose="020B0604020202020204" charset="0"/>
              </a:rPr>
              <a:t> </a:t>
            </a:r>
            <a:r>
              <a:rPr lang="fr-FR" sz="1200" i="1" dirty="0" smtClean="0">
                <a:latin typeface="Montserrat Medium" panose="020B0604020202020204" charset="0"/>
              </a:rPr>
              <a:t>)</a:t>
            </a:r>
          </a:p>
          <a:p>
            <a:pPr marL="139700" indent="0" algn="l"/>
            <a:r>
              <a:rPr lang="fr-FR" sz="1200" i="1" dirty="0" smtClean="0">
                <a:latin typeface="Montserrat Medium" panose="020B0604020202020204" charset="0"/>
              </a:rPr>
              <a:t>(</a:t>
            </a:r>
            <a:r>
              <a:rPr lang="fr-FR" sz="1200" i="1" dirty="0">
                <a:latin typeface="Montserrat Medium" panose="020B0604020202020204" charset="0"/>
              </a:rPr>
              <a:t>32 % Ca) </a:t>
            </a:r>
            <a:r>
              <a:rPr lang="fr-FR" sz="1200" dirty="0" smtClean="0">
                <a:latin typeface="Montserrat Medium" panose="020B0604020202020204" charset="0"/>
              </a:rPr>
              <a:t>600 </a:t>
            </a:r>
            <a:r>
              <a:rPr lang="fr-FR" sz="1200" dirty="0">
                <a:latin typeface="Montserrat Medium" panose="020B0604020202020204" charset="0"/>
              </a:rPr>
              <a:t>	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Vitamine D3 : Cholécalciférol </a:t>
            </a:r>
          </a:p>
          <a:p>
            <a:pPr marL="139700" indent="0" algn="l"/>
            <a:r>
              <a:rPr lang="fr-FR" sz="1200" i="1" dirty="0">
                <a:latin typeface="Montserrat Medium" panose="020B0604020202020204" charset="0"/>
              </a:rPr>
              <a:t>Vitamine D3 (0.25%) </a:t>
            </a:r>
            <a:r>
              <a:rPr lang="fr-FR" sz="1200" dirty="0">
                <a:latin typeface="Montserrat Medium" panose="020B0604020202020204" charset="0"/>
              </a:rPr>
              <a:t>	5</a:t>
            </a:r>
            <a:r>
              <a:rPr lang="el-GR" sz="1200" dirty="0">
                <a:latin typeface="Montserrat Medium" panose="020B0604020202020204" charset="0"/>
              </a:rPr>
              <a:t>μ</a:t>
            </a:r>
            <a:r>
              <a:rPr lang="fr-FR" sz="1200" dirty="0">
                <a:latin typeface="Montserrat Medium" panose="020B0604020202020204" charset="0"/>
              </a:rPr>
              <a:t>g </a:t>
            </a:r>
            <a:r>
              <a:rPr lang="fr-FR" sz="1200" dirty="0" smtClean="0">
                <a:latin typeface="Montserrat Medium" panose="020B0604020202020204" charset="0"/>
              </a:rPr>
              <a:t>(</a:t>
            </a:r>
            <a:r>
              <a:rPr lang="fr-FR" sz="1200" dirty="0">
                <a:latin typeface="Montserrat Medium" panose="020B0604020202020204" charset="0"/>
              </a:rPr>
              <a:t>200 UI) </a:t>
            </a:r>
            <a:r>
              <a:rPr lang="fr-FR" sz="1200" i="1" dirty="0" smtClean="0">
                <a:latin typeface="Montserrat Medium" panose="020B0604020202020204" charset="0"/>
              </a:rPr>
              <a:t> </a:t>
            </a:r>
            <a:r>
              <a:rPr lang="fr-FR" sz="1200" dirty="0">
                <a:latin typeface="Montserrat Medium" panose="020B0604020202020204" charset="0"/>
              </a:rPr>
              <a:t>	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20B0604020202020204" charset="0"/>
            </a:endParaRPr>
          </a:p>
        </p:txBody>
      </p:sp>
      <p:pic>
        <p:nvPicPr>
          <p:cNvPr id="17412" name="Picture 4" descr="https://vital.com.tn/wp-content/uploads/2023/10/LV-Osfor-Calcium-Vit.D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3689" y="1074243"/>
            <a:ext cx="3300248" cy="4069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44966" y="512654"/>
            <a:ext cx="40278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•Contribue à la </a:t>
            </a:r>
            <a:r>
              <a:rPr lang="fr-FR" sz="1200" dirty="0" err="1">
                <a:latin typeface="Montserrat Medium" panose="020B0604020202020204" charset="0"/>
              </a:rPr>
              <a:t>reminéralisation</a:t>
            </a:r>
            <a:r>
              <a:rPr lang="fr-FR" sz="1200" dirty="0">
                <a:latin typeface="Montserrat Medium" panose="020B0604020202020204" charset="0"/>
              </a:rPr>
              <a:t> de la masse osseuse et à la préservation d’une bonne santé osseuse et dentaire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 Medium" panose="020B0604020202020204" charset="0"/>
              </a:rPr>
              <a:t>•Soutient la fonction musculaire normale</a:t>
            </a:r>
          </a:p>
        </p:txBody>
      </p:sp>
      <p:sp>
        <p:nvSpPr>
          <p:cNvPr id="12" name="Google Shape;613;p39"/>
          <p:cNvSpPr txBox="1"/>
          <p:nvPr/>
        </p:nvSpPr>
        <p:spPr>
          <a:xfrm>
            <a:off x="-169970" y="538420"/>
            <a:ext cx="7259946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 smtClean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OSFOR CALCIUM VITAMINE 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CD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649999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055303" y="150859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 dirty="0"/>
              <a:t>COMPOSITION PAR GÉLULE</a:t>
            </a:r>
            <a:endParaRPr sz="1800" dirty="0"/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82459" y="33497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3388084473"/>
              </p:ext>
            </p:extLst>
          </p:nvPr>
        </p:nvGraphicFramePr>
        <p:xfrm>
          <a:off x="4364705" y="3803011"/>
          <a:ext cx="3737300" cy="825650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Adulte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1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  <a:ea typeface="Montserrat Medium"/>
                          <a:cs typeface="Montserrat Medium"/>
                          <a:sym typeface="Montserrat Medium"/>
                        </a:rPr>
                        <a:t> Gélule</a:t>
                      </a:r>
                      <a:endParaRPr sz="1200" u="none" strike="noStrike" cap="none" dirty="0">
                        <a:latin typeface="Montserrat Medium" panose="020B0604020202020204" charset="0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 panose="020B0604020202020204" charset="0"/>
                        </a:rPr>
                        <a:t>       -</a:t>
                      </a:r>
                      <a:endParaRPr sz="1200" u="none" strike="noStrike" cap="none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 dirty="0" smtClean="0">
                          <a:latin typeface="Montserrat Medium" panose="020B0604020202020204" charset="0"/>
                        </a:rPr>
                        <a:t>1</a:t>
                      </a:r>
                      <a:r>
                        <a:rPr lang="fr-FR" sz="1200" u="none" strike="noStrike" cap="none" baseline="0" dirty="0" smtClean="0">
                          <a:latin typeface="Montserrat Medium" panose="020B0604020202020204" charset="0"/>
                        </a:rPr>
                        <a:t> Gélule</a:t>
                      </a:r>
                      <a:endParaRPr sz="1200" u="none" strike="noStrike" cap="none" dirty="0">
                        <a:latin typeface="Montserrat Medium" panose="020B0604020202020204" charset="0"/>
                      </a:endParaRPr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ous-titre 1"/>
          <p:cNvSpPr>
            <a:spLocks noGrp="1"/>
          </p:cNvSpPr>
          <p:nvPr>
            <p:ph type="subTitle" idx="13"/>
          </p:nvPr>
        </p:nvSpPr>
        <p:spPr>
          <a:xfrm>
            <a:off x="4175581" y="1921012"/>
            <a:ext cx="4968419" cy="122317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fr-FR" sz="1200" dirty="0">
              <a:latin typeface="Montserrat Medium" panose="020B06040202020202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265 mg d’ </a:t>
            </a:r>
            <a:r>
              <a:rPr lang="fr-FR" sz="1200" dirty="0">
                <a:latin typeface="Montserrat Medium" panose="020B0604020202020204" charset="0"/>
              </a:rPr>
              <a:t>Extrait sec de Réglisse </a:t>
            </a:r>
            <a:r>
              <a:rPr lang="fr-FR" sz="1200" dirty="0" smtClean="0">
                <a:latin typeface="Montserrat Medium" panose="020B0604020202020204" charset="0"/>
              </a:rPr>
              <a:t>(</a:t>
            </a:r>
            <a:r>
              <a:rPr lang="fr-FR" sz="1200" dirty="0" err="1">
                <a:latin typeface="Montserrat Medium" panose="020B0604020202020204" charset="0"/>
              </a:rPr>
              <a:t>Glycyrrhiza</a:t>
            </a:r>
            <a:r>
              <a:rPr lang="fr-FR" sz="1200" dirty="0">
                <a:latin typeface="Montserrat Medium" panose="020B0604020202020204" charset="0"/>
              </a:rPr>
              <a:t> </a:t>
            </a:r>
            <a:r>
              <a:rPr lang="fr-FR" sz="1200" dirty="0" err="1" smtClean="0">
                <a:latin typeface="Montserrat Medium" panose="020B0604020202020204" charset="0"/>
              </a:rPr>
              <a:t>glabra</a:t>
            </a:r>
            <a:r>
              <a:rPr lang="fr-FR" sz="1200" dirty="0" smtClean="0">
                <a:latin typeface="Montserrat Medium" panose="020B0604020202020204" charset="0"/>
              </a:rPr>
              <a:t>)</a:t>
            </a:r>
            <a:r>
              <a:rPr lang="fr-FR" sz="1200" dirty="0">
                <a:latin typeface="Montserrat Medium" panose="020B0604020202020204" charset="0"/>
              </a:rPr>
              <a:t>	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210 mg d’Extrait </a:t>
            </a:r>
            <a:r>
              <a:rPr lang="fr-FR" sz="1200" dirty="0">
                <a:latin typeface="Montserrat Medium" panose="020B0604020202020204" charset="0"/>
              </a:rPr>
              <a:t>sec de racine de guimauve </a:t>
            </a:r>
            <a:r>
              <a:rPr lang="en-US" sz="1200" dirty="0" smtClean="0">
                <a:latin typeface="Montserrat Medium" panose="020B0604020202020204" charset="0"/>
              </a:rPr>
              <a:t>(</a:t>
            </a:r>
            <a:r>
              <a:rPr lang="en-US" sz="1200" dirty="0" err="1">
                <a:latin typeface="Montserrat Medium" panose="020B0604020202020204" charset="0"/>
              </a:rPr>
              <a:t>Althaea</a:t>
            </a:r>
            <a:r>
              <a:rPr lang="en-US" sz="1200" dirty="0">
                <a:latin typeface="Montserrat Medium" panose="020B0604020202020204" charset="0"/>
              </a:rPr>
              <a:t> </a:t>
            </a:r>
            <a:r>
              <a:rPr lang="en-US" sz="1200" dirty="0" err="1">
                <a:latin typeface="Montserrat Medium" panose="020B0604020202020204" charset="0"/>
              </a:rPr>
              <a:t>officinalis</a:t>
            </a:r>
            <a:r>
              <a:rPr lang="en-US" sz="1200" dirty="0" smtClean="0">
                <a:latin typeface="Montserrat Medium" panose="020B0604020202020204" charset="0"/>
              </a:rPr>
              <a:t>)</a:t>
            </a:r>
            <a:r>
              <a:rPr lang="en-US" sz="1200" dirty="0">
                <a:latin typeface="Montserrat Medium" panose="020B0604020202020204" charset="0"/>
              </a:rPr>
              <a:t>	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120 mg </a:t>
            </a:r>
            <a:r>
              <a:rPr lang="fr-FR" sz="1200" dirty="0" err="1" smtClean="0">
                <a:latin typeface="Montserrat Medium" panose="020B0604020202020204" charset="0"/>
              </a:rPr>
              <a:t>Algalithe</a:t>
            </a:r>
            <a:r>
              <a:rPr lang="fr-FR" sz="1200" dirty="0" smtClean="0">
                <a:latin typeface="Montserrat Medium" panose="020B0604020202020204" charset="0"/>
              </a:rPr>
              <a:t> (</a:t>
            </a:r>
            <a:r>
              <a:rPr lang="fr-FR" sz="1200" dirty="0" err="1">
                <a:latin typeface="Montserrat Medium" panose="020B0604020202020204" charset="0"/>
              </a:rPr>
              <a:t>Phymatolithon</a:t>
            </a:r>
            <a:r>
              <a:rPr lang="fr-FR" sz="1200" dirty="0">
                <a:latin typeface="Montserrat Medium" panose="020B0604020202020204" charset="0"/>
              </a:rPr>
              <a:t> </a:t>
            </a:r>
            <a:r>
              <a:rPr lang="fr-FR" sz="1200" dirty="0" err="1">
                <a:latin typeface="Montserrat Medium" panose="020B0604020202020204" charset="0"/>
              </a:rPr>
              <a:t>calcareum</a:t>
            </a:r>
            <a:r>
              <a:rPr lang="fr-FR" sz="1200" dirty="0">
                <a:latin typeface="Montserrat Medium" panose="020B0604020202020204" charset="0"/>
              </a:rPr>
              <a:t>) 	</a:t>
            </a:r>
            <a:r>
              <a:rPr lang="fr-FR" dirty="0"/>
              <a:t>	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14338" name="Picture 2" descr="https://vital.com.tn/wp-content/uploads/2022/10/GASTROCALM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2024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82906" y="341855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latin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Effet </a:t>
            </a:r>
            <a:r>
              <a:rPr lang="fr-FR" sz="1200" dirty="0" err="1" smtClean="0">
                <a:latin typeface="Montserrat Medium" panose="020B0604020202020204" charset="0"/>
              </a:rPr>
              <a:t>gastroprotecteur</a:t>
            </a:r>
            <a:r>
              <a:rPr lang="fr-FR" sz="1200" dirty="0" smtClean="0">
                <a:latin typeface="Montserrat Medium" panose="020B0604020202020204" charset="0"/>
              </a:rPr>
              <a:t> et </a:t>
            </a:r>
            <a:r>
              <a:rPr lang="fr-FR" sz="1200" dirty="0" err="1" smtClean="0">
                <a:latin typeface="Montserrat Medium" panose="020B0604020202020204" charset="0"/>
              </a:rPr>
              <a:t>antireflux</a:t>
            </a:r>
            <a:endParaRPr lang="fr-FR" sz="1200" dirty="0" smtClean="0">
              <a:latin typeface="Montserrat Medium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 Medium" panose="020B0604020202020204" charset="0"/>
              </a:rPr>
              <a:t>Soulager </a:t>
            </a:r>
            <a:r>
              <a:rPr lang="fr-FR" sz="1200" dirty="0">
                <a:latin typeface="Montserrat Medium" panose="020B0604020202020204" charset="0"/>
              </a:rPr>
              <a:t>l’acidité gastrique </a:t>
            </a:r>
            <a:r>
              <a:rPr lang="fr-FR" sz="1200" dirty="0" smtClean="0">
                <a:latin typeface="Montserrat Medium" panose="020B0604020202020204" charset="0"/>
              </a:rPr>
              <a:t>et faciliter </a:t>
            </a:r>
            <a:r>
              <a:rPr lang="fr-FR" sz="1200" dirty="0">
                <a:latin typeface="Montserrat Medium" panose="020B0604020202020204" charset="0"/>
              </a:rPr>
              <a:t>le transit intestinal. </a:t>
            </a:r>
          </a:p>
        </p:txBody>
      </p:sp>
    </p:spTree>
    <p:extLst>
      <p:ext uri="{BB962C8B-B14F-4D97-AF65-F5344CB8AC3E}">
        <p14:creationId xmlns:p14="http://schemas.microsoft.com/office/powerpoint/2010/main" val="1535257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subTitle" idx="9"/>
          </p:nvPr>
        </p:nvSpPr>
        <p:spPr>
          <a:xfrm>
            <a:off x="3782206" y="173621"/>
            <a:ext cx="2786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INDICATIONS</a:t>
            </a:r>
            <a:endParaRPr sz="1800"/>
          </a:p>
        </p:txBody>
      </p:sp>
      <p:sp>
        <p:nvSpPr>
          <p:cNvPr id="82" name="Google Shape;82;p4"/>
          <p:cNvSpPr txBox="1">
            <a:spLocks noGrp="1"/>
          </p:cNvSpPr>
          <p:nvPr>
            <p:ph type="subTitle" idx="14"/>
          </p:nvPr>
        </p:nvSpPr>
        <p:spPr>
          <a:xfrm>
            <a:off x="4084417" y="1792250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COMPOSITION PAR GÉLULE</a:t>
            </a:r>
            <a:endParaRPr sz="1800"/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3658" y="2526015"/>
            <a:ext cx="1929747" cy="192974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 txBox="1"/>
          <p:nvPr/>
        </p:nvSpPr>
        <p:spPr>
          <a:xfrm>
            <a:off x="3200600" y="2826164"/>
            <a:ext cx="7852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 smtClean="0">
                <a:solidFill>
                  <a:srgbClr val="35535B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2400" b="1" i="0" u="none" strike="noStrike" cap="none" dirty="0">
              <a:solidFill>
                <a:srgbClr val="3553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131148" y="3157024"/>
            <a:ext cx="9241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rgbClr val="35535B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Gélules</a:t>
            </a:r>
            <a:endParaRPr sz="1100" b="0" i="0" u="none" strike="noStrike" cap="none">
              <a:solidFill>
                <a:srgbClr val="35535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4"/>
          </p:nvPr>
        </p:nvSpPr>
        <p:spPr>
          <a:xfrm>
            <a:off x="4282459" y="3349727"/>
            <a:ext cx="3925473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2300"/>
              <a:buNone/>
            </a:pPr>
            <a:r>
              <a:rPr lang="fr-FR" sz="1800"/>
              <a:t>POSOLOGIE</a:t>
            </a:r>
            <a:endParaRPr sz="1800"/>
          </a:p>
        </p:txBody>
      </p:sp>
      <p:graphicFrame>
        <p:nvGraphicFramePr>
          <p:cNvPr id="89" name="Google Shape;89;p4"/>
          <p:cNvGraphicFramePr/>
          <p:nvPr/>
        </p:nvGraphicFramePr>
        <p:xfrm>
          <a:off x="4364705" y="3803011"/>
          <a:ext cx="3737300" cy="855285"/>
        </p:xfrm>
        <a:graphic>
          <a:graphicData uri="http://schemas.openxmlformats.org/drawingml/2006/table">
            <a:tbl>
              <a:tblPr firstRow="1" bandRow="1">
                <a:noFill/>
                <a:tableStyleId>{BFA0A949-AEF0-4B8B-935C-B9683DE06363}</a:tableStyleId>
              </a:tblPr>
              <a:tblGrid>
                <a:gridCol w="934325"/>
                <a:gridCol w="934325"/>
                <a:gridCol w="934325"/>
                <a:gridCol w="934325"/>
              </a:tblGrid>
              <a:tr h="27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i="0" u="none" strike="noStrike" cap="none" dirty="0">
                          <a:solidFill>
                            <a:schemeClr val="lt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ÂGE</a:t>
                      </a: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MATIN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MIDI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u="none" strike="noStrike" cap="none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SOIR</a:t>
                      </a:r>
                      <a:endParaRPr sz="1200" u="none" strike="noStrike" cap="none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</a:tr>
              <a:tr h="275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u="none" strike="noStrike" cap="none"/>
                        <a:t>       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  <a:tr h="2751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 dirty="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ous-titre 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9476963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3992</Words>
  <Application>Microsoft Office PowerPoint</Application>
  <PresentationFormat>Affichage à l'écran (16:9)</PresentationFormat>
  <Paragraphs>1261</Paragraphs>
  <Slides>59</Slides>
  <Notes>59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59</vt:i4>
      </vt:variant>
    </vt:vector>
  </HeadingPairs>
  <TitlesOfParts>
    <vt:vector size="69" baseType="lpstr">
      <vt:lpstr>Montserrat Medium</vt:lpstr>
      <vt:lpstr>Montserrat ExtraBold</vt:lpstr>
      <vt:lpstr>Poppins</vt:lpstr>
      <vt:lpstr>Verdana</vt:lpstr>
      <vt:lpstr>Calibri</vt:lpstr>
      <vt:lpstr>Montserrat</vt:lpstr>
      <vt:lpstr>Oswald Medium</vt:lpstr>
      <vt:lpstr>Raleway</vt:lpstr>
      <vt:lpstr>Arial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47</cp:revision>
  <dcterms:modified xsi:type="dcterms:W3CDTF">2026-03-10T09:40:43Z</dcterms:modified>
</cp:coreProperties>
</file>