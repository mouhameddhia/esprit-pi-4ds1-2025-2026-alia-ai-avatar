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7"/>
  </p:notesMasterIdLst>
  <p:sldIdLst>
    <p:sldId id="307" r:id="rId2"/>
    <p:sldId id="413" r:id="rId3"/>
    <p:sldId id="435" r:id="rId4"/>
    <p:sldId id="424" r:id="rId5"/>
    <p:sldId id="425" r:id="rId6"/>
    <p:sldId id="426" r:id="rId7"/>
    <p:sldId id="427" r:id="rId8"/>
    <p:sldId id="428" r:id="rId9"/>
    <p:sldId id="429" r:id="rId10"/>
    <p:sldId id="430" r:id="rId11"/>
    <p:sldId id="431" r:id="rId12"/>
    <p:sldId id="432" r:id="rId13"/>
    <p:sldId id="433" r:id="rId14"/>
    <p:sldId id="434" r:id="rId15"/>
    <p:sldId id="436" r:id="rId16"/>
  </p:sldIdLst>
  <p:sldSz cx="9144000" cy="5143500" type="screen16x9"/>
  <p:notesSz cx="6858000" cy="9144000"/>
  <p:embeddedFontLst>
    <p:embeddedFont>
      <p:font typeface="Futura Bold" panose="020B0604020202020204" charset="0"/>
      <p:regular r:id="rId18"/>
    </p:embeddedFont>
    <p:embeddedFont>
      <p:font typeface="Poppins" panose="020B0604020202020204" charset="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Montserrat" panose="020B0604020202020204" charset="0"/>
      <p:regular r:id="rId27"/>
      <p:bold r:id="rId28"/>
      <p:italic r:id="rId29"/>
      <p:boldItalic r:id="rId30"/>
    </p:embeddedFont>
    <p:embeddedFont>
      <p:font typeface="Oswald Medium" panose="020B0604020202020204" charset="0"/>
      <p:regular r:id="rId31"/>
      <p:bold r:id="rId32"/>
    </p:embeddedFont>
    <p:embeddedFont>
      <p:font typeface="Raleway" panose="020B0604020202020204" charset="0"/>
      <p:regular r:id="rId33"/>
      <p:bold r:id="rId34"/>
      <p:italic r:id="rId35"/>
      <p:boldItalic r:id="rId36"/>
    </p:embeddedFont>
    <p:embeddedFont>
      <p:font typeface="Futura" panose="020B0604020202020204" charset="0"/>
      <p:regular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54" userDrawn="1">
          <p15:clr>
            <a:srgbClr val="9AA0A6"/>
          </p15:clr>
        </p15:guide>
        <p15:guide id="2" orient="horz" pos="2719">
          <p15:clr>
            <a:srgbClr val="9AA0A6"/>
          </p15:clr>
        </p15:guide>
        <p15:guide id="3" pos="2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535B"/>
    <a:srgbClr val="6D6D6D"/>
    <a:srgbClr val="E14D4D"/>
    <a:srgbClr val="1E75BA"/>
    <a:srgbClr val="FCD232"/>
    <a:srgbClr val="F7BC3B"/>
    <a:srgbClr val="B71818"/>
    <a:srgbClr val="868786"/>
    <a:srgbClr val="54A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11C431-235F-4305-BE99-AC0004E7AA60}">
  <a:tblStyle styleId="{1011C431-235F-4305-BE99-AC0004E7AA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1" d="100"/>
          <a:sy n="91" d="100"/>
        </p:scale>
        <p:origin x="684" y="108"/>
      </p:cViewPr>
      <p:guideLst>
        <p:guide orient="horz" pos="554"/>
        <p:guide orient="horz" pos="2719"/>
        <p:guide pos="27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viewProps" Target="viewProps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16032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c1b75c0d8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c1b75c0d8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577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8953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2761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9658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9068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0065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627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1992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3142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979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5374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0173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3969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17046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3708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681300" y="2325538"/>
            <a:ext cx="3503400" cy="6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4681300" y="2819280"/>
            <a:ext cx="2818800" cy="8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540000" y="2447350"/>
            <a:ext cx="1063850" cy="3239750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763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763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7440475" y="2721975"/>
            <a:ext cx="1063850" cy="3239750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1618500" y="-1514725"/>
            <a:ext cx="473400" cy="4492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353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31786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339402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31370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529150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3178575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339402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31370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529100" y="398490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60435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625887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604355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625887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207300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2073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4072138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40722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6937025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6937025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8159719" y="-1297776"/>
            <a:ext cx="670525" cy="2644575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0000" y="435900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8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340">
          <p15:clr>
            <a:srgbClr val="EA4335"/>
          </p15:clr>
        </p15:guide>
        <p15:guide id="4" pos="54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8;p25"/>
          <p:cNvSpPr txBox="1">
            <a:spLocks/>
          </p:cNvSpPr>
          <p:nvPr/>
        </p:nvSpPr>
        <p:spPr>
          <a:xfrm>
            <a:off x="1784421" y="333829"/>
            <a:ext cx="6037985" cy="104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4800" cap="all" dirty="0" smtClean="0">
                <a:solidFill>
                  <a:srgbClr val="E14D4D"/>
                </a:solidFill>
              </a:rPr>
              <a:t>OLIGOVIT</a:t>
            </a:r>
            <a:endParaRPr lang="fr-FR" sz="5000" cap="all" dirty="0">
              <a:solidFill>
                <a:srgbClr val="E14D4D"/>
              </a:solidFill>
            </a:endParaRPr>
          </a:p>
        </p:txBody>
      </p:sp>
      <p:sp>
        <p:nvSpPr>
          <p:cNvPr id="7" name="Google Shape;810;p35"/>
          <p:cNvSpPr/>
          <p:nvPr/>
        </p:nvSpPr>
        <p:spPr>
          <a:xfrm>
            <a:off x="392795" y="333829"/>
            <a:ext cx="1303749" cy="1055361"/>
          </a:xfrm>
          <a:prstGeom prst="homePlate">
            <a:avLst>
              <a:gd name="adj" fmla="val 31917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14D4D"/>
              </a:solidFill>
            </a:endParaRPr>
          </a:p>
        </p:txBody>
      </p:sp>
      <p:sp>
        <p:nvSpPr>
          <p:cNvPr id="8" name="Google Shape;820;p35"/>
          <p:cNvSpPr txBox="1">
            <a:spLocks/>
          </p:cNvSpPr>
          <p:nvPr/>
        </p:nvSpPr>
        <p:spPr>
          <a:xfrm>
            <a:off x="640080" y="573509"/>
            <a:ext cx="5760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2400" dirty="0">
              <a:solidFill>
                <a:schemeClr val="bg1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230" y="-159657"/>
            <a:ext cx="2039257" cy="203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6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3488" y="1205335"/>
            <a:ext cx="3762106" cy="3762106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6653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77814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Fatigue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Asthénie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Courbatures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Baisse d'immunité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Antioxydant majeur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Améliore l’absorption du fer </a:t>
            </a: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0728" y="198412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COMPOSITION PAR GÉLULE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432601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320 mg de Vitamine C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10683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349262"/>
              </p:ext>
            </p:extLst>
          </p:nvPr>
        </p:nvGraphicFramePr>
        <p:xfrm>
          <a:off x="4364705" y="3560121"/>
          <a:ext cx="3737340" cy="82567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 gridSpan="4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 à 3 gélules par jour pendant un mois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>
            <a:off x="466372" y="486310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OLIGOVIT VIT.C 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66" y="2455379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30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2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2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235" y="4120985"/>
            <a:ext cx="1625393" cy="162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4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6653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77814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Fatigue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Asthénie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Courbatures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Baisse d'immunité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Antioxydant majeur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Améliore l’absorption du fer </a:t>
            </a: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0728" y="198412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COMPOSITION PAR GÉLULE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432601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C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10683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349262"/>
              </p:ext>
            </p:extLst>
          </p:nvPr>
        </p:nvGraphicFramePr>
        <p:xfrm>
          <a:off x="4364705" y="3560121"/>
          <a:ext cx="3737340" cy="82567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 gridSpan="4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 à 3 gélules par jour pendant un mois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>
            <a:off x="466372" y="486310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OLIGOVIT VIT.C 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16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2958079" y="3106837"/>
            <a:ext cx="1132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200" dirty="0" err="1" smtClean="0">
                <a:solidFill>
                  <a:srgbClr val="35535B"/>
                </a:solidFill>
                <a:latin typeface="Montserrat" panose="020B0604020202020204" charset="0"/>
              </a:rPr>
              <a:t>Comprimès</a:t>
            </a:r>
            <a:endParaRPr lang="fr-FR" sz="12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235" y="4120985"/>
            <a:ext cx="1625393" cy="1625393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8" y="2060645"/>
            <a:ext cx="2958079" cy="244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315" y="1095647"/>
            <a:ext cx="3781425" cy="3781425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6653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77814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Booste </a:t>
            </a:r>
            <a:r>
              <a:rPr lang="fr-FR" sz="1200" dirty="0">
                <a:latin typeface="Montserrat" panose="020B0604020202020204" charset="0"/>
              </a:rPr>
              <a:t>le système immunitaire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Traitement </a:t>
            </a:r>
            <a:r>
              <a:rPr lang="fr-FR" sz="1200" dirty="0">
                <a:latin typeface="Montserrat" panose="020B0604020202020204" charset="0"/>
              </a:rPr>
              <a:t>de soutien chez les patients COVID </a:t>
            </a:r>
            <a:r>
              <a:rPr lang="fr-FR" sz="1200" dirty="0" smtClean="0">
                <a:latin typeface="Montserrat" panose="020B0604020202020204" charset="0"/>
              </a:rPr>
              <a:t>19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Prévention et traitement de rhume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l’intensité de l’inflammation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Traitement adjuvant pour l’</a:t>
            </a:r>
            <a:r>
              <a:rPr lang="fr-FR" sz="1200" dirty="0" err="1" smtClean="0">
                <a:latin typeface="Montserrat" panose="020B0604020202020204" charset="0"/>
              </a:rPr>
              <a:t>acnè</a:t>
            </a: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0728" y="198412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GÉLULE</a:t>
            </a:r>
            <a:endParaRPr sz="1800" dirty="0"/>
          </a:p>
        </p:txBody>
      </p:sp>
      <p:sp>
        <p:nvSpPr>
          <p:cNvPr id="9" name="ZoneTexte 8"/>
          <p:cNvSpPr txBox="1"/>
          <p:nvPr/>
        </p:nvSpPr>
        <p:spPr>
          <a:xfrm>
            <a:off x="4213005" y="2432601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Zinc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10683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384732"/>
              </p:ext>
            </p:extLst>
          </p:nvPr>
        </p:nvGraphicFramePr>
        <p:xfrm>
          <a:off x="4364703" y="3560121"/>
          <a:ext cx="4169696" cy="10076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2424"/>
                <a:gridCol w="1042424"/>
                <a:gridCol w="1042424"/>
                <a:gridCol w="1042424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 gridSpan="3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ADULTE : Préventif : 1 gélule par jour pendant 3 mois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>
            <a:off x="466372" y="486310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OLIGOVIT ZINC </a:t>
            </a: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66" y="2455379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15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235" y="4120985"/>
            <a:ext cx="1625393" cy="162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3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38793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699215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Contribue </a:t>
            </a:r>
            <a:r>
              <a:rPr lang="fr-FR" sz="1200" dirty="0">
                <a:latin typeface="Montserrat" panose="020B0604020202020204" charset="0"/>
              </a:rPr>
              <a:t>au fonctionnement normal du système immunitaire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Contribue </a:t>
            </a:r>
            <a:r>
              <a:rPr lang="fr-FR" sz="1200" dirty="0">
                <a:latin typeface="Montserrat" panose="020B0604020202020204" charset="0"/>
              </a:rPr>
              <a:t>à un métabolisme énergétique </a:t>
            </a:r>
            <a:r>
              <a:rPr lang="fr-FR" sz="1200" dirty="0" smtClean="0">
                <a:latin typeface="Montserrat" panose="020B0604020202020204" charset="0"/>
              </a:rPr>
              <a:t>normal et </a:t>
            </a:r>
            <a:r>
              <a:rPr lang="fr-FR" sz="1200" dirty="0">
                <a:latin typeface="Montserrat" panose="020B0604020202020204" charset="0"/>
              </a:rPr>
              <a:t>à réduire la fatigue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</a:t>
            </a:r>
            <a:r>
              <a:rPr lang="fr-FR" sz="1200" dirty="0">
                <a:latin typeface="Montserrat" panose="020B0604020202020204" charset="0"/>
              </a:rPr>
              <a:t>le risque de l'infection et de la pneumonie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</a:t>
            </a:r>
            <a:r>
              <a:rPr lang="fr-FR" sz="1200" dirty="0">
                <a:latin typeface="Montserrat" panose="020B0604020202020204" charset="0"/>
              </a:rPr>
              <a:t>l'inflammation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Diminue </a:t>
            </a:r>
            <a:r>
              <a:rPr lang="fr-FR" sz="1200" dirty="0">
                <a:latin typeface="Montserrat" panose="020B0604020202020204" charset="0"/>
              </a:rPr>
              <a:t>le risque de la SDRA</a:t>
            </a: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72" y="241990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GÉLULE</a:t>
            </a:r>
            <a:endParaRPr sz="1800" dirty="0"/>
          </a:p>
        </p:txBody>
      </p:sp>
      <p:sp>
        <p:nvSpPr>
          <p:cNvPr id="9" name="ZoneTexte 8"/>
          <p:cNvSpPr txBox="1"/>
          <p:nvPr/>
        </p:nvSpPr>
        <p:spPr>
          <a:xfrm>
            <a:off x="4220149" y="2868373"/>
            <a:ext cx="3810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320 mg de Vitamine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25 MG de zinc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 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ùg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 de vitamine D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364015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736155"/>
              </p:ext>
            </p:extLst>
          </p:nvPr>
        </p:nvGraphicFramePr>
        <p:xfrm>
          <a:off x="3935057" y="3879715"/>
          <a:ext cx="3737340" cy="119056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 gridSpan="4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</a:t>
                      </a:r>
                      <a:r>
                        <a:rPr lang="fr-FR" sz="1200" baseline="0" dirty="0" smtClean="0">
                          <a:latin typeface="Montserrat" panose="020B0604020202020204" charset="0"/>
                        </a:rPr>
                        <a:t> gélule à 2 gélules/jour en curatif pendant 15 jours</a:t>
                      </a:r>
                    </a:p>
                    <a:p>
                      <a:pPr algn="ctr"/>
                      <a:r>
                        <a:rPr lang="fr-FR" sz="1200" baseline="0" dirty="0" smtClean="0">
                          <a:latin typeface="Montserrat" panose="020B0604020202020204" charset="0"/>
                        </a:rPr>
                        <a:t>1 gélule en préventif pendant 3 mois</a:t>
                      </a:r>
                      <a:r>
                        <a:rPr lang="fr-FR" sz="1200" dirty="0" smtClean="0">
                          <a:latin typeface="Montserrat" panose="020B0604020202020204" charset="0"/>
                        </a:rPr>
                        <a:t>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>
            <a:off x="466372" y="486310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OLIGOVIT TRIO </a:t>
            </a: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66" y="2455379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15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07" y="4127478"/>
            <a:ext cx="1625393" cy="1625393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4" y="1827043"/>
            <a:ext cx="2668438" cy="231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9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232" y="1001487"/>
            <a:ext cx="3881438" cy="3881438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7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495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la fatigue et le stress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Soutenir le fonctionnement normal des muscles et du système nerveux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Améliore l’humeur et la qualité de sommeil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les douleurs et les crampes musculaires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" panose="020B0604020202020204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3610" y="241990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</a:t>
            </a:r>
            <a:r>
              <a:rPr lang="fr-FR" sz="1800" dirty="0" smtClean="0"/>
              <a:t>4 GÉLULES</a:t>
            </a:r>
            <a:endParaRPr sz="1800" dirty="0"/>
          </a:p>
        </p:txBody>
      </p:sp>
      <p:sp>
        <p:nvSpPr>
          <p:cNvPr id="9" name="ZoneTexte 8"/>
          <p:cNvSpPr txBox="1"/>
          <p:nvPr/>
        </p:nvSpPr>
        <p:spPr>
          <a:xfrm>
            <a:off x="4220149" y="2868373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Magnésium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364015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sp>
        <p:nvSpPr>
          <p:cNvPr id="16" name="ZoneTexte 15"/>
          <p:cNvSpPr txBox="1"/>
          <p:nvPr/>
        </p:nvSpPr>
        <p:spPr>
          <a:xfrm>
            <a:off x="-361125" y="478267"/>
            <a:ext cx="5212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OLIGOVIT </a:t>
            </a:r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 MAGNÉSIUM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66" y="2455379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235" y="4120985"/>
            <a:ext cx="1625393" cy="1625393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4306381" y="3853653"/>
            <a:ext cx="3810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b="1" dirty="0" smtClean="0">
                <a:solidFill>
                  <a:srgbClr val="6D6D6D"/>
                </a:solidFill>
                <a:latin typeface="Montserrat" panose="020B0604020202020204" charset="0"/>
              </a:rPr>
              <a:t>Adulte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: 1 à 4 gélules / jour pendant 2 à 3 mois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37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459" y="1007089"/>
            <a:ext cx="3938588" cy="3938588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7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495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Facilite l’endormissement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Améliore la qualité du sommeil et évite les réveils nocturnes</a:t>
            </a: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72" y="241990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GÉLULE</a:t>
            </a:r>
            <a:endParaRPr sz="1800" dirty="0"/>
          </a:p>
        </p:txBody>
      </p:sp>
      <p:sp>
        <p:nvSpPr>
          <p:cNvPr id="9" name="ZoneTexte 8"/>
          <p:cNvSpPr txBox="1"/>
          <p:nvPr/>
        </p:nvSpPr>
        <p:spPr>
          <a:xfrm>
            <a:off x="4220149" y="2868373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Mélatonine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364015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sp>
        <p:nvSpPr>
          <p:cNvPr id="16" name="ZoneTexte 15"/>
          <p:cNvSpPr txBox="1"/>
          <p:nvPr/>
        </p:nvSpPr>
        <p:spPr>
          <a:xfrm>
            <a:off x="-45881" y="489814"/>
            <a:ext cx="4107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Montserrat" panose="020B0604020202020204" charset="0"/>
              </a:rPr>
              <a:t>OLIGOVIT </a:t>
            </a:r>
            <a:r>
              <a:rPr lang="fr-FR" sz="2400" dirty="0" smtClean="0">
                <a:solidFill>
                  <a:schemeClr val="bg1"/>
                </a:solidFill>
                <a:latin typeface="Montserrat" panose="020B0604020202020204" charset="0"/>
              </a:rPr>
              <a:t>MÉLATONINE</a:t>
            </a:r>
            <a:endParaRPr lang="fr-FR" sz="24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558" y="2419900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15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235" y="4120985"/>
            <a:ext cx="1625393" cy="1625393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4213005" y="3826246"/>
            <a:ext cx="3810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b="1" dirty="0" smtClean="0">
                <a:solidFill>
                  <a:srgbClr val="6D6D6D"/>
                </a:solidFill>
                <a:latin typeface="Montserrat" panose="020B0604020202020204" charset="0"/>
              </a:rPr>
              <a:t>Adulte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: 1 gélule / jour ( 30 minute avant le coucher)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619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9910" y="1018180"/>
            <a:ext cx="3936359" cy="3936359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7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495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Contribue au métabolisme énergétique normal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Aide à réduire la fatigue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Renforce le système immunitaire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Contribue à la formation des globules rouges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Contribue au </a:t>
            </a:r>
            <a:r>
              <a:rPr lang="fr-FR" sz="1200" dirty="0" smtClean="0">
                <a:latin typeface="Montserrat" panose="020B0604020202020204" charset="0"/>
              </a:rPr>
              <a:t>métabolisme normal l’homocystéine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Maintien l’équilibre et le fonctionnement de </a:t>
            </a:r>
            <a:r>
              <a:rPr lang="fr-FR" sz="1200" dirty="0" err="1" smtClean="0">
                <a:latin typeface="Montserrat" panose="020B0604020202020204" charset="0"/>
              </a:rPr>
              <a:t>systéme</a:t>
            </a:r>
            <a:r>
              <a:rPr lang="fr-FR" sz="1200" dirty="0" smtClean="0">
                <a:latin typeface="Montserrat" panose="020B0604020202020204" charset="0"/>
              </a:rPr>
              <a:t> nerveux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155437" y="271658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GÉLULE</a:t>
            </a:r>
            <a:endParaRPr sz="1800" dirty="0"/>
          </a:p>
        </p:txBody>
      </p:sp>
      <p:sp>
        <p:nvSpPr>
          <p:cNvPr id="9" name="ZoneTexte 8"/>
          <p:cNvSpPr txBox="1"/>
          <p:nvPr/>
        </p:nvSpPr>
        <p:spPr>
          <a:xfrm>
            <a:off x="4224603" y="3025375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de Vitamine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B12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364015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sp>
        <p:nvSpPr>
          <p:cNvPr id="16" name="ZoneTexte 15"/>
          <p:cNvSpPr txBox="1"/>
          <p:nvPr/>
        </p:nvSpPr>
        <p:spPr>
          <a:xfrm>
            <a:off x="105461" y="493369"/>
            <a:ext cx="4107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Montserrat" panose="020B0604020202020204" charset="0"/>
              </a:rPr>
              <a:t>OLIGOVIT </a:t>
            </a:r>
            <a:r>
              <a:rPr lang="fr-FR" sz="2400" dirty="0" smtClean="0">
                <a:solidFill>
                  <a:schemeClr val="bg1"/>
                </a:solidFill>
                <a:latin typeface="Montserrat" panose="020B0604020202020204" charset="0"/>
              </a:rPr>
              <a:t>VIT.B12</a:t>
            </a:r>
            <a:endParaRPr lang="fr-FR" sz="24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66" y="2455379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15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235" y="4120985"/>
            <a:ext cx="1625393" cy="1625393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4213005" y="3826246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b="1" dirty="0" smtClean="0">
                <a:solidFill>
                  <a:srgbClr val="6D6D6D"/>
                </a:solidFill>
                <a:latin typeface="Montserrat" panose="020B0604020202020204" charset="0"/>
              </a:rPr>
              <a:t>Adulte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: 1 gélule / jour de 1 mois à 3 mois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14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7508" y="1029046"/>
            <a:ext cx="3955651" cy="3955651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7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196733" y="969513"/>
            <a:ext cx="4531602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Prévention et traitement des carences en vitamine D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Favorise la croissance osseuse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Prévention de l’ostéoporose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Soutient le fonctionnement du système immunitaire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Améliore la force musculaire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Augmente l’absorption du calcium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72" y="241990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GÉLULE</a:t>
            </a:r>
            <a:endParaRPr sz="1800" dirty="0"/>
          </a:p>
        </p:txBody>
      </p:sp>
      <p:sp>
        <p:nvSpPr>
          <p:cNvPr id="9" name="ZoneTexte 8"/>
          <p:cNvSpPr txBox="1"/>
          <p:nvPr/>
        </p:nvSpPr>
        <p:spPr>
          <a:xfrm>
            <a:off x="4220149" y="2868373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de Vitamine D3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364015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sp>
        <p:nvSpPr>
          <p:cNvPr id="16" name="ZoneTexte 15"/>
          <p:cNvSpPr txBox="1"/>
          <p:nvPr/>
        </p:nvSpPr>
        <p:spPr>
          <a:xfrm>
            <a:off x="105461" y="493369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OLIGOVIT </a:t>
            </a:r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VIT.D3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66" y="2455379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15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235" y="4120985"/>
            <a:ext cx="1625393" cy="1625393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4213005" y="3826246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b="1" dirty="0" smtClean="0">
                <a:solidFill>
                  <a:srgbClr val="6D6D6D"/>
                </a:solidFill>
                <a:latin typeface="Montserrat" panose="020B0604020202020204" charset="0"/>
              </a:rPr>
              <a:t>Adulte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: 1 à 2 gélules / jour pendant 1 à 3 mois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425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591" y="1035342"/>
            <a:ext cx="3819797" cy="3819797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7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495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Contribue au métabolisme énergétique normal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Contribue au maintien de l’</a:t>
            </a:r>
            <a:r>
              <a:rPr lang="fr-FR" sz="1200" dirty="0">
                <a:latin typeface="Montserrat" panose="020B0604020202020204" charset="0"/>
              </a:rPr>
              <a:t>é</a:t>
            </a:r>
            <a:r>
              <a:rPr lang="fr-FR" sz="1200" dirty="0" smtClean="0">
                <a:latin typeface="Montserrat" panose="020B0604020202020204" charset="0"/>
              </a:rPr>
              <a:t>tat normal des os et de la formation normal du tissu conjonctif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Favorise la protection des cellules contre les radicaux libre (effet antioxydant)</a:t>
            </a: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72" y="241990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GÉLULE</a:t>
            </a:r>
            <a:endParaRPr sz="1800" dirty="0"/>
          </a:p>
        </p:txBody>
      </p:sp>
      <p:sp>
        <p:nvSpPr>
          <p:cNvPr id="9" name="ZoneTexte 8"/>
          <p:cNvSpPr txBox="1"/>
          <p:nvPr/>
        </p:nvSpPr>
        <p:spPr>
          <a:xfrm>
            <a:off x="4220149" y="2868373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 mg de Manganèse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364015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sp>
        <p:nvSpPr>
          <p:cNvPr id="16" name="ZoneTexte 15"/>
          <p:cNvSpPr txBox="1"/>
          <p:nvPr/>
        </p:nvSpPr>
        <p:spPr>
          <a:xfrm>
            <a:off x="-370201" y="512122"/>
            <a:ext cx="4485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OLIGOVIT MANGANÈSE</a:t>
            </a: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66" y="2455379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15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235" y="4120985"/>
            <a:ext cx="1625393" cy="1625393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4213005" y="3826246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b="1" dirty="0" smtClean="0">
                <a:solidFill>
                  <a:srgbClr val="6D6D6D"/>
                </a:solidFill>
                <a:latin typeface="Montserrat" panose="020B0604020202020204" charset="0"/>
              </a:rPr>
              <a:t>Adulte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: 1 gélule / jour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81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137" y="1084188"/>
            <a:ext cx="3804343" cy="3804343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7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4" y="884052"/>
            <a:ext cx="3892841" cy="322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Effet cardio protecteur :</a:t>
            </a: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72" y="256992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GÉLULE</a:t>
            </a:r>
            <a:endParaRPr sz="1800" dirty="0"/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435455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sp>
        <p:nvSpPr>
          <p:cNvPr id="16" name="ZoneTexte 15"/>
          <p:cNvSpPr txBox="1"/>
          <p:nvPr/>
        </p:nvSpPr>
        <p:spPr>
          <a:xfrm>
            <a:off x="-182098" y="495336"/>
            <a:ext cx="4395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OLIGOVIT </a:t>
            </a:r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VIT.E 100mg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66" y="2455379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Capsules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235" y="4120985"/>
            <a:ext cx="1625393" cy="1625393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4213005" y="3897686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b="1" dirty="0" smtClean="0">
                <a:solidFill>
                  <a:srgbClr val="6D6D6D"/>
                </a:solidFill>
                <a:latin typeface="Montserrat" panose="020B0604020202020204" charset="0"/>
              </a:rPr>
              <a:t>Adulte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: Vit E 100 mg 1 à 2 capsules / jour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493418" y="1248434"/>
            <a:ext cx="35299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Empêche l’oxydation des LDL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Réduit l’apparition de l’athérosclérose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Anti inflammatoire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Anti plaquettaire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Vasodilatatrice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2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4" y="2258623"/>
            <a:ext cx="3892841" cy="322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Antioxydant majeur</a:t>
            </a: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 Medium" panose="00000600000000000000" pitchFamily="50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4213004" y="3012713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100 mg de Vitamine 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991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159" y="1046125"/>
            <a:ext cx="3781425" cy="3781425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7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4957"/>
            <a:ext cx="3892841" cy="322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Effet cardio protecteur :</a:t>
            </a: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72" y="256992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GÉLULE</a:t>
            </a:r>
            <a:endParaRPr sz="1800" dirty="0"/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435455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sp>
        <p:nvSpPr>
          <p:cNvPr id="16" name="ZoneTexte 15"/>
          <p:cNvSpPr txBox="1"/>
          <p:nvPr/>
        </p:nvSpPr>
        <p:spPr>
          <a:xfrm>
            <a:off x="105461" y="493369"/>
            <a:ext cx="4107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Montserrat ExtraBold" panose="00000900000000000000" pitchFamily="50" charset="0"/>
              </a:rPr>
              <a:t>OLIGOVIT </a:t>
            </a:r>
            <a:r>
              <a:rPr lang="fr-FR" sz="2400" dirty="0" smtClean="0">
                <a:solidFill>
                  <a:schemeClr val="bg1"/>
                </a:solidFill>
                <a:latin typeface="Montserrat ExtraBold" panose="00000900000000000000" pitchFamily="50" charset="0"/>
              </a:rPr>
              <a:t>VIT.E 200mg</a:t>
            </a:r>
            <a:endParaRPr lang="fr-FR" sz="2400" dirty="0">
              <a:solidFill>
                <a:schemeClr val="bg1"/>
              </a:solidFill>
              <a:latin typeface="Montserrat ExtraBold" panose="00000900000000000000" pitchFamily="50" charset="0"/>
            </a:endParaRP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66" y="2455379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Capsules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235" y="4120985"/>
            <a:ext cx="1625393" cy="1625393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4213005" y="3897686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b="1" dirty="0" smtClean="0">
                <a:solidFill>
                  <a:srgbClr val="6D6D6D"/>
                </a:solidFill>
                <a:latin typeface="Montserrat" panose="020B0604020202020204" charset="0"/>
              </a:rPr>
              <a:t>Adulte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: Vit E 200 mg 1 capsule / jour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500563" y="1207294"/>
            <a:ext cx="35299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Empêche l’oxydation des LDL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Réduit l’apparition de l’athérosclérose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Anti inflammatoire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Anti plaquettaire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Vasodilatatrice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2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4" y="2258623"/>
            <a:ext cx="3892841" cy="322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Antioxydant majeur</a:t>
            </a: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 Medium" panose="00000600000000000000" pitchFamily="50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4213004" y="3012713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2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00 mg de Vitamine 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71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0351" y="988023"/>
            <a:ext cx="4037697" cy="4037697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7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495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Contribue au métabolisme </a:t>
            </a:r>
            <a:r>
              <a:rPr lang="fr-FR" sz="1200" dirty="0" smtClean="0">
                <a:latin typeface="Montserrat" panose="020B0604020202020204" charset="0"/>
              </a:rPr>
              <a:t>du glucose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Aide a maintenir les capacités du corps à métaboliser les nutriments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Régulation de la glycémie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Augmente la sensibilité cellulaire liée à l’insuline</a:t>
            </a: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72" y="241990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GÉLULE</a:t>
            </a:r>
            <a:endParaRPr sz="1800" dirty="0"/>
          </a:p>
        </p:txBody>
      </p:sp>
      <p:sp>
        <p:nvSpPr>
          <p:cNvPr id="9" name="ZoneTexte 8"/>
          <p:cNvSpPr txBox="1"/>
          <p:nvPr/>
        </p:nvSpPr>
        <p:spPr>
          <a:xfrm>
            <a:off x="4220149" y="2868373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chroma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364015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sp>
        <p:nvSpPr>
          <p:cNvPr id="16" name="ZoneTexte 15"/>
          <p:cNvSpPr txBox="1"/>
          <p:nvPr/>
        </p:nvSpPr>
        <p:spPr>
          <a:xfrm>
            <a:off x="105461" y="493369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OLIGOVIT </a:t>
            </a:r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CHROME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66" y="2455379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15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235" y="4120985"/>
            <a:ext cx="1625393" cy="1625393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4213005" y="3826246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b="1" dirty="0" smtClean="0">
                <a:solidFill>
                  <a:srgbClr val="6D6D6D"/>
                </a:solidFill>
                <a:latin typeface="Montserrat" panose="020B0604020202020204" charset="0"/>
              </a:rPr>
              <a:t>Adulte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: 1 gélule / jour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15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4613" y="988187"/>
            <a:ext cx="3836501" cy="3836501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7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495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Protège les cellules contre le stresse oxydatif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Booste le système immunitaire</a:t>
            </a: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72" y="241990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GÉLULE</a:t>
            </a:r>
            <a:endParaRPr sz="1800" dirty="0"/>
          </a:p>
        </p:txBody>
      </p:sp>
      <p:sp>
        <p:nvSpPr>
          <p:cNvPr id="9" name="ZoneTexte 8"/>
          <p:cNvSpPr txBox="1"/>
          <p:nvPr/>
        </p:nvSpPr>
        <p:spPr>
          <a:xfrm>
            <a:off x="4220149" y="2868373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55 µg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Sélénium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364015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sp>
        <p:nvSpPr>
          <p:cNvPr id="16" name="ZoneTexte 15"/>
          <p:cNvSpPr txBox="1"/>
          <p:nvPr/>
        </p:nvSpPr>
        <p:spPr>
          <a:xfrm>
            <a:off x="105461" y="493369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 ExtraBold" panose="00000900000000000000" pitchFamily="50" charset="0"/>
              </a:rPr>
              <a:t>OLIGOVIT </a:t>
            </a:r>
            <a:r>
              <a:rPr lang="fr-FR" sz="2800" dirty="0" smtClean="0">
                <a:solidFill>
                  <a:schemeClr val="bg1"/>
                </a:solidFill>
                <a:latin typeface="Montserrat ExtraBold" panose="00000900000000000000" pitchFamily="50" charset="0"/>
              </a:rPr>
              <a:t>SÉLÉNIUM</a:t>
            </a:r>
            <a:endParaRPr lang="fr-FR" sz="2800" dirty="0">
              <a:solidFill>
                <a:schemeClr val="bg1"/>
              </a:solidFill>
              <a:latin typeface="Montserrat ExtraBold" panose="00000900000000000000" pitchFamily="50" charset="0"/>
            </a:endParaRP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66" y="2455379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15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235" y="4120985"/>
            <a:ext cx="1625393" cy="1625393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4213005" y="3826246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b="1" dirty="0" smtClean="0">
                <a:solidFill>
                  <a:srgbClr val="6D6D6D"/>
                </a:solidFill>
                <a:latin typeface="Montserrat" panose="020B0604020202020204" charset="0"/>
              </a:rPr>
              <a:t>Adulte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: 1 gélule / jour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66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7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495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endParaRPr lang="fr-FR" sz="1200" dirty="0" smtClean="0">
              <a:latin typeface="Montserrat" panose="020B0604020202020204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0" lvl="0" indent="0" algn="l"/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8578" y="297436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</a:t>
            </a:r>
            <a:r>
              <a:rPr lang="fr-FR" sz="1800" dirty="0" smtClean="0"/>
              <a:t>SACHET</a:t>
            </a:r>
            <a:endParaRPr sz="1800" dirty="0"/>
          </a:p>
        </p:txBody>
      </p:sp>
      <p:sp>
        <p:nvSpPr>
          <p:cNvPr id="9" name="ZoneTexte 8"/>
          <p:cNvSpPr txBox="1"/>
          <p:nvPr/>
        </p:nvSpPr>
        <p:spPr>
          <a:xfrm>
            <a:off x="4213004" y="3475168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1000 mg de l-</a:t>
            </a:r>
            <a:r>
              <a:rPr lang="fr-FR" sz="1200" dirty="0" err="1" smtClean="0">
                <a:solidFill>
                  <a:srgbClr val="6D6D6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carnitine</a:t>
            </a:r>
            <a:endParaRPr lang="fr-FR" sz="1200" dirty="0" smtClean="0">
              <a:solidFill>
                <a:srgbClr val="6D6D6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407447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sp>
        <p:nvSpPr>
          <p:cNvPr id="16" name="ZoneTexte 15"/>
          <p:cNvSpPr txBox="1"/>
          <p:nvPr/>
        </p:nvSpPr>
        <p:spPr>
          <a:xfrm>
            <a:off x="-310204" y="514026"/>
            <a:ext cx="4592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 ExtraBold" panose="00000900000000000000" pitchFamily="50" charset="0"/>
              </a:rPr>
              <a:t>OLIGOVIT </a:t>
            </a:r>
            <a:r>
              <a:rPr lang="fr-FR" sz="2800" dirty="0" smtClean="0">
                <a:solidFill>
                  <a:schemeClr val="bg1"/>
                </a:solidFill>
                <a:latin typeface="Montserrat ExtraBold" panose="00000900000000000000" pitchFamily="50" charset="0"/>
              </a:rPr>
              <a:t>L-CARNITINE</a:t>
            </a:r>
            <a:endParaRPr lang="fr-FR" sz="2800" dirty="0">
              <a:solidFill>
                <a:schemeClr val="bg1"/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Sachets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235" y="4120985"/>
            <a:ext cx="1625393" cy="1625393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4213005" y="4621444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b="1" dirty="0" smtClean="0">
                <a:solidFill>
                  <a:srgbClr val="6D6D6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Adulte </a:t>
            </a:r>
            <a:r>
              <a:rPr lang="fr-FR" sz="1200" dirty="0" smtClean="0">
                <a:solidFill>
                  <a:srgbClr val="6D6D6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1 à 2 sachets  / jour</a:t>
            </a:r>
            <a:endParaRPr lang="fr-FR" sz="1200" dirty="0">
              <a:solidFill>
                <a:srgbClr val="6D6D6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5"/>
          <p:cNvSpPr/>
          <p:nvPr/>
        </p:nvSpPr>
        <p:spPr>
          <a:xfrm>
            <a:off x="185207" y="1345324"/>
            <a:ext cx="2825695" cy="3490849"/>
          </a:xfrm>
          <a:custGeom>
            <a:avLst/>
            <a:gdLst/>
            <a:ahLst/>
            <a:cxnLst/>
            <a:rect l="l" t="t" r="r" b="b"/>
            <a:pathLst>
              <a:path w="5217871" h="6657818">
                <a:moveTo>
                  <a:pt x="0" y="0"/>
                </a:moveTo>
                <a:lnTo>
                  <a:pt x="5217872" y="0"/>
                </a:lnTo>
                <a:lnTo>
                  <a:pt x="5217872" y="6657819"/>
                </a:lnTo>
                <a:lnTo>
                  <a:pt x="0" y="66578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5"/>
          <p:cNvSpPr txBox="1"/>
          <p:nvPr/>
        </p:nvSpPr>
        <p:spPr>
          <a:xfrm>
            <a:off x="4278482" y="489562"/>
            <a:ext cx="4907890" cy="2962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ts val="3271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Futura Bold"/>
            </a:endParaRPr>
          </a:p>
          <a:p>
            <a:pPr marL="171450" indent="-171450" algn="just">
              <a:lnSpc>
                <a:spcPts val="3271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•</a:t>
            </a:r>
            <a:r>
              <a:rPr lang="en-US" sz="12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Favoriser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 le </a:t>
            </a:r>
            <a:r>
              <a:rPr lang="en-US" sz="12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métabolisme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 des </a:t>
            </a:r>
            <a:r>
              <a:rPr lang="en-US" sz="12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graisses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 pour </a:t>
            </a:r>
            <a:r>
              <a:rPr lang="en-US" sz="12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une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utilisation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comme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source </a:t>
            </a:r>
            <a:r>
              <a:rPr lang="en-US" sz="1200" dirty="0" err="1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d’énergie</a:t>
            </a: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Futura"/>
            </a:endParaRPr>
          </a:p>
          <a:p>
            <a:pPr marL="171450" indent="-171450">
              <a:lnSpc>
                <a:spcPts val="3271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•</a:t>
            </a:r>
            <a:r>
              <a:rPr lang="en-US" sz="12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Améliorer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 les performances </a:t>
            </a:r>
            <a:r>
              <a:rPr lang="en-US" sz="12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sportives</a:t>
            </a: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Futura"/>
            </a:endParaRPr>
          </a:p>
          <a:p>
            <a:pPr marL="171450" indent="-171450">
              <a:lnSpc>
                <a:spcPts val="3271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•</a:t>
            </a:r>
            <a:r>
              <a:rPr lang="en-US" sz="12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Favoriser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 la </a:t>
            </a:r>
            <a:r>
              <a:rPr lang="en-US" sz="12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perte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poids</a:t>
            </a:r>
            <a:endParaRPr lang="en-US" sz="1200" dirty="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Futura"/>
            </a:endParaRPr>
          </a:p>
          <a:p>
            <a:pPr marL="171450" indent="-171450">
              <a:lnSpc>
                <a:spcPts val="3271"/>
              </a:lnSpc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Améliore</a:t>
            </a:r>
            <a:r>
              <a:rPr lang="en-US" sz="1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 la </a:t>
            </a:r>
            <a:r>
              <a:rPr lang="en-US" sz="12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fertilité</a:t>
            </a:r>
            <a:r>
              <a:rPr lang="en-US" sz="1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 masculine anti </a:t>
            </a:r>
            <a:r>
              <a:rPr lang="en-US" sz="12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oxydant</a:t>
            </a:r>
            <a:r>
              <a:rPr lang="en-US" sz="1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 </a:t>
            </a:r>
            <a:r>
              <a:rPr lang="en-US" sz="12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utura"/>
              </a:rPr>
              <a:t>puisant</a:t>
            </a: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Futura"/>
            </a:endParaRPr>
          </a:p>
          <a:p>
            <a:pPr marL="171450" indent="-171450">
              <a:lnSpc>
                <a:spcPts val="3271"/>
              </a:lnSpc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  <a:latin typeface="Montserrat" panose="020B0604020202020204" charset="0"/>
              <a:ea typeface="Futura"/>
              <a:cs typeface="Futura"/>
              <a:sym typeface="Futura"/>
            </a:endParaRPr>
          </a:p>
        </p:txBody>
      </p:sp>
    </p:spTree>
    <p:extLst>
      <p:ext uri="{BB962C8B-B14F-4D97-AF65-F5344CB8AC3E}">
        <p14:creationId xmlns:p14="http://schemas.microsoft.com/office/powerpoint/2010/main" val="1551405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6961</TotalTime>
  <Words>712</Words>
  <Application>Microsoft Office PowerPoint</Application>
  <PresentationFormat>Affichage à l'écran (16:9)</PresentationFormat>
  <Paragraphs>251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6" baseType="lpstr">
      <vt:lpstr>Futura Bold</vt:lpstr>
      <vt:lpstr>Montserrat Medium</vt:lpstr>
      <vt:lpstr>Montserrat ExtraBold</vt:lpstr>
      <vt:lpstr>Poppins</vt:lpstr>
      <vt:lpstr>Calibri</vt:lpstr>
      <vt:lpstr>Montserrat</vt:lpstr>
      <vt:lpstr>Oswald Medium</vt:lpstr>
      <vt:lpstr>Raleway</vt:lpstr>
      <vt:lpstr>Arial</vt:lpstr>
      <vt:lpstr>Futura</vt:lpstr>
      <vt:lpstr>Minimalist SEO Strategy by Slidesgo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Gammes des  Laboratoires Vital</dc:title>
  <dc:creator>MED SAFOUANE MEDIOUN</dc:creator>
  <cp:lastModifiedBy>a</cp:lastModifiedBy>
  <cp:revision>189</cp:revision>
  <dcterms:modified xsi:type="dcterms:W3CDTF">2026-03-10T09:41:25Z</dcterms:modified>
</cp:coreProperties>
</file>