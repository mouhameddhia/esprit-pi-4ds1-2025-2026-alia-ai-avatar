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4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4B29A-C6B3-4E6E-9A5E-2C7CA50896E7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34C21-34F2-4735-8BBD-CAA248EA9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3312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2682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1304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3109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9658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3922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5019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356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12B8-9537-4695-990C-1962F220BC0D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2034-53F0-42F7-9078-EA9A372A5F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3401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12B8-9537-4695-990C-1962F220BC0D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2034-53F0-42F7-9078-EA9A372A5F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817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12B8-9537-4695-990C-1962F220BC0D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2034-53F0-42F7-9078-EA9A372A5F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55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12B8-9537-4695-990C-1962F220BC0D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2034-53F0-42F7-9078-EA9A372A5F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05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12B8-9537-4695-990C-1962F220BC0D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2034-53F0-42F7-9078-EA9A372A5F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072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12B8-9537-4695-990C-1962F220BC0D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2034-53F0-42F7-9078-EA9A372A5F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56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12B8-9537-4695-990C-1962F220BC0D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2034-53F0-42F7-9078-EA9A372A5F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2714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12B8-9537-4695-990C-1962F220BC0D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2034-53F0-42F7-9078-EA9A372A5F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1192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12B8-9537-4695-990C-1962F220BC0D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2034-53F0-42F7-9078-EA9A372A5F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381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12B8-9537-4695-990C-1962F220BC0D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2034-53F0-42F7-9078-EA9A372A5F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31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412B8-9537-4695-990C-1962F220BC0D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2034-53F0-42F7-9078-EA9A372A5F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778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488399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241733" y="3100717"/>
            <a:ext cx="4671200" cy="8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6241733" y="3759040"/>
            <a:ext cx="37584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720000" y="3263133"/>
            <a:ext cx="1418467" cy="4319667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805850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412B8-9537-4695-990C-1962F220BC0D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52034-53F0-42F7-9078-EA9A372A5F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0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2379229" y="445106"/>
            <a:ext cx="8050647" cy="139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6400" cap="all" dirty="0" smtClean="0">
                <a:solidFill>
                  <a:srgbClr val="E14D4D"/>
                </a:solidFill>
              </a:rPr>
              <a:t>PHYTOL</a:t>
            </a:r>
            <a:endParaRPr lang="fr-FR" sz="6667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523727" y="445106"/>
            <a:ext cx="1738332" cy="1407148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E14D4D"/>
              </a:solidFill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853440" y="764679"/>
            <a:ext cx="768000" cy="768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3200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974" y="-212875"/>
            <a:ext cx="2719009" cy="271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10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323458"/>
            <a:ext cx="3715600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617341" y="1269477"/>
            <a:ext cx="5190455" cy="19201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/>
            <a:endParaRPr lang="fr-FR" sz="1600" dirty="0">
              <a:latin typeface="quote-cjk-patch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378334" y="2114325"/>
            <a:ext cx="5233964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COMPOSITION</a:t>
            </a:r>
            <a:endParaRPr sz="24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608300" y="766674"/>
            <a:ext cx="7929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bg1"/>
                </a:solidFill>
              </a:rPr>
              <a:t>PHYTOL BAIN DE BOUCHE GENCIVES SENSIBLES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09946" y="4371051"/>
            <a:ext cx="5233964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</a:t>
            </a:r>
            <a:endParaRPr sz="2400" dirty="0"/>
          </a:p>
        </p:txBody>
      </p:sp>
      <p:sp>
        <p:nvSpPr>
          <p:cNvPr id="14" name="Arrondir un rectangle avec un coin diagonal 13"/>
          <p:cNvSpPr/>
          <p:nvPr/>
        </p:nvSpPr>
        <p:spPr>
          <a:xfrm>
            <a:off x="3949940" y="2403906"/>
            <a:ext cx="1093001" cy="37283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" name="ZoneTexte 4"/>
          <p:cNvSpPr txBox="1"/>
          <p:nvPr/>
        </p:nvSpPr>
        <p:spPr>
          <a:xfrm>
            <a:off x="3822789" y="2403906"/>
            <a:ext cx="1794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2400" b="1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225ML</a:t>
            </a:r>
            <a:endParaRPr lang="fr-FR" sz="2400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783047" y="1920241"/>
            <a:ext cx="1305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LOTION</a:t>
            </a:r>
            <a:endParaRPr lang="fr-FR" sz="24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669" y="-827761"/>
            <a:ext cx="2631185" cy="2631185"/>
          </a:xfrm>
          <a:prstGeom prst="rect">
            <a:avLst/>
          </a:prstGeom>
        </p:spPr>
      </p:pic>
      <p:pic>
        <p:nvPicPr>
          <p:cNvPr id="1028" name="Picture 4" descr="https://vital.com.tn/wp-content/uploads/2024/07/PHYTOL-Bain-de-bouche-Gel-gencive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90" y="2466051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804263" y="829913"/>
            <a:ext cx="638773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 Indiqué en cas de gingivite, de sensibilité dentinaire cervicale et d’inflammation gingivale modérée.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 Utilisé dans la prise en charge des gingivites, de l’hypersensibilité dentinaire cervicale et de l’inflammation gingivale légère à modérée.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 Contribue au soulagement des gingivites, de la sensibilité dentinaire cervicale et des inflammations gingivales modérées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99691" y="2368070"/>
            <a:ext cx="548250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>
                <a:effectLst/>
                <a:latin typeface="Montserrat" panose="020B0604020202020204"/>
              </a:rPr>
              <a:t/>
            </a:r>
            <a:br>
              <a:rPr lang="fr-FR" sz="1400" dirty="0" smtClean="0">
                <a:effectLst/>
                <a:latin typeface="Montserrat" panose="020B0604020202020204"/>
              </a:rPr>
            </a:br>
            <a:r>
              <a:rPr lang="fr-FR" sz="1400" dirty="0" smtClean="0">
                <a:effectLst/>
                <a:latin typeface="Montserrat" panose="020B0604020202020204"/>
              </a:rPr>
              <a:t>• </a:t>
            </a:r>
            <a:r>
              <a:rPr lang="fr-FR" sz="1400" dirty="0" err="1" smtClean="0">
                <a:effectLst/>
                <a:latin typeface="Montserrat" panose="020B0604020202020204"/>
              </a:rPr>
              <a:t>Digluconate</a:t>
            </a:r>
            <a:r>
              <a:rPr lang="fr-FR" sz="1400" dirty="0" smtClean="0">
                <a:effectLst/>
                <a:latin typeface="Montserrat" panose="020B0604020202020204"/>
              </a:rPr>
              <a:t> de Chlorhexidine.</a:t>
            </a:r>
            <a:br>
              <a:rPr lang="fr-FR" sz="1400" dirty="0" smtClean="0">
                <a:effectLst/>
                <a:latin typeface="Montserrat" panose="020B0604020202020204"/>
              </a:rPr>
            </a:br>
            <a:r>
              <a:rPr lang="fr-FR" sz="1400" dirty="0" smtClean="0">
                <a:effectLst/>
                <a:latin typeface="Montserrat" panose="020B0604020202020204"/>
              </a:rPr>
              <a:t>• Huile essentielle  de Girofle .</a:t>
            </a:r>
            <a:br>
              <a:rPr lang="fr-FR" sz="1400" dirty="0" smtClean="0">
                <a:effectLst/>
                <a:latin typeface="Montserrat" panose="020B0604020202020204"/>
              </a:rPr>
            </a:br>
            <a:r>
              <a:rPr lang="fr-FR" sz="1400" dirty="0" smtClean="0">
                <a:effectLst/>
                <a:latin typeface="Montserrat" panose="020B0604020202020204"/>
              </a:rPr>
              <a:t>• </a:t>
            </a:r>
            <a:r>
              <a:rPr lang="fr-FR" sz="1400" dirty="0" err="1" smtClean="0">
                <a:effectLst/>
                <a:latin typeface="Montserrat" panose="020B0604020202020204"/>
              </a:rPr>
              <a:t>Methyl</a:t>
            </a:r>
            <a:r>
              <a:rPr lang="fr-FR" sz="1400" dirty="0" smtClean="0">
                <a:effectLst/>
                <a:latin typeface="Montserrat" panose="020B0604020202020204"/>
              </a:rPr>
              <a:t> salicylate</a:t>
            </a:r>
          </a:p>
          <a:p>
            <a:r>
              <a:rPr lang="fr-FR" sz="1400" dirty="0" smtClean="0">
                <a:effectLst/>
                <a:latin typeface="Montserrat" panose="020B0604020202020204"/>
              </a:rPr>
              <a:t> Menthol.:</a:t>
            </a:r>
            <a:br>
              <a:rPr lang="fr-FR" sz="1400" dirty="0" smtClean="0">
                <a:effectLst/>
                <a:latin typeface="Montserrat" panose="020B0604020202020204"/>
              </a:rPr>
            </a:br>
            <a:r>
              <a:rPr lang="fr-FR" sz="1400" dirty="0" smtClean="0">
                <a:effectLst/>
                <a:latin typeface="Montserrat" panose="020B0604020202020204"/>
              </a:rPr>
              <a:t>• Aloès </a:t>
            </a:r>
            <a:r>
              <a:rPr lang="fr-FR" sz="1400" dirty="0" err="1" smtClean="0">
                <a:effectLst/>
                <a:latin typeface="Montserrat" panose="020B0604020202020204"/>
              </a:rPr>
              <a:t>vera</a:t>
            </a:r>
            <a:r>
              <a:rPr lang="fr-FR" sz="1400" dirty="0" smtClean="0">
                <a:effectLst/>
                <a:latin typeface="Montserrat" panose="020B0604020202020204"/>
              </a:rPr>
              <a:t>.</a:t>
            </a:r>
            <a:br>
              <a:rPr lang="fr-FR" sz="1400" dirty="0" smtClean="0">
                <a:effectLst/>
                <a:latin typeface="Montserrat" panose="020B0604020202020204"/>
              </a:rPr>
            </a:br>
            <a:r>
              <a:rPr lang="fr-FR" sz="1400" dirty="0" smtClean="0">
                <a:effectLst/>
                <a:latin typeface="Montserrat" panose="020B0604020202020204"/>
              </a:rPr>
              <a:t>• Extrait de réglisse</a:t>
            </a:r>
            <a:br>
              <a:rPr lang="fr-FR" sz="1400" dirty="0" smtClean="0">
                <a:effectLst/>
                <a:latin typeface="Montserrat" panose="020B0604020202020204"/>
              </a:rPr>
            </a:br>
            <a:r>
              <a:rPr lang="fr-FR" sz="1400" dirty="0" smtClean="0">
                <a:effectLst/>
                <a:latin typeface="Montserrat" panose="020B0604020202020204"/>
              </a:rPr>
              <a:t>• Allantoïne.</a:t>
            </a:r>
            <a:br>
              <a:rPr lang="fr-FR" sz="1400" dirty="0" smtClean="0">
                <a:effectLst/>
                <a:latin typeface="Montserrat" panose="020B0604020202020204"/>
              </a:rPr>
            </a:br>
            <a:r>
              <a:rPr lang="fr-FR" sz="1400" dirty="0" smtClean="0">
                <a:effectLst/>
                <a:latin typeface="Montserrat" panose="020B0604020202020204"/>
              </a:rPr>
              <a:t>• Glycérine.</a:t>
            </a:r>
            <a:endParaRPr lang="fr-FR" sz="1400" dirty="0">
              <a:effectLst/>
              <a:latin typeface="Montserrat" panose="020B0604020202020204"/>
            </a:endParaRPr>
          </a:p>
        </p:txBody>
      </p:sp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154703"/>
              </p:ext>
            </p:extLst>
          </p:nvPr>
        </p:nvGraphicFramePr>
        <p:xfrm>
          <a:off x="5824676" y="5077318"/>
          <a:ext cx="4983120" cy="13424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5780"/>
                <a:gridCol w="3737340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4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400" cap="all" baseline="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/>
                        </a:rPr>
                        <a:t>UTILISATION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/>
                        </a:rPr>
                        <a:t>Adulte</a:t>
                      </a:r>
                      <a:r>
                        <a:rPr lang="fr-FR" sz="1400" baseline="0" dirty="0" smtClean="0">
                          <a:latin typeface="Montserrat" panose="020B0604020202020204"/>
                        </a:rPr>
                        <a:t> et enfant à partir de 12 ans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Utiliser quotidiennement 2 à 3 fois par jour pendant 30 secondes après le brossage avec 10-15 ml par prise. </a:t>
                      </a:r>
                    </a:p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A utiliser pur ou </a:t>
                      </a:r>
                      <a:r>
                        <a:rPr lang="fr-FR" sz="1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dilué.Ne</a:t>
                      </a:r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 pas avaler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292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413429"/>
            <a:ext cx="3715600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35581" y="2630691"/>
            <a:ext cx="5233964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COMPOSITION</a:t>
            </a:r>
            <a:endParaRPr sz="2400" dirty="0"/>
          </a:p>
        </p:txBody>
      </p:sp>
      <p:sp>
        <p:nvSpPr>
          <p:cNvPr id="21" name="ZoneTexte 20"/>
          <p:cNvSpPr txBox="1"/>
          <p:nvPr/>
        </p:nvSpPr>
        <p:spPr>
          <a:xfrm>
            <a:off x="142327" y="713184"/>
            <a:ext cx="7929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bg1"/>
                </a:solidFill>
              </a:rPr>
              <a:t>PHYTOL BAIN DE BOUCHE SECHE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869009" y="4797413"/>
            <a:ext cx="5233964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</a:t>
            </a:r>
            <a:endParaRPr sz="24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956076"/>
              </p:ext>
            </p:extLst>
          </p:nvPr>
        </p:nvGraphicFramePr>
        <p:xfrm>
          <a:off x="6119853" y="5515575"/>
          <a:ext cx="4983120" cy="13424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5780"/>
                <a:gridCol w="3737340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4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400" cap="all" baseline="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 charset="0"/>
                        </a:rPr>
                        <a:t>Adulte en</a:t>
                      </a:r>
                      <a:r>
                        <a:rPr lang="fr-FR" sz="1400" baseline="0" dirty="0" smtClean="0">
                          <a:latin typeface="Montserrat" panose="020B0604020202020204" charset="0"/>
                        </a:rPr>
                        <a:t>fant à partir de </a:t>
                      </a:r>
                      <a:endParaRPr lang="fr-FR" sz="14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Utiliser quotidiennement 2 à 3 fois par jour pendant 30 secondes après le brossage avec 10-15 ml par prise. </a:t>
                      </a:r>
                    </a:p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A utiliser pur ou </a:t>
                      </a:r>
                      <a:r>
                        <a:rPr lang="fr-FR" sz="1400" b="0" i="0" u="none" strike="noStrike" kern="1200" baseline="0" dirty="0" err="1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dilué.Ne</a:t>
                      </a:r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 pas avaler 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3949940" y="2403906"/>
            <a:ext cx="1093001" cy="37283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" name="ZoneTexte 4"/>
          <p:cNvSpPr txBox="1"/>
          <p:nvPr/>
        </p:nvSpPr>
        <p:spPr>
          <a:xfrm>
            <a:off x="3822789" y="2403906"/>
            <a:ext cx="1794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2400" b="1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225ML</a:t>
            </a:r>
            <a:endParaRPr lang="fr-FR" sz="2400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783047" y="1920241"/>
            <a:ext cx="1305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LOTION</a:t>
            </a:r>
            <a:endParaRPr lang="fr-FR" sz="24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669" y="-827761"/>
            <a:ext cx="2631185" cy="2631185"/>
          </a:xfrm>
          <a:prstGeom prst="rect">
            <a:avLst/>
          </a:prstGeom>
        </p:spPr>
      </p:pic>
      <p:pic>
        <p:nvPicPr>
          <p:cNvPr id="2052" name="Picture 4" descr="https://vital.com.tn/wp-content/uploads/2024/07/PHYTOL-Bain-de-bouche-sech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41" y="2466051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/>
          <p:cNvSpPr>
            <a:spLocks noGrp="1" noChangeArrowheads="1"/>
          </p:cNvSpPr>
          <p:nvPr>
            <p:ph type="subTitle" idx="13"/>
          </p:nvPr>
        </p:nvSpPr>
        <p:spPr bwMode="auto">
          <a:xfrm>
            <a:off x="5849468" y="850997"/>
            <a:ext cx="548243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sz="1400" dirty="0">
                <a:latin typeface="Montserrat" panose="020B0604020202020204"/>
              </a:rPr>
              <a:t>I</a:t>
            </a: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ndiqué dans le traitement symptomatique de la xérostomie, avec action d’humidification et de protection de la muqueuse buccale.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Contribue au soulagement de la xérostomie en assurant l’hydratation et la protection de la muqueuse buccale.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Participe à la prise en charge symptomatique de la xérostomie en favorisant l’humidification et la protection des muqueuses buccales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2669" y="3039648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b="0" dirty="0" smtClean="0">
                <a:effectLst/>
                <a:latin typeface="Montserrat" panose="020B0604020202020204"/>
              </a:rPr>
              <a:t/>
            </a:r>
            <a:br>
              <a:rPr lang="fr-FR" sz="1400" b="0" dirty="0" smtClean="0">
                <a:effectLst/>
                <a:latin typeface="Montserrat" panose="020B0604020202020204"/>
              </a:rPr>
            </a:br>
            <a:r>
              <a:rPr lang="fr-FR" sz="1400" b="0" dirty="0" smtClean="0">
                <a:effectLst/>
                <a:latin typeface="Montserrat" panose="020B0604020202020204"/>
              </a:rPr>
              <a:t>•  Bicarbonate de sodium.</a:t>
            </a:r>
            <a:br>
              <a:rPr lang="fr-FR" sz="1400" b="0" dirty="0" smtClean="0">
                <a:effectLst/>
                <a:latin typeface="Montserrat" panose="020B0604020202020204"/>
              </a:rPr>
            </a:br>
            <a:r>
              <a:rPr lang="fr-FR" sz="1400" b="0" dirty="0" smtClean="0">
                <a:effectLst/>
                <a:latin typeface="Montserrat" panose="020B0604020202020204"/>
              </a:rPr>
              <a:t>•  Acide </a:t>
            </a:r>
            <a:r>
              <a:rPr lang="fr-FR" sz="1400" b="0" dirty="0" err="1" smtClean="0">
                <a:effectLst/>
                <a:latin typeface="Montserrat" panose="020B0604020202020204"/>
              </a:rPr>
              <a:t>hyaluronique</a:t>
            </a:r>
            <a:r>
              <a:rPr lang="fr-FR" sz="1400" b="0" dirty="0" smtClean="0">
                <a:effectLst/>
                <a:latin typeface="Montserrat" panose="020B0604020202020204"/>
              </a:rPr>
              <a:t> (HA) de bas poids moléculaire.</a:t>
            </a:r>
            <a:br>
              <a:rPr lang="fr-FR" sz="1400" b="0" dirty="0" smtClean="0">
                <a:effectLst/>
                <a:latin typeface="Montserrat" panose="020B0604020202020204"/>
              </a:rPr>
            </a:br>
            <a:r>
              <a:rPr lang="fr-FR" sz="1400" b="0" dirty="0" smtClean="0">
                <a:effectLst/>
                <a:latin typeface="Montserrat" panose="020B0604020202020204"/>
              </a:rPr>
              <a:t>•  Glycérine (probable).</a:t>
            </a:r>
            <a:br>
              <a:rPr lang="fr-FR" sz="1400" b="0" dirty="0" smtClean="0">
                <a:effectLst/>
                <a:latin typeface="Montserrat" panose="020B0604020202020204"/>
              </a:rPr>
            </a:br>
            <a:r>
              <a:rPr lang="fr-FR" sz="1400" b="0" dirty="0" smtClean="0">
                <a:effectLst/>
                <a:latin typeface="Montserrat" panose="020B0604020202020204"/>
              </a:rPr>
              <a:t>•  Allantoïne.</a:t>
            </a:r>
            <a:br>
              <a:rPr lang="fr-FR" sz="1400" b="0" dirty="0" smtClean="0">
                <a:effectLst/>
                <a:latin typeface="Montserrat" panose="020B0604020202020204"/>
              </a:rPr>
            </a:br>
            <a:r>
              <a:rPr lang="fr-FR" sz="1400" b="0" dirty="0" smtClean="0">
                <a:effectLst/>
                <a:latin typeface="Montserrat" panose="020B0604020202020204"/>
              </a:rPr>
              <a:t>•  Extrait sec de gingembre (</a:t>
            </a:r>
            <a:r>
              <a:rPr lang="fr-FR" sz="1400" b="0" dirty="0" err="1" smtClean="0">
                <a:effectLst/>
                <a:latin typeface="Montserrat" panose="020B0604020202020204"/>
              </a:rPr>
              <a:t>gingérols</a:t>
            </a:r>
            <a:r>
              <a:rPr lang="fr-FR" sz="1400" b="0" dirty="0" smtClean="0">
                <a:effectLst/>
                <a:latin typeface="Montserrat" panose="020B0604020202020204"/>
              </a:rPr>
              <a:t>, </a:t>
            </a:r>
            <a:r>
              <a:rPr lang="fr-FR" sz="1400" b="0" dirty="0" err="1" smtClean="0">
                <a:effectLst/>
                <a:latin typeface="Montserrat" panose="020B0604020202020204"/>
              </a:rPr>
              <a:t>shogaols</a:t>
            </a:r>
            <a:r>
              <a:rPr lang="fr-FR" sz="1400" b="0" dirty="0" smtClean="0">
                <a:effectLst/>
                <a:latin typeface="Montserrat" panose="020B0604020202020204"/>
              </a:rPr>
              <a:t>).</a:t>
            </a:r>
            <a:endParaRPr lang="fr-FR" sz="1400" b="0" dirty="0">
              <a:effectLst/>
              <a:latin typeface="Montserrat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9017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4848559" y="654824"/>
            <a:ext cx="3715600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2992698" y="2649651"/>
            <a:ext cx="7584291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fr-FR" sz="2400" dirty="0" smtClean="0"/>
              <a:t>COMPOSITION</a:t>
            </a:r>
            <a:endParaRPr lang="fr-FR" sz="2400" b="0" dirty="0"/>
          </a:p>
        </p:txBody>
      </p:sp>
      <p:sp>
        <p:nvSpPr>
          <p:cNvPr id="21" name="ZoneTexte 20"/>
          <p:cNvSpPr txBox="1"/>
          <p:nvPr/>
        </p:nvSpPr>
        <p:spPr>
          <a:xfrm>
            <a:off x="-320606" y="754655"/>
            <a:ext cx="7929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bg1"/>
                </a:solidFill>
              </a:rPr>
              <a:t>PHYTOL BAIN DE BOUCHE HALEINE FRAICHE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699668" y="5023336"/>
            <a:ext cx="5233964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</a:t>
            </a:r>
            <a:endParaRPr sz="24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567310"/>
              </p:ext>
            </p:extLst>
          </p:nvPr>
        </p:nvGraphicFramePr>
        <p:xfrm>
          <a:off x="5872833" y="5515720"/>
          <a:ext cx="4983120" cy="13424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5780"/>
                <a:gridCol w="3737340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4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400" cap="all" baseline="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/>
                        </a:rPr>
                        <a:t>UTILISATION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/>
                        </a:rPr>
                        <a:t>Adulte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Utiliser quotidiennement 2 à 3 fois par jour pendant 30 secondes après le brossage avec 10-15 ml par prise. </a:t>
                      </a:r>
                    </a:p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A utiliser pur ou dilué. Ne pas avaler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3949940" y="2403906"/>
            <a:ext cx="1093001" cy="37283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" name="ZoneTexte 4"/>
          <p:cNvSpPr txBox="1"/>
          <p:nvPr/>
        </p:nvSpPr>
        <p:spPr>
          <a:xfrm>
            <a:off x="3822789" y="2403906"/>
            <a:ext cx="1794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2400" b="1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225ML</a:t>
            </a:r>
            <a:endParaRPr lang="fr-FR" sz="2400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783047" y="1920241"/>
            <a:ext cx="1305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LOTION</a:t>
            </a:r>
            <a:endParaRPr lang="fr-FR" sz="24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669" y="-827761"/>
            <a:ext cx="2631185" cy="2631185"/>
          </a:xfrm>
          <a:prstGeom prst="rect">
            <a:avLst/>
          </a:prstGeom>
        </p:spPr>
      </p:pic>
      <p:pic>
        <p:nvPicPr>
          <p:cNvPr id="6146" name="Picture 2" descr="https://vital.com.tn/wp-content/uploads/2024/07/PHYTOL-Bain-de-bouche-Halaine-fraich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22" y="1920241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5699668" y="1123908"/>
            <a:ext cx="5071077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      Produit d’hygiène bucco-dentaire contribuant à l’assainissement de la muqueuse buccale et au rafraîchissement de l’haleine.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     Favorise l’équilibre de l’écosystème buccal tout en procurant une haleine fraîche.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    Participe à l’assainissement de la cavité buccale et à la neutralisation des odeurs responsables de l’</a:t>
            </a:r>
            <a:r>
              <a:rPr kumimoji="0" lang="fr-FR" sz="1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halitose</a:t>
            </a:r>
            <a:endParaRPr kumimoji="0" lang="fr-FR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ontserrat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964" y="2631933"/>
            <a:ext cx="6305943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fr-FR" sz="3200" b="0" i="0" u="none" strike="noStrike" baseline="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Arginine (ARGININE) 3,173g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Extrait sec de thé vert (</a:t>
            </a:r>
            <a:r>
              <a:rPr lang="en-US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CAMELLIA SINENSIS LEAF EXTRACT )2,115g </a:t>
            </a:r>
            <a:r>
              <a:rPr lang="fr-FR" sz="1400" i="0" u="none" strike="noStrike" baseline="0" dirty="0" err="1" smtClean="0">
                <a:solidFill>
                  <a:srgbClr val="000000"/>
                </a:solidFill>
                <a:latin typeface="Montserrat" panose="020B0604020202020204"/>
              </a:rPr>
              <a:t>Bisabolol</a:t>
            </a: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 (BISABOLOL) 0,212g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Huile essentielle d'eucalyptus (</a:t>
            </a:r>
            <a:r>
              <a:rPr lang="en-US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EUCALYPTUS GLOBULUS LEAF OIL0)19g </a:t>
            </a:r>
            <a:r>
              <a:rPr lang="fr-FR" sz="1400" i="0" u="none" strike="noStrike" baseline="0" dirty="0" err="1" smtClean="0">
                <a:solidFill>
                  <a:srgbClr val="000000"/>
                </a:solidFill>
                <a:latin typeface="Montserrat" panose="020B0604020202020204"/>
              </a:rPr>
              <a:t>Methyl</a:t>
            </a: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 </a:t>
            </a:r>
            <a:r>
              <a:rPr lang="fr-FR" sz="1400" i="0" u="none" strike="noStrike" baseline="0" dirty="0" err="1" smtClean="0">
                <a:solidFill>
                  <a:srgbClr val="000000"/>
                </a:solidFill>
                <a:latin typeface="Montserrat" panose="020B0604020202020204"/>
              </a:rPr>
              <a:t>salycilate</a:t>
            </a: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 (METHYL SALICYLATE) 0,127g </a:t>
            </a: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	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0049" y="4188164"/>
            <a:ext cx="67315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Huile essentielle de thym (THYMUS VULGARIS OIL )0,127g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Huile essentielle d'arbre à thé (MELALEUCA ALTERNIFOLIA LEAF OIL)0,11g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Sulfate de zinc </a:t>
            </a:r>
            <a:r>
              <a:rPr lang="fr-FR" sz="1400" i="0" u="none" strike="noStrike" baseline="0" dirty="0" err="1" smtClean="0">
                <a:solidFill>
                  <a:srgbClr val="000000"/>
                </a:solidFill>
                <a:latin typeface="Montserrat" panose="020B0604020202020204"/>
              </a:rPr>
              <a:t>monohydraté</a:t>
            </a: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 (ZINC SULFATE) 0,11g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Menthol (MENTHOL) 0,085g 	</a:t>
            </a:r>
          </a:p>
        </p:txBody>
      </p:sp>
    </p:spTree>
    <p:extLst>
      <p:ext uri="{BB962C8B-B14F-4D97-AF65-F5344CB8AC3E}">
        <p14:creationId xmlns:p14="http://schemas.microsoft.com/office/powerpoint/2010/main" val="45178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88115" y="310655"/>
            <a:ext cx="3715600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617341" y="1269477"/>
            <a:ext cx="5190455" cy="19201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endParaRPr lang="fr-FR" sz="1600" dirty="0">
              <a:latin typeface="Montserrat" panose="020B0604020202020204"/>
            </a:endParaRPr>
          </a:p>
          <a:p>
            <a:pPr marL="0" indent="0" algn="l"/>
            <a:endParaRPr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35581" y="1492002"/>
            <a:ext cx="5233964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COMPOSITION</a:t>
            </a:r>
            <a:endParaRPr sz="24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118040" y="771827"/>
            <a:ext cx="7929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bg1"/>
                </a:solidFill>
              </a:rPr>
              <a:t>PHYTOL BAIN DE BOUCHE ANTISEPTIQUE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09946" y="4233782"/>
            <a:ext cx="5233964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</a:t>
            </a:r>
            <a:endParaRPr sz="24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237300"/>
              </p:ext>
            </p:extLst>
          </p:nvPr>
        </p:nvGraphicFramePr>
        <p:xfrm>
          <a:off x="5617340" y="4858133"/>
          <a:ext cx="6540749" cy="1737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35188"/>
                <a:gridCol w="4905561"/>
              </a:tblGrid>
              <a:tr h="294039">
                <a:tc>
                  <a:txBody>
                    <a:bodyPr/>
                    <a:lstStyle/>
                    <a:p>
                      <a:r>
                        <a:rPr lang="fr-FR" sz="14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400" cap="all" baseline="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/>
                        </a:rPr>
                        <a:t>UTILISATION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</a:tr>
              <a:tr h="1224355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/>
                        </a:rPr>
                        <a:t>Adulte et Enfant</a:t>
                      </a:r>
                      <a:r>
                        <a:rPr lang="fr-FR" sz="1400" baseline="0" dirty="0" smtClean="0">
                          <a:latin typeface="Montserrat" panose="020B0604020202020204"/>
                        </a:rPr>
                        <a:t> à partir de 6 ans 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Utiliser quotidiennement 2 à 3 fois par jour pendant 30 secondes après le brossage avec 10-15 ml par prise. </a:t>
                      </a:r>
                    </a:p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A utiliser pur ou dilué. </a:t>
                      </a:r>
                    </a:p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Ne pas avaler. </a:t>
                      </a:r>
                    </a:p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Convient aux adultes et aux enfants à partir de l’âge de 6 ans 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3949940" y="2403906"/>
            <a:ext cx="1093001" cy="37283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" name="ZoneTexte 4"/>
          <p:cNvSpPr txBox="1"/>
          <p:nvPr/>
        </p:nvSpPr>
        <p:spPr>
          <a:xfrm>
            <a:off x="3822789" y="2403906"/>
            <a:ext cx="1794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2400" b="1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225ML</a:t>
            </a:r>
            <a:endParaRPr lang="fr-FR" sz="2400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783047" y="1920241"/>
            <a:ext cx="1305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LOTION</a:t>
            </a:r>
            <a:endParaRPr lang="fr-FR" sz="24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669" y="-827761"/>
            <a:ext cx="2631185" cy="2631185"/>
          </a:xfrm>
          <a:prstGeom prst="rect">
            <a:avLst/>
          </a:prstGeom>
        </p:spPr>
      </p:pic>
      <p:pic>
        <p:nvPicPr>
          <p:cNvPr id="5122" name="Picture 2" descr="https://vital.com.tn/wp-content/uploads/2023/10/PHYTOL-BAIN-DE-BOUCHE-Antiseptiqu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20" y="1764576"/>
            <a:ext cx="3243314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5617340" y="857467"/>
            <a:ext cx="457529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Rafraîchit durablement l’haleine.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Contribue à l’assainissement de la muqueuse buccale.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Élimine efficacement les résidus alimentaires.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17340" y="2025949"/>
            <a:ext cx="6661988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400" b="0" i="0" u="none" strike="noStrike" baseline="0" dirty="0" smtClean="0">
              <a:solidFill>
                <a:srgbClr val="000000"/>
              </a:solidFill>
              <a:latin typeface="Montserrat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Extrait sec de Sauge sclarée (SALVIA SCLAREA EXTRACT )4.572 g Extrait sec de camomille matricaire (CHAMOMILLA RECUTITA FLOWER EXTRACT)2.286 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Extrait alcoolique de résine de myrrhe (COMMIPHORA MYRRHA RESIN EXTRACT) 1.143 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Huile essentielle d’Eucalyptus (</a:t>
            </a:r>
            <a:r>
              <a:rPr lang="en-US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EUCALYPTUS GLOBULUS LEAF OIL)0.210 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Montserrat" panose="020B0604020202020204"/>
              </a:rPr>
              <a:t>Huile </a:t>
            </a:r>
            <a:r>
              <a:rPr lang="fr-FR" sz="1400" dirty="0">
                <a:latin typeface="Montserrat" panose="020B0604020202020204"/>
              </a:rPr>
              <a:t>essentielle de Thym </a:t>
            </a:r>
            <a:r>
              <a:rPr lang="fr-FR" sz="1400" dirty="0" smtClean="0">
                <a:latin typeface="Montserrat" panose="020B0604020202020204"/>
              </a:rPr>
              <a:t>(</a:t>
            </a:r>
            <a:r>
              <a:rPr lang="en-US" sz="1400" dirty="0" smtClean="0">
                <a:latin typeface="Montserrat" panose="020B0604020202020204"/>
              </a:rPr>
              <a:t>THYMUS </a:t>
            </a:r>
            <a:r>
              <a:rPr lang="en-US" sz="1400" dirty="0">
                <a:latin typeface="Montserrat" panose="020B0604020202020204"/>
              </a:rPr>
              <a:t>VULGARIS FLOWER/LEAF OIL </a:t>
            </a:r>
            <a:r>
              <a:rPr lang="en-US" sz="1400" dirty="0" smtClean="0">
                <a:latin typeface="Montserrat" panose="020B0604020202020204"/>
              </a:rPr>
              <a:t>) 0.146g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" panose="020B0604020202020204"/>
              </a:rPr>
              <a:t> </a:t>
            </a:r>
            <a:r>
              <a:rPr lang="fr-FR" sz="1400" dirty="0" err="1" smtClean="0">
                <a:latin typeface="Montserrat" panose="020B0604020202020204"/>
              </a:rPr>
              <a:t>Methyl</a:t>
            </a:r>
            <a:r>
              <a:rPr lang="fr-FR" sz="1400" dirty="0" smtClean="0">
                <a:latin typeface="Montserrat" panose="020B0604020202020204"/>
              </a:rPr>
              <a:t> </a:t>
            </a:r>
            <a:r>
              <a:rPr lang="fr-FR" sz="1400" dirty="0">
                <a:latin typeface="Montserrat" panose="020B0604020202020204"/>
              </a:rPr>
              <a:t>salicylate </a:t>
            </a:r>
            <a:r>
              <a:rPr lang="fr-FR" sz="1400" dirty="0" smtClean="0">
                <a:latin typeface="Montserrat" panose="020B0604020202020204"/>
              </a:rPr>
              <a:t>(METHYL </a:t>
            </a:r>
            <a:r>
              <a:rPr lang="fr-FR" sz="1400" dirty="0">
                <a:latin typeface="Montserrat" panose="020B0604020202020204"/>
              </a:rPr>
              <a:t>SALICYLATE </a:t>
            </a:r>
            <a:r>
              <a:rPr lang="fr-FR" sz="1400" dirty="0" smtClean="0">
                <a:latin typeface="Montserrat" panose="020B0604020202020204"/>
              </a:rPr>
              <a:t>)0.137 </a:t>
            </a:r>
            <a:r>
              <a:rPr lang="fr-FR" sz="1400" dirty="0">
                <a:latin typeface="Montserrat" panose="020B0604020202020204"/>
              </a:rPr>
              <a:t>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Montserrat" panose="020B0604020202020204"/>
              </a:rPr>
              <a:t> Menthol (MENTHOL) 0.096 </a:t>
            </a:r>
            <a:r>
              <a:rPr lang="fr-FR" sz="1400" dirty="0">
                <a:latin typeface="Montserrat" panose="020B0604020202020204"/>
              </a:rPr>
              <a:t>g </a:t>
            </a:r>
            <a:r>
              <a:rPr lang="fr-FR" sz="1400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i="0" u="none" strike="noStrike" baseline="0" dirty="0" smtClean="0">
              <a:solidFill>
                <a:srgbClr val="000000"/>
              </a:solidFill>
              <a:latin typeface="Montserrat" panose="020B0604020202020204"/>
            </a:endParaRPr>
          </a:p>
          <a:p>
            <a:r>
              <a:rPr lang="en-US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	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baseline="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90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755376"/>
            <a:ext cx="3715600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3759" y="2389571"/>
            <a:ext cx="5233964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COMPOSITION</a:t>
            </a:r>
            <a:endParaRPr sz="2400" dirty="0"/>
          </a:p>
        </p:txBody>
      </p:sp>
      <p:sp>
        <p:nvSpPr>
          <p:cNvPr id="21" name="ZoneTexte 20"/>
          <p:cNvSpPr txBox="1"/>
          <p:nvPr/>
        </p:nvSpPr>
        <p:spPr>
          <a:xfrm>
            <a:off x="829387" y="763896"/>
            <a:ext cx="7929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bg1"/>
                </a:solidFill>
              </a:rPr>
              <a:t>PHYTOL GEL GENCIVE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09946" y="4371051"/>
            <a:ext cx="5233964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</a:t>
            </a:r>
            <a:endParaRPr sz="24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646662"/>
              </p:ext>
            </p:extLst>
          </p:nvPr>
        </p:nvGraphicFramePr>
        <p:xfrm>
          <a:off x="5819607" y="4975430"/>
          <a:ext cx="5989216" cy="176914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97304"/>
                <a:gridCol w="4491912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4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400" cap="all" baseline="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/>
                        </a:rPr>
                        <a:t>UTILISATION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/>
                        </a:rPr>
                        <a:t>Adulte et Enfant à partir de 12 ans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Adultes et enfants à partir de 12 ans </a:t>
                      </a:r>
                      <a:r>
                        <a:rPr lang="fr-FR" sz="1400" b="1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: </a:t>
                      </a:r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Déposer une noisette de gel sur un doigt bien propre, appliquer par la suite sur la gencive et masser délicatement. </a:t>
                      </a:r>
                    </a:p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Refaire l’application 1 à 4 fois par jour, en complément à votre brossage. </a:t>
                      </a:r>
                    </a:p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Ne pas avaler. 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3949940" y="2403906"/>
            <a:ext cx="1093001" cy="37283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" name="ZoneTexte 4"/>
          <p:cNvSpPr txBox="1"/>
          <p:nvPr/>
        </p:nvSpPr>
        <p:spPr>
          <a:xfrm>
            <a:off x="3864651" y="2416797"/>
            <a:ext cx="1794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2400" b="1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45 gr</a:t>
            </a:r>
            <a:endParaRPr lang="fr-FR" sz="2400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783047" y="1920241"/>
            <a:ext cx="1305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Tube </a:t>
            </a:r>
            <a:endParaRPr lang="fr-FR" sz="24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669" y="-827761"/>
            <a:ext cx="2631185" cy="2631185"/>
          </a:xfrm>
          <a:prstGeom prst="rect">
            <a:avLst/>
          </a:prstGeom>
        </p:spPr>
      </p:pic>
      <p:pic>
        <p:nvPicPr>
          <p:cNvPr id="4098" name="Picture 2" descr="https://vital.com.tn/wp-content/uploads/2023/10/PHYTOL-Gel-gencives-Tube-45-g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33" y="1803424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/>
          <p:cNvSpPr>
            <a:spLocks noGrp="1" noChangeArrowheads="1"/>
          </p:cNvSpPr>
          <p:nvPr>
            <p:ph type="subTitle" idx="13"/>
          </p:nvPr>
        </p:nvSpPr>
        <p:spPr bwMode="auto">
          <a:xfrm>
            <a:off x="5659202" y="1300719"/>
            <a:ext cx="5875636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    Apaise les gencives sensibles et contribue à leur protection antiseptique.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    Exerce une action apaisante tout en favorisant l’assainissement des gencives sensibles.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    Calme l’inconfort gingival et participe à l’action antiseptique buccale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4088" y="3047843"/>
            <a:ext cx="670528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Extrait sec de sauge sclarée (SALVIA SCLAREA EXTRACT )900mg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Extrait sec de camomille matricaire </a:t>
            </a:r>
            <a:r>
              <a:rPr lang="en-US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(CHAMOMILLA RECUTITA FLOWER EXTRACT)450mg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Extrait alcoolique de myrrhe (COMMIPHORA MYRRHA RESIN EXTRACT)225mg Chlorhexidine </a:t>
            </a:r>
            <a:r>
              <a:rPr lang="fr-FR" sz="1400" i="0" u="none" strike="noStrike" baseline="0" dirty="0" err="1" smtClean="0">
                <a:solidFill>
                  <a:srgbClr val="000000"/>
                </a:solidFill>
                <a:latin typeface="Montserrat" panose="020B0604020202020204"/>
              </a:rPr>
              <a:t>digluconate</a:t>
            </a: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 (CHLORHEXIDINE DIGLUCONATE )7.29mg 	</a:t>
            </a:r>
          </a:p>
        </p:txBody>
      </p:sp>
    </p:spTree>
    <p:extLst>
      <p:ext uri="{BB962C8B-B14F-4D97-AF65-F5344CB8AC3E}">
        <p14:creationId xmlns:p14="http://schemas.microsoft.com/office/powerpoint/2010/main" val="353241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755376"/>
            <a:ext cx="3715600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35581" y="2338082"/>
            <a:ext cx="5233964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COMPOSITION</a:t>
            </a:r>
            <a:endParaRPr sz="24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181530" y="780711"/>
            <a:ext cx="7929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bg1"/>
                </a:solidFill>
              </a:rPr>
              <a:t>PHYTOL BAIN DE BOUCHE ANTIPLAQUES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09946" y="4371051"/>
            <a:ext cx="5233964" cy="4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</a:t>
            </a:r>
            <a:endParaRPr sz="24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949194"/>
              </p:ext>
            </p:extLst>
          </p:nvPr>
        </p:nvGraphicFramePr>
        <p:xfrm>
          <a:off x="5819607" y="4975430"/>
          <a:ext cx="4983120" cy="15557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5780"/>
                <a:gridCol w="3737340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4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400" cap="all" baseline="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/>
                        </a:rPr>
                        <a:t>UTILISATION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Montserrat" panose="020B0604020202020204"/>
                        </a:rPr>
                        <a:t>Adulte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Utiliser quotidiennement 2 à 3 fois par jour pendant 30 secondes après le brossage avec 10-15 ml par prise. </a:t>
                      </a:r>
                    </a:p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A utiliser pur ou dilué. </a:t>
                      </a:r>
                    </a:p>
                    <a:p>
                      <a:r>
                        <a:rPr lang="fr-FR" sz="1400" b="0" i="0" u="none" strike="noStrike" kern="1200" baseline="0" dirty="0" smtClean="0">
                          <a:solidFill>
                            <a:schemeClr val="dk1"/>
                          </a:solidFill>
                          <a:latin typeface="Montserrat" panose="020B0604020202020204"/>
                          <a:ea typeface="+mn-ea"/>
                          <a:cs typeface="+mn-cs"/>
                        </a:rPr>
                        <a:t>Ne pas avaler. </a:t>
                      </a:r>
                      <a:endParaRPr lang="fr-FR" sz="1400" dirty="0">
                        <a:latin typeface="Montserrat" panose="020B0604020202020204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sp>
        <p:nvSpPr>
          <p:cNvPr id="14" name="Arrondir un rectangle avec un coin diagonal 13"/>
          <p:cNvSpPr/>
          <p:nvPr/>
        </p:nvSpPr>
        <p:spPr>
          <a:xfrm>
            <a:off x="3949940" y="2403906"/>
            <a:ext cx="1093001" cy="372839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" name="ZoneTexte 4"/>
          <p:cNvSpPr txBox="1"/>
          <p:nvPr/>
        </p:nvSpPr>
        <p:spPr>
          <a:xfrm>
            <a:off x="3822789" y="2403906"/>
            <a:ext cx="1794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2400" b="1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225ML</a:t>
            </a:r>
            <a:endParaRPr lang="fr-FR" sz="2400" b="1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783047" y="1920241"/>
            <a:ext cx="1305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LOTION</a:t>
            </a:r>
            <a:endParaRPr lang="fr-FR" sz="2400" b="1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669" y="-827761"/>
            <a:ext cx="2631185" cy="2631185"/>
          </a:xfrm>
          <a:prstGeom prst="rect">
            <a:avLst/>
          </a:prstGeom>
        </p:spPr>
      </p:pic>
      <p:pic>
        <p:nvPicPr>
          <p:cNvPr id="3074" name="Picture 2" descr="https://vital.com.tn/wp-content/uploads/2023/10/PHYTOL-Anti-plaque-Bain-de-bouch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89" y="1803424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/>
          <p:cNvSpPr>
            <a:spLocks noGrp="1" noChangeArrowheads="1"/>
          </p:cNvSpPr>
          <p:nvPr>
            <p:ph type="subTitle" idx="13"/>
          </p:nvPr>
        </p:nvSpPr>
        <p:spPr bwMode="auto">
          <a:xfrm>
            <a:off x="5903448" y="1239637"/>
            <a:ext cx="6575425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 Produit d’hygiène bucco-dentaire contribuant à limiter la 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 de la plaque dentaire.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 Participe à la réduction du développement du biofilm dentaire (plaque).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ontserrat" panose="020B0604020202020204"/>
              </a:rPr>
              <a:t> Aide à prévenir l’accumulation de la plaque dentaire et à maintenir l’hygiène buccale.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817832" y="2590325"/>
            <a:ext cx="7703426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400" b="0" i="0" u="none" strike="noStrike" baseline="0" dirty="0" smtClean="0">
              <a:solidFill>
                <a:srgbClr val="000000"/>
              </a:solidFill>
              <a:latin typeface="Montserrat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err="1" smtClean="0">
                <a:solidFill>
                  <a:srgbClr val="000000"/>
                </a:solidFill>
                <a:latin typeface="Montserrat" panose="020B0604020202020204"/>
              </a:rPr>
              <a:t>Aloés</a:t>
            </a: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 Véra Liquide</a:t>
            </a:r>
            <a:r>
              <a:rPr lang="fr-FR" sz="1400" dirty="0" smtClean="0">
                <a:solidFill>
                  <a:srgbClr val="000000"/>
                </a:solidFill>
                <a:latin typeface="Montserrat" panose="020B0604020202020204"/>
              </a:rPr>
              <a:t>(</a:t>
            </a: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ALOE BARBADENSIS LEAF JUICE) 84,28g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err="1" smtClean="0">
                <a:solidFill>
                  <a:srgbClr val="000000"/>
                </a:solidFill>
                <a:latin typeface="Montserrat" panose="020B0604020202020204"/>
              </a:rPr>
              <a:t>Méthylsalycilate</a:t>
            </a: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 (METHYL SALICYLATE )0,126g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Menthol (MENTHOL) 0,084g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Huile essentielle de thym (THYMUS VULGARIS OIL )0,126g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Huile essentielle d'eucalyptus (</a:t>
            </a:r>
            <a:r>
              <a:rPr lang="en-US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EUCALYPTUS GLOBULUS LEAF OIL )0,19g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Huile de sésame (</a:t>
            </a:r>
            <a:r>
              <a:rPr lang="en-US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SESAMUM INDICUM SEED OIL )2,11g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0" u="none" strike="noStrike" baseline="0" dirty="0" err="1" smtClean="0">
                <a:solidFill>
                  <a:srgbClr val="000000"/>
                </a:solidFill>
                <a:latin typeface="Montserrat" panose="020B0604020202020204"/>
              </a:rPr>
              <a:t>Digluconate</a:t>
            </a: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 de </a:t>
            </a:r>
            <a:r>
              <a:rPr lang="fr-FR" sz="1400" i="0" u="none" strike="noStrike" baseline="0" dirty="0" err="1" smtClean="0">
                <a:solidFill>
                  <a:srgbClr val="000000"/>
                </a:solidFill>
                <a:latin typeface="Montserrat" panose="020B0604020202020204"/>
              </a:rPr>
              <a:t>chlorhexidine</a:t>
            </a:r>
            <a:r>
              <a:rPr lang="fr-FR" sz="140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 (CHLORHEXIDINE DIGLUCONATE) 0,421g</a:t>
            </a: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Montserrat" panose="020B0604020202020204"/>
              </a:rPr>
              <a:t> </a:t>
            </a:r>
            <a:r>
              <a:rPr lang="fr-FR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7347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634</Words>
  <Application>Microsoft Office PowerPoint</Application>
  <PresentationFormat>Grand écran</PresentationFormat>
  <Paragraphs>121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7" baseType="lpstr">
      <vt:lpstr>Arial</vt:lpstr>
      <vt:lpstr>Calibri</vt:lpstr>
      <vt:lpstr>Calibri Light</vt:lpstr>
      <vt:lpstr>Montserrat</vt:lpstr>
      <vt:lpstr>Montserrat Medium</vt:lpstr>
      <vt:lpstr>Oswald Medium</vt:lpstr>
      <vt:lpstr>quote-cjk-patch</vt:lpstr>
      <vt:lpstr>Raleway</vt:lpstr>
      <vt:lpstr>Verdana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</dc:creator>
  <cp:lastModifiedBy>a</cp:lastModifiedBy>
  <cp:revision>10</cp:revision>
  <dcterms:created xsi:type="dcterms:W3CDTF">2026-03-10T08:08:56Z</dcterms:created>
  <dcterms:modified xsi:type="dcterms:W3CDTF">2026-03-10T09:44:14Z</dcterms:modified>
</cp:coreProperties>
</file>