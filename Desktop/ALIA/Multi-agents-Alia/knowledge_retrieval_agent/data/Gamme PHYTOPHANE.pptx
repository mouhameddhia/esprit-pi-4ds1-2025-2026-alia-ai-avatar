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</p:sldMasterIdLst>
  <p:notesMasterIdLst>
    <p:notesMasterId r:id="rId14"/>
  </p:notesMasterIdLst>
  <p:sldIdLst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5EF7D-958B-4C90-A37B-3266F37B7F5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CBA2D-2E5E-461F-987A-4864B7FD3C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5348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6073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885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2921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186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6720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682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119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6844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74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9371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288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241733" y="3100717"/>
            <a:ext cx="4671200" cy="8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241733" y="3759040"/>
            <a:ext cx="37584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720000" y="3263133"/>
            <a:ext cx="1418467" cy="4319667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132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018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1018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9920633" y="3629300"/>
            <a:ext cx="1418467" cy="4319667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137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94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750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241733" y="3100717"/>
            <a:ext cx="4671200" cy="8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241733" y="3759040"/>
            <a:ext cx="37584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720000" y="3263133"/>
            <a:ext cx="1418467" cy="4319667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5557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018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1018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9920633" y="3629300"/>
            <a:ext cx="1418467" cy="4319667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430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83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5624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71925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31911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2445905" y="455735"/>
            <a:ext cx="7597980" cy="139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35535B"/>
              </a:buClr>
            </a:pPr>
            <a:r>
              <a:rPr lang="fr-FR" sz="6400" kern="0" cap="all" dirty="0">
                <a:solidFill>
                  <a:srgbClr val="E14D4D"/>
                </a:solidFill>
              </a:rPr>
              <a:t/>
            </a:r>
            <a:br>
              <a:rPr lang="fr-FR" sz="6400" kern="0" cap="all" dirty="0">
                <a:solidFill>
                  <a:srgbClr val="E14D4D"/>
                </a:solidFill>
              </a:rPr>
            </a:br>
            <a:r>
              <a:rPr lang="fr-FR" sz="7200" kern="0" cap="all" dirty="0" smtClean="0">
                <a:solidFill>
                  <a:srgbClr val="E14D4D"/>
                </a:solidFill>
              </a:rPr>
              <a:t>PHYTOPHANE</a:t>
            </a:r>
            <a:endParaRPr lang="fr-FR" sz="7200" kern="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523727" y="445106"/>
            <a:ext cx="1738332" cy="1407148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E14D4D"/>
              </a:solidFill>
              <a:cs typeface="Arial"/>
              <a:sym typeface="Arial"/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853440" y="764679"/>
            <a:ext cx="768000" cy="768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3200" kern="0" dirty="0">
              <a:solidFill>
                <a:srgbClr val="FFFFFF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974" y="-212875"/>
            <a:ext cx="2719009" cy="271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5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 smtClean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617341" y="68844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Ralentit la chute des cheveux</a:t>
            </a:r>
            <a:endParaRPr lang="fr-FR" sz="1600" dirty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Stimule la </a:t>
            </a:r>
            <a:r>
              <a:rPr lang="fr-FR" sz="1600" dirty="0" err="1" smtClean="0">
                <a:latin typeface="Montserrat" panose="020B0604020202020204" charset="0"/>
              </a:rPr>
              <a:t>repouse</a:t>
            </a:r>
            <a:r>
              <a:rPr lang="fr-FR" sz="1600" dirty="0" smtClean="0">
                <a:latin typeface="Montserrat" panose="020B0604020202020204" charset="0"/>
              </a:rPr>
              <a:t> des cheveux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463829" y="158821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</a:t>
            </a:r>
            <a:r>
              <a:rPr lang="fr-FR" sz="2400" dirty="0" smtClean="0">
                <a:latin typeface="Montserrat" panose="020B0604020202020204" charset="0"/>
              </a:rPr>
              <a:t>SHAMPOOING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83779" y="495620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indent="-342900" algn="l"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fr-FR" sz="2400" dirty="0" smtClean="0">
                <a:latin typeface="Montserrat" panose="020B0604020202020204" charset="0"/>
              </a:rPr>
              <a:t>CONSEILS D’UTILISATION</a:t>
            </a:r>
          </a:p>
          <a:p>
            <a:pPr marL="285750" indent="-285750" algn="l"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fr-FR" sz="1600" b="0" dirty="0" smtClean="0">
                <a:latin typeface="Montserrat" panose="020B0604020202020204" charset="0"/>
              </a:rPr>
              <a:t>Appliquer 1 à 2 fois par semaine sur cheveux </a:t>
            </a:r>
            <a:r>
              <a:rPr lang="fr-FR" sz="1600" b="0" dirty="0" err="1" smtClean="0">
                <a:latin typeface="Montserrat" panose="020B0604020202020204" charset="0"/>
              </a:rPr>
              <a:t>mouillès</a:t>
            </a:r>
            <a:r>
              <a:rPr lang="fr-FR" sz="1600" b="0" dirty="0" err="1">
                <a:latin typeface="Montserrat" panose="020B0604020202020204" charset="0"/>
              </a:rPr>
              <a:t>.</a:t>
            </a:r>
            <a:r>
              <a:rPr lang="fr-FR" sz="1600" b="0" dirty="0" err="1" smtClean="0">
                <a:latin typeface="Montserrat" panose="020B0604020202020204" charset="0"/>
              </a:rPr>
              <a:t>Faire</a:t>
            </a:r>
            <a:r>
              <a:rPr lang="fr-FR" sz="1600" b="0" dirty="0" smtClean="0">
                <a:latin typeface="Montserrat" panose="020B0604020202020204" charset="0"/>
              </a:rPr>
              <a:t> mousser en </a:t>
            </a:r>
            <a:r>
              <a:rPr lang="fr-FR" sz="1600" b="0" dirty="0" err="1" smtClean="0">
                <a:latin typeface="Montserrat" panose="020B0604020202020204" charset="0"/>
              </a:rPr>
              <a:t>massant.Laisser</a:t>
            </a:r>
            <a:r>
              <a:rPr lang="fr-FR" sz="1600" b="0" dirty="0" smtClean="0">
                <a:latin typeface="Montserrat" panose="020B0604020202020204" charset="0"/>
              </a:rPr>
              <a:t> agir 2 à 3 minutes puis rincer </a:t>
            </a:r>
            <a:r>
              <a:rPr lang="fr-FR" sz="1600" b="0" dirty="0" err="1" smtClean="0">
                <a:latin typeface="Montserrat" panose="020B0604020202020204" charset="0"/>
              </a:rPr>
              <a:t>abondament</a:t>
            </a:r>
            <a:r>
              <a:rPr lang="fr-FR" sz="1600" b="0" dirty="0" smtClean="0">
                <a:latin typeface="Montserrat" panose="020B0604020202020204" charset="0"/>
              </a:rPr>
              <a:t> </a:t>
            </a:r>
            <a:endParaRPr sz="1600" b="0" dirty="0">
              <a:latin typeface="Montserrat" panose="020B0604020202020204" charset="0"/>
            </a:endParaRPr>
          </a:p>
        </p:txBody>
      </p:sp>
      <p:sp>
        <p:nvSpPr>
          <p:cNvPr id="13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ANTICHUTE SHAMPOOING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1026" name="Picture 2" descr="https://vital.com.tn/wp-content/uploads/2024/12/PHYTOFANE-SHAMPOING-ANTI-CHUT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53" y="2064216"/>
            <a:ext cx="3043515" cy="396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83779" y="2165086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Jus d’oignon rouge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Extrait de pomme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Huile essentielle de romarin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Extrait sec des feuilles d’ortie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Vitamine B8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Vitamine B5</a:t>
            </a:r>
            <a:endParaRPr lang="fr-FR" sz="16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617341" y="68844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 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463829" y="158821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</a:t>
            </a:r>
            <a:r>
              <a:rPr lang="fr-FR" sz="2400" dirty="0" smtClean="0">
                <a:latin typeface="Montserrat" panose="020B0604020202020204" charset="0"/>
              </a:rPr>
              <a:t>LOTION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ANTICHUTE LOTION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2050" name="Picture 2" descr="https://vital.com.tn/wp-content/uploads/2023/10/PHYTOFANE-Lotion-anti-chu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14" y="2064216"/>
            <a:ext cx="3134681" cy="398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69741" y="84084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 Ralentit la chute des cheveux</a:t>
            </a:r>
            <a:endParaRPr lang="fr-FR" sz="1600" dirty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Stimule la </a:t>
            </a:r>
            <a:r>
              <a:rPr lang="fr-FR" sz="1600" dirty="0" err="1" smtClean="0">
                <a:latin typeface="Montserrat" panose="020B0604020202020204" charset="0"/>
              </a:rPr>
              <a:t>repouse</a:t>
            </a:r>
            <a:r>
              <a:rPr lang="fr-FR" sz="1600" dirty="0" smtClean="0">
                <a:latin typeface="Montserrat" panose="020B0604020202020204" charset="0"/>
              </a:rPr>
              <a:t> des cheveux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13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83779" y="2165086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 Jus d’oignon rouge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Extrait de pomme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Huile essentielle de romarin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Extrait sec de Thym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Huile essentielle de cèdre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Vitamine B8</a:t>
            </a:r>
          </a:p>
          <a:p>
            <a:pPr marL="0" indent="0" algn="l"/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15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26232" y="4724194"/>
            <a:ext cx="6465768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 smtClean="0">
                <a:latin typeface="Montserrat" panose="020B0604020202020204" charset="0"/>
              </a:rPr>
              <a:t>CONSEILS D’UTILISATION</a:t>
            </a:r>
          </a:p>
          <a:p>
            <a:pPr marL="285750" indent="-285750" algn="l"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fr-FR" sz="1600" b="0" dirty="0">
                <a:latin typeface="Montserrat" panose="020B0604020202020204" charset="0"/>
              </a:rPr>
              <a:t>A</a:t>
            </a:r>
            <a:r>
              <a:rPr lang="fr-FR" sz="1600" b="0" dirty="0" smtClean="0">
                <a:latin typeface="Montserrat" panose="020B0604020202020204" charset="0"/>
              </a:rPr>
              <a:t>ppliquer 1 à 2 fois directement sur l’ensemble du cuir </a:t>
            </a:r>
            <a:r>
              <a:rPr lang="fr-FR" sz="1600" b="0" dirty="0" err="1" smtClean="0">
                <a:latin typeface="Montserrat" panose="020B0604020202020204" charset="0"/>
              </a:rPr>
              <a:t>cheveluec</a:t>
            </a:r>
            <a:r>
              <a:rPr lang="fr-FR" sz="1600" b="0" dirty="0" smtClean="0">
                <a:latin typeface="Montserrat" panose="020B0604020202020204" charset="0"/>
              </a:rPr>
              <a:t> ou humide de préférence le </a:t>
            </a:r>
            <a:r>
              <a:rPr lang="fr-FR" sz="1600" b="0" dirty="0" err="1" smtClean="0">
                <a:latin typeface="Montserrat" panose="020B0604020202020204" charset="0"/>
              </a:rPr>
              <a:t>soir.Bien</a:t>
            </a:r>
            <a:r>
              <a:rPr lang="fr-FR" sz="1600" b="0" dirty="0" smtClean="0">
                <a:latin typeface="Montserrat" panose="020B0604020202020204" charset="0"/>
              </a:rPr>
              <a:t> masser pour activer la pénétration de la lotion </a:t>
            </a:r>
            <a:r>
              <a:rPr lang="fr-FR" sz="1600" b="0" dirty="0" err="1" smtClean="0">
                <a:latin typeface="Montserrat" panose="020B0604020202020204" charset="0"/>
              </a:rPr>
              <a:t>antichute.Rincer</a:t>
            </a:r>
            <a:r>
              <a:rPr lang="fr-FR" sz="1600" b="0" dirty="0" smtClean="0">
                <a:latin typeface="Montserrat" panose="020B0604020202020204" charset="0"/>
              </a:rPr>
              <a:t> avec </a:t>
            </a:r>
            <a:r>
              <a:rPr lang="fr-FR" sz="1600" b="0" dirty="0" err="1" smtClean="0">
                <a:latin typeface="Montserrat" panose="020B0604020202020204" charset="0"/>
              </a:rPr>
              <a:t>phytophane</a:t>
            </a:r>
            <a:r>
              <a:rPr lang="fr-FR" sz="1600" b="0" dirty="0" smtClean="0">
                <a:latin typeface="Montserrat" panose="020B0604020202020204" charset="0"/>
              </a:rPr>
              <a:t> shampooing antichute pour des meilleurs résultats</a:t>
            </a:r>
            <a:endParaRPr sz="1600" b="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46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617341" y="68844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 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464941" y="1969292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PAR </a:t>
            </a:r>
            <a:r>
              <a:rPr lang="fr-FR" sz="2400" dirty="0" smtClean="0">
                <a:latin typeface="Montserrat" panose="020B0604020202020204" charset="0"/>
              </a:rPr>
              <a:t>2 GÉLULES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942559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POSOLOGIE</a:t>
            </a:r>
            <a:endParaRPr sz="24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774889"/>
              </p:ext>
            </p:extLst>
          </p:nvPr>
        </p:nvGraphicFramePr>
        <p:xfrm>
          <a:off x="5799483" y="5581849"/>
          <a:ext cx="6185340" cy="122050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92670"/>
                <a:gridCol w="309267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2</a:t>
                      </a:r>
                      <a:r>
                        <a:rPr lang="fr-FR" sz="1600" baseline="0" dirty="0" smtClean="0">
                          <a:latin typeface="Montserrat" panose="020B0604020202020204" charset="0"/>
                        </a:rPr>
                        <a:t> gélules par jour à avaler au moment de repas</a:t>
                      </a:r>
                    </a:p>
                    <a:p>
                      <a:r>
                        <a:rPr lang="fr-FR" sz="1600" baseline="0" dirty="0" smtClean="0">
                          <a:latin typeface="Montserrat" panose="020B0604020202020204" charset="0"/>
                        </a:rPr>
                        <a:t>Cure de 2 à  3 mois 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18" name="ZoneTexte 3"/>
          <p:cNvSpPr txBox="1"/>
          <p:nvPr/>
        </p:nvSpPr>
        <p:spPr>
          <a:xfrm>
            <a:off x="3960267" y="4174262"/>
            <a:ext cx="1046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200" b="1" kern="0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60</a:t>
            </a:r>
            <a:endParaRPr lang="fr-FR" sz="3200" b="1" kern="0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3867665" y="4615408"/>
            <a:ext cx="1232207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467" kern="0" dirty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</a:p>
        </p:txBody>
      </p:sp>
      <p:sp>
        <p:nvSpPr>
          <p:cNvPr id="1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ANTICHUTE GELULE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3074" name="Picture 2" descr="https://vital.com.tn/wp-content/uploads/2025/02/Phytofane-antichut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31" y="2064217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345" y="3774063"/>
            <a:ext cx="2572996" cy="2572996"/>
          </a:xfrm>
          <a:prstGeom prst="rect">
            <a:avLst/>
          </a:prstGeom>
        </p:spPr>
      </p:pic>
      <p:sp>
        <p:nvSpPr>
          <p:cNvPr id="13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69741" y="84084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 Ralentit la chute des cheveux</a:t>
            </a:r>
            <a:endParaRPr lang="fr-FR" sz="1600" dirty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Stimule la </a:t>
            </a:r>
            <a:r>
              <a:rPr lang="fr-FR" sz="1600" dirty="0" err="1" smtClean="0">
                <a:latin typeface="Montserrat" panose="020B0604020202020204" charset="0"/>
              </a:rPr>
              <a:t>repouse</a:t>
            </a:r>
            <a:r>
              <a:rPr lang="fr-FR" sz="1600" dirty="0" smtClean="0">
                <a:latin typeface="Montserrat" panose="020B0604020202020204" charset="0"/>
              </a:rPr>
              <a:t> des cheveux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Améliore la croissance des cheveux 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14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83780" y="2165086"/>
            <a:ext cx="2974762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 </a:t>
            </a:r>
          </a:p>
          <a:p>
            <a:pPr marL="0" indent="0" algn="l"/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15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901845" y="2695236"/>
            <a:ext cx="3139582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1000 mg L-</a:t>
            </a:r>
            <a:r>
              <a:rPr lang="fr-FR" sz="1600" dirty="0" err="1" smtClean="0">
                <a:latin typeface="Montserrat" panose="020B0604020202020204" charset="0"/>
              </a:rPr>
              <a:t>Cysteine</a:t>
            </a:r>
            <a:endParaRPr lang="fr-FR" sz="1600" dirty="0" smtClean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100 mg d’Extrait sec de </a:t>
            </a:r>
            <a:r>
              <a:rPr lang="fr-FR" sz="1600" dirty="0" err="1" smtClean="0">
                <a:latin typeface="Montserrat" panose="020B0604020202020204" charset="0"/>
              </a:rPr>
              <a:t>pamier</a:t>
            </a:r>
            <a:r>
              <a:rPr lang="fr-FR" sz="1600" dirty="0" smtClean="0">
                <a:latin typeface="Montserrat" panose="020B0604020202020204" charset="0"/>
              </a:rPr>
              <a:t> (</a:t>
            </a:r>
            <a:r>
              <a:rPr lang="fr-FR" sz="1600" dirty="0" err="1" smtClean="0">
                <a:latin typeface="Montserrat" panose="020B0604020202020204" charset="0"/>
              </a:rPr>
              <a:t>serenoa</a:t>
            </a:r>
            <a:r>
              <a:rPr lang="fr-FR" sz="1600" dirty="0" smtClean="0">
                <a:latin typeface="Montserrat" panose="020B0604020202020204" charset="0"/>
              </a:rPr>
              <a:t> repens)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40 mg de Taurine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12 mg de Vitamine 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10 mg de Zinc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6 mg de Vitamine B 5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1.6 mg de</a:t>
            </a:r>
            <a:r>
              <a:rPr lang="fr-FR" sz="1600" dirty="0">
                <a:latin typeface="Montserrat" panose="020B0604020202020204" charset="0"/>
              </a:rPr>
              <a:t> Vitamine </a:t>
            </a:r>
            <a:r>
              <a:rPr lang="fr-FR" sz="1600" dirty="0" smtClean="0">
                <a:latin typeface="Montserrat" panose="020B0604020202020204" charset="0"/>
              </a:rPr>
              <a:t>B2  </a:t>
            </a:r>
          </a:p>
        </p:txBody>
      </p:sp>
      <p:sp>
        <p:nvSpPr>
          <p:cNvPr id="2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9010061" y="2695236"/>
            <a:ext cx="2974762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1.4 mg de Vitamine B6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1.1 mg de Vitamine </a:t>
            </a:r>
            <a:r>
              <a:rPr lang="fr-FR" sz="1600" dirty="0" smtClean="0">
                <a:latin typeface="Montserrat" panose="020B0604020202020204" charset="0"/>
              </a:rPr>
              <a:t>B1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0,5 mg d’Extrait de prêle de champs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200 µg</a:t>
            </a:r>
            <a:r>
              <a:rPr lang="fr-FR" sz="1600" dirty="0">
                <a:latin typeface="Montserrat" panose="020B0604020202020204" charset="0"/>
              </a:rPr>
              <a:t> de </a:t>
            </a:r>
            <a:r>
              <a:rPr lang="fr-FR" sz="1600" dirty="0" smtClean="0">
                <a:latin typeface="Montserrat" panose="020B0604020202020204" charset="0"/>
              </a:rPr>
              <a:t>Vitamine B9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50 µg </a:t>
            </a:r>
            <a:r>
              <a:rPr lang="fr-FR" sz="1600" dirty="0">
                <a:latin typeface="Montserrat" panose="020B0604020202020204" charset="0"/>
              </a:rPr>
              <a:t>de Vitamine </a:t>
            </a:r>
            <a:r>
              <a:rPr lang="fr-FR" sz="1600" dirty="0" smtClean="0">
                <a:latin typeface="Montserrat" panose="020B0604020202020204" charset="0"/>
              </a:rPr>
              <a:t>B8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50 µg de sélénium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2,5 µg </a:t>
            </a:r>
            <a:r>
              <a:rPr lang="fr-FR" sz="1600" dirty="0">
                <a:latin typeface="Montserrat" panose="020B0604020202020204" charset="0"/>
              </a:rPr>
              <a:t>de Vitamine </a:t>
            </a:r>
            <a:r>
              <a:rPr lang="fr-FR" sz="1600" dirty="0" smtClean="0">
                <a:latin typeface="Montserrat" panose="020B0604020202020204" charset="0"/>
              </a:rPr>
              <a:t>B12</a:t>
            </a:r>
          </a:p>
          <a:p>
            <a:pPr marL="0" indent="0" algn="l"/>
            <a:endParaRPr lang="fr-FR" sz="12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01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617341" y="68844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 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573832" y="2047233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</a:t>
            </a:r>
            <a:r>
              <a:rPr lang="fr-FR" sz="2400" dirty="0" smtClean="0">
                <a:latin typeface="Montserrat" panose="020B0604020202020204" charset="0"/>
              </a:rPr>
              <a:t>PAR 2 GÉLULES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942559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POSOLOGIE</a:t>
            </a:r>
            <a:endParaRPr sz="24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300373"/>
              </p:ext>
            </p:extLst>
          </p:nvPr>
        </p:nvGraphicFramePr>
        <p:xfrm>
          <a:off x="5804669" y="5571076"/>
          <a:ext cx="6176774" cy="122050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88387"/>
                <a:gridCol w="3088387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2</a:t>
                      </a:r>
                      <a:r>
                        <a:rPr lang="fr-FR" sz="1600" baseline="0" dirty="0" smtClean="0">
                          <a:latin typeface="Montserrat" panose="020B0604020202020204" charset="0"/>
                        </a:rPr>
                        <a:t> </a:t>
                      </a:r>
                      <a:r>
                        <a:rPr lang="fr-FR" sz="1600" dirty="0" smtClean="0">
                          <a:latin typeface="Montserrat" panose="020B0604020202020204" charset="0"/>
                        </a:rPr>
                        <a:t>gélules</a:t>
                      </a:r>
                      <a:r>
                        <a:rPr lang="fr-FR" sz="1600" baseline="0" dirty="0" smtClean="0">
                          <a:latin typeface="Montserrat" panose="020B0604020202020204" charset="0"/>
                        </a:rPr>
                        <a:t> par jour </a:t>
                      </a:r>
                      <a:r>
                        <a:rPr lang="fr-FR" sz="1600" dirty="0" smtClean="0">
                          <a:latin typeface="Montserrat" panose="020B0604020202020204" charset="0"/>
                        </a:rPr>
                        <a:t> au moment  du</a:t>
                      </a:r>
                      <a:r>
                        <a:rPr lang="fr-FR" sz="1600" baseline="0" dirty="0" smtClean="0">
                          <a:latin typeface="Montserrat" panose="020B0604020202020204" charset="0"/>
                        </a:rPr>
                        <a:t> repas</a:t>
                      </a:r>
                    </a:p>
                    <a:p>
                      <a:r>
                        <a:rPr lang="fr-FR" sz="1600" baseline="0" dirty="0" smtClean="0">
                          <a:latin typeface="Montserrat" panose="020B0604020202020204" charset="0"/>
                        </a:rPr>
                        <a:t>Cure de 2 à 3 mois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pic>
        <p:nvPicPr>
          <p:cNvPr id="16" name="Imag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345" y="3774063"/>
            <a:ext cx="2572996" cy="2572996"/>
          </a:xfrm>
          <a:prstGeom prst="rect">
            <a:avLst/>
          </a:prstGeom>
        </p:spPr>
      </p:pic>
      <p:sp>
        <p:nvSpPr>
          <p:cNvPr id="18" name="ZoneTexte 3"/>
          <p:cNvSpPr txBox="1"/>
          <p:nvPr/>
        </p:nvSpPr>
        <p:spPr>
          <a:xfrm>
            <a:off x="3960267" y="4174262"/>
            <a:ext cx="1046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3200" b="1" kern="0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60</a:t>
            </a:r>
            <a:endParaRPr lang="fr-FR" sz="3200" b="1" kern="0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19" name="ZoneTexte 4"/>
          <p:cNvSpPr txBox="1"/>
          <p:nvPr/>
        </p:nvSpPr>
        <p:spPr>
          <a:xfrm>
            <a:off x="3867665" y="4615408"/>
            <a:ext cx="1232207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467" kern="0" dirty="0">
                <a:solidFill>
                  <a:srgbClr val="35535B"/>
                </a:solidFill>
                <a:latin typeface="Montserrat" panose="020B0604020202020204" charset="0"/>
              </a:rPr>
              <a:t>Gélules</a:t>
            </a:r>
          </a:p>
        </p:txBody>
      </p:sp>
      <p:sp>
        <p:nvSpPr>
          <p:cNvPr id="1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FORTIFIANT PHANERES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4098" name="Picture 2" descr="https://vital.com.tn/wp-content/uploads/2024/12/PHYTOFANE-FORTIFIANT-phanere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04" y="2064217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963350" y="660261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Ralentit la chute des cheveux</a:t>
            </a:r>
            <a:endParaRPr lang="fr-FR" sz="1600" dirty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Stimule la </a:t>
            </a:r>
            <a:r>
              <a:rPr lang="fr-FR" sz="1600" dirty="0" err="1" smtClean="0">
                <a:latin typeface="Montserrat" panose="020B0604020202020204" charset="0"/>
              </a:rPr>
              <a:t>repouse</a:t>
            </a:r>
            <a:r>
              <a:rPr lang="fr-FR" sz="1600" dirty="0" smtClean="0">
                <a:latin typeface="Montserrat" panose="020B0604020202020204" charset="0"/>
              </a:rPr>
              <a:t> des cheveux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Améliore et fortifie  la croissance des cheveux et des ongles  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Favorise la </a:t>
            </a:r>
            <a:r>
              <a:rPr lang="fr-FR" sz="1600" dirty="0" err="1" smtClean="0">
                <a:latin typeface="Montserrat" panose="020B0604020202020204" charset="0"/>
              </a:rPr>
              <a:t>vitalitè</a:t>
            </a:r>
            <a:r>
              <a:rPr lang="fr-FR" sz="1600" dirty="0" smtClean="0">
                <a:latin typeface="Montserrat" panose="020B0604020202020204" charset="0"/>
              </a:rPr>
              <a:t> et la brillance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sz="1600" dirty="0">
              <a:latin typeface="Montserrat" panose="020B0604020202020204" charset="0"/>
            </a:endParaRPr>
          </a:p>
        </p:txBody>
      </p:sp>
      <p:sp>
        <p:nvSpPr>
          <p:cNvPr id="13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901845" y="2627185"/>
            <a:ext cx="2974762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2400 </a:t>
            </a:r>
            <a:r>
              <a:rPr lang="fr-FR" sz="1600" dirty="0">
                <a:latin typeface="Montserrat" panose="020B0604020202020204" charset="0"/>
              </a:rPr>
              <a:t>mg </a:t>
            </a:r>
            <a:r>
              <a:rPr lang="fr-FR" sz="1600" dirty="0" smtClean="0">
                <a:latin typeface="Montserrat" panose="020B0604020202020204" charset="0"/>
              </a:rPr>
              <a:t>L-</a:t>
            </a:r>
            <a:r>
              <a:rPr lang="fr-FR" sz="1600" dirty="0" err="1" smtClean="0">
                <a:latin typeface="Montserrat" panose="020B0604020202020204" charset="0"/>
              </a:rPr>
              <a:t>Carnosine</a:t>
            </a:r>
            <a:endParaRPr lang="fr-FR" sz="1600" dirty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153 </a:t>
            </a:r>
            <a:r>
              <a:rPr lang="fr-FR" sz="1600" dirty="0">
                <a:latin typeface="Montserrat" panose="020B0604020202020204" charset="0"/>
              </a:rPr>
              <a:t>mg </a:t>
            </a:r>
            <a:r>
              <a:rPr lang="fr-FR" sz="1600" dirty="0" smtClean="0">
                <a:latin typeface="Montserrat" panose="020B0604020202020204" charset="0"/>
              </a:rPr>
              <a:t>de </a:t>
            </a:r>
            <a:r>
              <a:rPr lang="fr-FR" sz="1600" dirty="0" err="1" smtClean="0">
                <a:latin typeface="Montserrat" panose="020B0604020202020204" charset="0"/>
              </a:rPr>
              <a:t>Probiotique</a:t>
            </a:r>
            <a:endParaRPr lang="fr-FR" sz="1600" dirty="0" smtClean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137 </a:t>
            </a:r>
            <a:r>
              <a:rPr lang="fr-FR" sz="1600" dirty="0">
                <a:latin typeface="Montserrat" panose="020B0604020202020204" charset="0"/>
              </a:rPr>
              <a:t>mg de </a:t>
            </a:r>
            <a:r>
              <a:rPr lang="fr-FR" sz="1600" dirty="0" smtClean="0">
                <a:latin typeface="Montserrat" panose="020B0604020202020204" charset="0"/>
              </a:rPr>
              <a:t>L-</a:t>
            </a:r>
            <a:r>
              <a:rPr lang="fr-FR" sz="1600" dirty="0" err="1" smtClean="0">
                <a:latin typeface="Montserrat" panose="020B0604020202020204" charset="0"/>
              </a:rPr>
              <a:t>methionine</a:t>
            </a:r>
            <a:endParaRPr lang="fr-FR" sz="1600" dirty="0" smtClean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70 mg de L-</a:t>
            </a:r>
            <a:r>
              <a:rPr lang="fr-FR" sz="1600" dirty="0" err="1" smtClean="0">
                <a:latin typeface="Montserrat" panose="020B0604020202020204" charset="0"/>
              </a:rPr>
              <a:t>cysteine</a:t>
            </a:r>
            <a:endParaRPr lang="fr-FR" sz="1600" dirty="0" smtClean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10 mg de L-Arginine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6 </a:t>
            </a:r>
            <a:r>
              <a:rPr lang="fr-FR" sz="1600" dirty="0">
                <a:latin typeface="Montserrat" panose="020B0604020202020204" charset="0"/>
              </a:rPr>
              <a:t>mg de Vitamine 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10 mg de Zinc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6 mg de Vitamine B 5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1.6 mg de Vitamine B2  </a:t>
            </a:r>
          </a:p>
          <a:p>
            <a:pPr marL="0" indent="0" algn="l"/>
            <a:endParaRPr lang="fr-FR" sz="1600" dirty="0">
              <a:latin typeface="Montserrat" panose="020B0604020202020204" charset="0"/>
            </a:endParaRPr>
          </a:p>
          <a:p>
            <a:pPr marL="0" indent="0" algn="l"/>
            <a:r>
              <a:rPr lang="fr-FR" sz="1600" dirty="0" smtClean="0">
                <a:latin typeface="Montserrat" panose="020B0604020202020204" charset="0"/>
              </a:rPr>
              <a:t> </a:t>
            </a:r>
          </a:p>
          <a:p>
            <a:pPr marL="0" indent="0" algn="l"/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14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8893056" y="2772901"/>
            <a:ext cx="2974762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fr-FR" sz="1600" dirty="0" smtClean="0">
                <a:latin typeface="Montserrat" panose="020B0604020202020204" charset="0"/>
              </a:rPr>
              <a:t> </a:t>
            </a:r>
          </a:p>
        </p:txBody>
      </p:sp>
      <p:sp>
        <p:nvSpPr>
          <p:cNvPr id="15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8558577" y="2645753"/>
            <a:ext cx="2974762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1.4 mg de Vitamine B6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1.1 mg de Vitamine </a:t>
            </a:r>
            <a:r>
              <a:rPr lang="fr-FR" sz="1600" dirty="0" smtClean="0">
                <a:latin typeface="Montserrat" panose="020B0604020202020204" charset="0"/>
              </a:rPr>
              <a:t>B1 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200 µg </a:t>
            </a:r>
            <a:r>
              <a:rPr lang="fr-FR" sz="1600" dirty="0">
                <a:latin typeface="Montserrat" panose="020B0604020202020204" charset="0"/>
              </a:rPr>
              <a:t>de Vitamine </a:t>
            </a:r>
            <a:r>
              <a:rPr lang="fr-FR" sz="1600" dirty="0" smtClean="0">
                <a:latin typeface="Montserrat" panose="020B0604020202020204" charset="0"/>
              </a:rPr>
              <a:t>B9  </a:t>
            </a:r>
            <a:endParaRPr lang="fr-FR" sz="1600" dirty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50 µg </a:t>
            </a:r>
            <a:r>
              <a:rPr lang="fr-FR" sz="1600" dirty="0">
                <a:latin typeface="Montserrat" panose="020B0604020202020204" charset="0"/>
              </a:rPr>
              <a:t>de Vitamine </a:t>
            </a:r>
            <a:r>
              <a:rPr lang="fr-FR" sz="1600" dirty="0" smtClean="0">
                <a:latin typeface="Montserrat" panose="020B0604020202020204" charset="0"/>
              </a:rPr>
              <a:t>B8 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50 µg de sélénium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2,5 µg de Vitamine B12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" panose="020B0604020202020204" charset="0"/>
            </a:endParaRPr>
          </a:p>
          <a:p>
            <a:pPr marL="0" indent="0" algn="l"/>
            <a:endParaRPr lang="fr-FR" sz="1600" dirty="0" smtClean="0">
              <a:latin typeface="Montserrat" panose="020B0604020202020204" charset="0"/>
            </a:endParaRPr>
          </a:p>
          <a:p>
            <a:pPr marL="0" indent="0" algn="l"/>
            <a:endParaRPr lang="fr-FR" sz="12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02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617341" y="566972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Elimine durablement les pellicules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Prévient efficacement les récidives de pellicules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Purifier et apaise les démangeaisons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Réduit la sécrétion du sébum 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378962" y="1855256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</a:t>
            </a:r>
            <a:r>
              <a:rPr lang="fr-FR" sz="2400" dirty="0" smtClean="0">
                <a:latin typeface="Montserrat" panose="020B0604020202020204" charset="0"/>
              </a:rPr>
              <a:t>SHAMPOOING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814932" y="4160159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 smtClean="0">
                <a:latin typeface="Montserrat" panose="020B0604020202020204" charset="0"/>
              </a:rPr>
              <a:t>CONSEILS D’UTILISATIO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ANTIPELLICULAIRE LOTION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5124" name="Picture 4" descr="https://vital.com.tn/wp-content/uploads/2024/07/Phytofane-Shampooing-Antipelliculai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90" y="1855256"/>
            <a:ext cx="3121032" cy="401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901845" y="2477987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Huile essentielle d’Arbre à thé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Huile essentielle de Citron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Acide salicylique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err="1" smtClean="0">
                <a:latin typeface="Montserrat" panose="020B0604020202020204" charset="0"/>
              </a:rPr>
              <a:t>Piroctone</a:t>
            </a:r>
            <a:r>
              <a:rPr lang="fr-FR" sz="1600" dirty="0" smtClean="0">
                <a:latin typeface="Montserrat" panose="020B0604020202020204" charset="0"/>
              </a:rPr>
              <a:t> </a:t>
            </a:r>
            <a:r>
              <a:rPr lang="fr-FR" sz="1600" dirty="0" err="1" smtClean="0">
                <a:latin typeface="Montserrat" panose="020B0604020202020204" charset="0"/>
              </a:rPr>
              <a:t>Olamine</a:t>
            </a:r>
            <a:endParaRPr lang="fr-FR" sz="1600" dirty="0" smtClean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err="1" smtClean="0">
                <a:latin typeface="Montserrat" panose="020B0604020202020204" charset="0"/>
              </a:rPr>
              <a:t>Disodium</a:t>
            </a:r>
            <a:r>
              <a:rPr lang="fr-FR" sz="1600" dirty="0" smtClean="0">
                <a:latin typeface="Montserrat" panose="020B0604020202020204" charset="0"/>
              </a:rPr>
              <a:t> </a:t>
            </a:r>
            <a:r>
              <a:rPr lang="fr-FR" sz="1600" dirty="0" err="1" smtClean="0">
                <a:latin typeface="Montserrat" panose="020B0604020202020204" charset="0"/>
              </a:rPr>
              <a:t>Undecylenamido</a:t>
            </a:r>
            <a:r>
              <a:rPr lang="fr-FR" sz="1600" dirty="0" smtClean="0">
                <a:latin typeface="Montserrat" panose="020B0604020202020204" charset="0"/>
              </a:rPr>
              <a:t> MEA-</a:t>
            </a:r>
            <a:r>
              <a:rPr lang="fr-FR" sz="1600" dirty="0" err="1" smtClean="0">
                <a:latin typeface="Montserrat" panose="020B0604020202020204" charset="0"/>
              </a:rPr>
              <a:t>Sulfosccinate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01845" y="4775346"/>
            <a:ext cx="6096000" cy="18851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fr-FR" sz="1600" b="0" dirty="0" smtClean="0">
                <a:latin typeface="Montserrat" panose="020B0604020202020204" charset="0"/>
              </a:rPr>
              <a:t>Appliquer 1 à 2 fois par semaine sur cheveux </a:t>
            </a:r>
            <a:r>
              <a:rPr lang="fr-FR" sz="1600" b="0" dirty="0" err="1" smtClean="0">
                <a:latin typeface="Montserrat" panose="020B0604020202020204" charset="0"/>
              </a:rPr>
              <a:t>mouillès</a:t>
            </a:r>
            <a:r>
              <a:rPr lang="fr-FR" sz="1600" b="0" dirty="0" smtClean="0">
                <a:latin typeface="Montserrat" panose="020B0604020202020204" charset="0"/>
              </a:rPr>
              <a:t>.</a:t>
            </a:r>
          </a:p>
          <a:p>
            <a:pPr marL="285750" indent="-285750"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fr-FR" sz="1600" b="0" dirty="0" smtClean="0">
                <a:latin typeface="Montserrat" panose="020B0604020202020204" charset="0"/>
              </a:rPr>
              <a:t>Faire mousser en massant.</a:t>
            </a:r>
          </a:p>
          <a:p>
            <a:pPr marL="285750" indent="-285750"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fr-FR" sz="1600" b="0" dirty="0" smtClean="0">
                <a:latin typeface="Montserrat" panose="020B0604020202020204" charset="0"/>
              </a:rPr>
              <a:t>Laisser agir 2 à 3 minutes puis rincer </a:t>
            </a:r>
            <a:r>
              <a:rPr lang="fr-FR" sz="1600" b="0" dirty="0" err="1" smtClean="0">
                <a:latin typeface="Montserrat" panose="020B0604020202020204" charset="0"/>
              </a:rPr>
              <a:t>abondament</a:t>
            </a:r>
            <a:r>
              <a:rPr lang="fr-FR" sz="1600" b="0" dirty="0" smtClean="0">
                <a:latin typeface="Montserrat" panose="020B0604020202020204" charset="0"/>
              </a:rPr>
              <a:t> </a:t>
            </a:r>
          </a:p>
          <a:p>
            <a:pPr marL="285750" indent="-285750"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Eviter le contact avec les yeux</a:t>
            </a:r>
            <a:endParaRPr lang="fr-FR" sz="1600" b="0" dirty="0">
              <a:latin typeface="Montserrat" panose="020B0604020202020204" charset="0"/>
            </a:endParaRPr>
          </a:p>
        </p:txBody>
      </p:sp>
      <p:sp>
        <p:nvSpPr>
          <p:cNvPr id="20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0090" y="6004881"/>
            <a:ext cx="5233964" cy="476000"/>
          </a:xfrm>
          <a:prstGeom prst="rect">
            <a:avLst/>
          </a:prstGeom>
          <a:solidFill>
            <a:srgbClr val="FF0000"/>
          </a:solidFill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1600" dirty="0" smtClean="0">
                <a:solidFill>
                  <a:schemeClr val="bg1"/>
                </a:solidFill>
                <a:latin typeface="Montserrat" panose="020B0604020202020204" charset="0"/>
              </a:rPr>
              <a:t>Non recommandé pour la femme enceinte et allaitante</a:t>
            </a:r>
            <a:endParaRPr sz="16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89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062366" y="1615358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</a:t>
            </a:r>
            <a:r>
              <a:rPr lang="fr-FR" sz="2400" dirty="0" smtClean="0">
                <a:latin typeface="Montserrat" panose="020B0604020202020204" charset="0"/>
              </a:rPr>
              <a:t>LOTION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923188" y="373121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 smtClean="0">
                <a:latin typeface="Montserrat" panose="020B0604020202020204" charset="0"/>
              </a:rPr>
              <a:t>CONSEILS D’UTILISATION</a:t>
            </a:r>
          </a:p>
          <a:p>
            <a:pPr marL="285750" indent="-285750" algn="l"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fr-FR" sz="1600" b="0" dirty="0" smtClean="0"/>
              <a:t>Appliquer quotidiennement la lotion sur le cuir chevelu sec ou mouillé en massant légèrement sans rincer</a:t>
            </a:r>
          </a:p>
          <a:p>
            <a:pPr marL="285750" indent="-285750" algn="l">
              <a:spcAft>
                <a:spcPts val="2133"/>
              </a:spcAft>
              <a:buFont typeface="Arial" panose="020B0604020202020204" pitchFamily="34" charset="0"/>
              <a:buChar char="•"/>
            </a:pPr>
            <a:r>
              <a:rPr lang="fr-FR" sz="1600" b="0" dirty="0" smtClean="0"/>
              <a:t>A utiliser en association ou en relais du shampooing antipelliculaire</a:t>
            </a:r>
            <a:endParaRPr sz="1600" b="0" dirty="0"/>
          </a:p>
        </p:txBody>
      </p:sp>
      <p:sp>
        <p:nvSpPr>
          <p:cNvPr id="1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ANTIPELLICULAIRE LOTION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12" name="Picture 2" descr="https://vital.com.tn/wp-content/uploads/2023/10/PHYTOFANE-Lotion-Antipelliculai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89" y="1627595"/>
            <a:ext cx="3152065" cy="403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923188" y="2503454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Montserrat" panose="020B0604020202020204" charset="0"/>
              </a:rPr>
              <a:t>Huile essentielle de thym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Montserrat" panose="020B0604020202020204" charset="0"/>
              </a:rPr>
              <a:t>Huile essentielle de </a:t>
            </a:r>
            <a:r>
              <a:rPr lang="fr-FR" sz="1600" dirty="0" err="1" smtClean="0">
                <a:solidFill>
                  <a:schemeClr val="tx1"/>
                </a:solidFill>
                <a:latin typeface="Montserrat" panose="020B0604020202020204" charset="0"/>
              </a:rPr>
              <a:t>Palmarosa</a:t>
            </a:r>
            <a:endParaRPr lang="fr-FR" sz="1600" dirty="0" smtClean="0">
              <a:solidFill>
                <a:schemeClr val="tx1"/>
              </a:solidFill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Montserrat" panose="020B0604020202020204" charset="0"/>
              </a:rPr>
              <a:t>Huile essentielle d’Arbre à Thé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Montserrat" panose="020B0604020202020204" charset="0"/>
              </a:rPr>
              <a:t>Acide salicylique </a:t>
            </a:r>
            <a:endParaRPr sz="1600" dirty="0">
              <a:solidFill>
                <a:schemeClr val="tx1"/>
              </a:solidFill>
              <a:latin typeface="Montserrat" panose="020B060402020202020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10541" y="667935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Elimine durablement les pellicules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Prévient efficacement les récidives de pellicules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Purifier et apaise les démangeaisons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Réduit la sécrétion du sébum </a:t>
            </a:r>
            <a:endParaRPr lang="fr-FR" sz="1600" dirty="0">
              <a:latin typeface="Montserrat" panose="020B0604020202020204" charset="0"/>
            </a:endParaRPr>
          </a:p>
        </p:txBody>
      </p:sp>
      <p:sp>
        <p:nvSpPr>
          <p:cNvPr id="15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0090" y="6004881"/>
            <a:ext cx="5233964" cy="476000"/>
          </a:xfrm>
          <a:prstGeom prst="rect">
            <a:avLst/>
          </a:prstGeom>
          <a:solidFill>
            <a:srgbClr val="FF0000"/>
          </a:solidFill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1600" dirty="0" smtClean="0">
                <a:solidFill>
                  <a:schemeClr val="bg1"/>
                </a:solidFill>
                <a:latin typeface="Montserrat" panose="020B0604020202020204" charset="0"/>
              </a:rPr>
              <a:t>Non recommandé pour la femme enceinte et allaitante</a:t>
            </a:r>
            <a:endParaRPr sz="16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76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463829" y="1627595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PAR GÉLULE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942559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POSOLOGIE</a:t>
            </a:r>
            <a:endParaRPr sz="24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115588"/>
              </p:ext>
            </p:extLst>
          </p:nvPr>
        </p:nvGraphicFramePr>
        <p:xfrm>
          <a:off x="5819607" y="5546938"/>
          <a:ext cx="5808286" cy="10985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04143"/>
                <a:gridCol w="2904143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2 gélules par jour  au moment  du</a:t>
                      </a:r>
                      <a:r>
                        <a:rPr lang="fr-FR" sz="1600" baseline="0" dirty="0" smtClean="0">
                          <a:latin typeface="Montserrat" panose="020B0604020202020204" charset="0"/>
                        </a:rPr>
                        <a:t> repas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1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ANTIPELLICULAIRE GELULE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7170" name="Picture 2" descr="https://vital.com.tn/wp-content/uploads/2025/07/PHYTOFANE-Antipelliculai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5" y="2064217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69741" y="84084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fr-FR" sz="1600" dirty="0" smtClean="0">
                <a:latin typeface="Montserrat" panose="020B0604020202020204" charset="0"/>
              </a:rPr>
              <a:t> 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13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923188" y="2477987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 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0541" y="667935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Elimine durablement les pellicules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Prévient efficacement les récidives de pellicules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Purifier et apaise les démangeaisons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Réduit la sécrétion du sébum </a:t>
            </a:r>
            <a:endParaRPr lang="fr-FR" sz="16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7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463829" y="1627595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PAR GÉLULE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942559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POSOLOGIE</a:t>
            </a:r>
            <a:endParaRPr sz="24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115588"/>
              </p:ext>
            </p:extLst>
          </p:nvPr>
        </p:nvGraphicFramePr>
        <p:xfrm>
          <a:off x="5819607" y="5546938"/>
          <a:ext cx="5808286" cy="10985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04143"/>
                <a:gridCol w="2904143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2 gélules par jour  au moment  du</a:t>
                      </a:r>
                      <a:r>
                        <a:rPr lang="fr-FR" sz="1600" baseline="0" dirty="0" smtClean="0">
                          <a:latin typeface="Montserrat" panose="020B0604020202020204" charset="0"/>
                        </a:rPr>
                        <a:t> repas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1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ANTIPELLICULAIRE GELULE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pic>
        <p:nvPicPr>
          <p:cNvPr id="7170" name="Picture 2" descr="https://vital.com.tn/wp-content/uploads/2025/07/PHYTOFANE-Antipelliculai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5" y="2064217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69741" y="84084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fr-FR" sz="1600" dirty="0" smtClean="0">
                <a:latin typeface="Montserrat" panose="020B0604020202020204" charset="0"/>
              </a:rPr>
              <a:t> 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13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923188" y="2477987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 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0541" y="667935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Elimine durablement les pellicules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Prévient efficacement les récidives de pellicules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Purifier et apaise les démangeaisons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 charset="0"/>
              </a:rPr>
              <a:t>Réduit la sécrétion du sébum </a:t>
            </a:r>
            <a:endParaRPr lang="fr-FR" sz="16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82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463829" y="1627595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</a:t>
            </a:r>
            <a:r>
              <a:rPr lang="fr-FR" sz="2400" dirty="0" smtClean="0">
                <a:latin typeface="Montserrat" panose="020B0604020202020204" charset="0"/>
              </a:rPr>
              <a:t>Pour 120 ML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905889" y="4417179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 smtClean="0">
                <a:latin typeface="Montserrat" panose="020B0604020202020204" charset="0"/>
              </a:rPr>
              <a:t>CONSEILS D’UTILISATION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SERUM LISSANT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2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598778" y="46949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sz="1600" dirty="0" smtClean="0">
                <a:latin typeface="Montserrat" panose="020B0604020202020204" charset="0"/>
              </a:rPr>
              <a:t> </a:t>
            </a:r>
            <a:endParaRPr lang="fr-FR" sz="1600" dirty="0"/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/>
              </a:rPr>
              <a:t>Favorise </a:t>
            </a:r>
            <a:r>
              <a:rPr lang="fr-FR" sz="1600" dirty="0">
                <a:latin typeface="Montserrat" panose="020B0604020202020204"/>
              </a:rPr>
              <a:t>une vitalité aux cheveux cassants et secs en améliorant leur brillance, leur souplesse et leur hydratation. </a:t>
            </a:r>
            <a:endParaRPr sz="1600" dirty="0">
              <a:latin typeface="Montserrat" panose="020B0604020202020204"/>
            </a:endParaRPr>
          </a:p>
        </p:txBody>
      </p:sp>
      <p:sp>
        <p:nvSpPr>
          <p:cNvPr id="13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598778" y="2300301"/>
            <a:ext cx="6706433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it-IT" sz="1600" dirty="0" smtClean="0">
                <a:solidFill>
                  <a:schemeClr val="tx1"/>
                </a:solidFill>
                <a:latin typeface="Montserrat" panose="020B0604020202020204"/>
              </a:rPr>
              <a:t>Vitamine </a:t>
            </a:r>
            <a:r>
              <a:rPr lang="it-IT" sz="1600" dirty="0">
                <a:solidFill>
                  <a:schemeClr val="tx1"/>
                </a:solidFill>
                <a:latin typeface="Montserrat" panose="020B0604020202020204"/>
              </a:rPr>
              <a:t>E huile (45%) </a:t>
            </a:r>
            <a:r>
              <a:rPr lang="it-IT" sz="1600" dirty="0" smtClean="0">
                <a:solidFill>
                  <a:schemeClr val="tx1"/>
                </a:solidFill>
                <a:latin typeface="Montserrat" panose="020B0604020202020204"/>
              </a:rPr>
              <a:t>(DL-alpha-Tocopherol Acetate</a:t>
            </a:r>
            <a:r>
              <a:rPr lang="fr-FR" sz="1600" dirty="0" smtClean="0">
                <a:solidFill>
                  <a:schemeClr val="tx1"/>
                </a:solidFill>
                <a:latin typeface="Montserrat" panose="020B0604020202020204"/>
              </a:rPr>
              <a:t>TOCOPHERYL ACETATE:0.5424 g) </a:t>
            </a:r>
            <a:r>
              <a:rPr lang="fr-FR" sz="1600" dirty="0">
                <a:solidFill>
                  <a:schemeClr val="tx1"/>
                </a:solidFill>
                <a:latin typeface="Montserrat" panose="020B0604020202020204"/>
              </a:rPr>
              <a:t>	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Montserrat" panose="020B0604020202020204"/>
              </a:rPr>
              <a:t>Huile de jojoba (</a:t>
            </a:r>
            <a:r>
              <a:rPr lang="en-US" sz="1600" dirty="0" smtClean="0">
                <a:solidFill>
                  <a:schemeClr val="tx1"/>
                </a:solidFill>
                <a:latin typeface="Montserrat" panose="020B0604020202020204"/>
              </a:rPr>
              <a:t>SIMMONDSIA </a:t>
            </a:r>
            <a:r>
              <a:rPr lang="en-US" sz="1600" dirty="0">
                <a:solidFill>
                  <a:schemeClr val="tx1"/>
                </a:solidFill>
                <a:latin typeface="Montserrat" panose="020B0604020202020204"/>
              </a:rPr>
              <a:t>CHINENSIS SEED </a:t>
            </a:r>
            <a:r>
              <a:rPr lang="en-US" sz="1600" dirty="0" smtClean="0">
                <a:solidFill>
                  <a:schemeClr val="tx1"/>
                </a:solidFill>
                <a:latin typeface="Montserrat" panose="020B0604020202020204"/>
              </a:rPr>
              <a:t>OIL:0.2712g)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Montserrat" panose="020B0604020202020204"/>
              </a:rPr>
              <a:t>Huile </a:t>
            </a:r>
            <a:r>
              <a:rPr lang="fr-FR" sz="1600" dirty="0">
                <a:solidFill>
                  <a:schemeClr val="tx1"/>
                </a:solidFill>
                <a:latin typeface="Montserrat" panose="020B0604020202020204"/>
              </a:rPr>
              <a:t>d’amande </a:t>
            </a:r>
            <a:r>
              <a:rPr lang="fr-FR" sz="1600" dirty="0" smtClean="0">
                <a:solidFill>
                  <a:schemeClr val="tx1"/>
                </a:solidFill>
                <a:latin typeface="Montserrat" panose="020B0604020202020204"/>
              </a:rPr>
              <a:t>douce( PRUNUS </a:t>
            </a:r>
            <a:r>
              <a:rPr lang="fr-FR" sz="1600" dirty="0">
                <a:solidFill>
                  <a:schemeClr val="tx1"/>
                </a:solidFill>
                <a:latin typeface="Montserrat" panose="020B0604020202020204"/>
              </a:rPr>
              <a:t>AMYGDALUS DULCIS </a:t>
            </a:r>
            <a:r>
              <a:rPr lang="fr-FR" sz="1600" dirty="0" smtClean="0">
                <a:solidFill>
                  <a:schemeClr val="tx1"/>
                </a:solidFill>
                <a:latin typeface="Montserrat" panose="020B0604020202020204"/>
              </a:rPr>
              <a:t>OIL:0.1356 g) 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Montserrat" panose="020B0604020202020204"/>
              </a:rPr>
              <a:t>Huile </a:t>
            </a:r>
            <a:r>
              <a:rPr lang="fr-FR" sz="1600" dirty="0">
                <a:solidFill>
                  <a:schemeClr val="tx1"/>
                </a:solidFill>
                <a:latin typeface="Montserrat" panose="020B0604020202020204"/>
              </a:rPr>
              <a:t>de </a:t>
            </a:r>
            <a:r>
              <a:rPr lang="fr-FR" sz="1600" dirty="0" smtClean="0">
                <a:solidFill>
                  <a:schemeClr val="tx1"/>
                </a:solidFill>
                <a:latin typeface="Montserrat" panose="020B0604020202020204"/>
              </a:rPr>
              <a:t>sésame(SESAMUM </a:t>
            </a:r>
            <a:r>
              <a:rPr lang="fr-FR" sz="1600" dirty="0">
                <a:solidFill>
                  <a:schemeClr val="tx1"/>
                </a:solidFill>
                <a:latin typeface="Montserrat" panose="020B0604020202020204"/>
              </a:rPr>
              <a:t>INDICUM SEED </a:t>
            </a:r>
            <a:r>
              <a:rPr lang="fr-FR" sz="1600" dirty="0" smtClean="0">
                <a:solidFill>
                  <a:schemeClr val="tx1"/>
                </a:solidFill>
                <a:latin typeface="Montserrat" panose="020B0604020202020204"/>
              </a:rPr>
              <a:t>OIL:0,1356g )</a:t>
            </a:r>
            <a:r>
              <a:rPr lang="fr-FR" sz="1600" dirty="0"/>
              <a:t>		</a:t>
            </a:r>
          </a:p>
        </p:txBody>
      </p:sp>
      <p:pic>
        <p:nvPicPr>
          <p:cNvPr id="1026" name="Picture 2" descr="https://vital.com.tn/wp-content/uploads/2022/07/PHYTOPHANE-serum-lissa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32" y="2127194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905889" y="5048423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/>
              </a:rPr>
              <a:t>Déposez quelques gouttes au creux de vos mains et appliquez sur</a:t>
            </a:r>
            <a:br>
              <a:rPr lang="fr-FR" sz="1600" dirty="0">
                <a:latin typeface="Montserrat" panose="020B0604020202020204"/>
              </a:rPr>
            </a:br>
            <a:r>
              <a:rPr lang="fr-FR" sz="1600" dirty="0">
                <a:latin typeface="Montserrat" panose="020B0604020202020204"/>
              </a:rPr>
              <a:t>toute la chevelure en </a:t>
            </a:r>
            <a:r>
              <a:rPr lang="fr-FR" sz="1600" dirty="0" smtClean="0">
                <a:latin typeface="Montserrat" panose="020B0604020202020204"/>
              </a:rPr>
              <a:t>massant après la douche</a:t>
            </a:r>
            <a:endParaRPr lang="fr-FR" sz="1600" dirty="0">
              <a:latin typeface="Montserrat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1423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231495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INDICATIONS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489955" y="2036179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>
                <a:latin typeface="Montserrat" panose="020B0604020202020204" charset="0"/>
              </a:rPr>
              <a:t>COMPOSITION </a:t>
            </a:r>
            <a:r>
              <a:rPr lang="fr-FR" sz="2400" dirty="0" smtClean="0">
                <a:latin typeface="Montserrat" panose="020B0604020202020204" charset="0"/>
              </a:rPr>
              <a:t>Pour 120 ML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905889" y="399740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 smtClean="0">
                <a:latin typeface="Montserrat" panose="020B0604020202020204" charset="0"/>
              </a:rPr>
              <a:t>CONSEILS D’UTILISATION</a:t>
            </a:r>
            <a:endParaRPr sz="2400" dirty="0">
              <a:latin typeface="Montserrat" panose="020B0604020202020204" charset="0"/>
            </a:endParaRPr>
          </a:p>
        </p:txBody>
      </p:sp>
      <p:sp>
        <p:nvSpPr>
          <p:cNvPr id="1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-1149533" y="691545"/>
            <a:ext cx="7458891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PHYTOPHANE HUILE D’ARGAN</a:t>
            </a:r>
            <a:endParaRPr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2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805020" y="431721"/>
            <a:ext cx="5334833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fr-FR" sz="1600" dirty="0" smtClean="0">
                <a:latin typeface="Montserrat" panose="020B0604020202020204" charset="0"/>
              </a:rPr>
              <a:t> </a:t>
            </a:r>
            <a:endParaRPr lang="fr-FR" sz="1600" dirty="0"/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fr-FR" sz="1600" dirty="0" err="1" smtClean="0">
                <a:latin typeface="Montserrat" panose="020B0604020202020204"/>
              </a:rPr>
              <a:t>Nourit,hydrate,répare</a:t>
            </a:r>
            <a:r>
              <a:rPr lang="fr-FR" sz="1600" dirty="0" smtClean="0">
                <a:latin typeface="Montserrat" panose="020B0604020202020204"/>
              </a:rPr>
              <a:t> et </a:t>
            </a:r>
            <a:r>
              <a:rPr lang="fr-FR" sz="1600" dirty="0" err="1" smtClean="0">
                <a:latin typeface="Montserrat" panose="020B0604020202020204"/>
              </a:rPr>
              <a:t>protége</a:t>
            </a:r>
            <a:r>
              <a:rPr lang="fr-FR" sz="1600" dirty="0" smtClean="0">
                <a:latin typeface="Montserrat" panose="020B0604020202020204"/>
              </a:rPr>
              <a:t> les cheveux secs et abimés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/>
              </a:rPr>
              <a:t>Assure une protection et une hydratation prolongée des peaux </a:t>
            </a:r>
            <a:r>
              <a:rPr lang="fr-FR" sz="1600" dirty="0" err="1" smtClean="0">
                <a:latin typeface="Montserrat" panose="020B0604020202020204"/>
              </a:rPr>
              <a:t>séches</a:t>
            </a:r>
            <a:endParaRPr lang="fr-FR" sz="1600" dirty="0">
              <a:latin typeface="Montserrat" panose="020B0604020202020204"/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fr-FR" sz="1600" dirty="0" smtClean="0">
                <a:latin typeface="Montserrat" panose="020B0604020202020204"/>
              </a:rPr>
              <a:t>Prévient le </a:t>
            </a:r>
            <a:r>
              <a:rPr lang="fr-FR" sz="1600" dirty="0" err="1" smtClean="0">
                <a:latin typeface="Montserrat" panose="020B0604020202020204"/>
              </a:rPr>
              <a:t>veillissement</a:t>
            </a:r>
            <a:r>
              <a:rPr lang="fr-FR" sz="1600" dirty="0" smtClean="0">
                <a:latin typeface="Montserrat" panose="020B0604020202020204"/>
              </a:rPr>
              <a:t> </a:t>
            </a:r>
            <a:r>
              <a:rPr lang="fr-FR" sz="1600" dirty="0" err="1" smtClean="0">
                <a:latin typeface="Montserrat" panose="020B0604020202020204"/>
              </a:rPr>
              <a:t>cutanè</a:t>
            </a:r>
            <a:endParaRPr sz="1600" dirty="0">
              <a:latin typeface="Montserrat" panose="020B0604020202020204"/>
            </a:endParaRPr>
          </a:p>
        </p:txBody>
      </p:sp>
      <p:pic>
        <p:nvPicPr>
          <p:cNvPr id="2052" name="Picture 4" descr="https://vital.com.tn/wp-content/uploads/2022/07/PHYTOPHANE-huile-darga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" y="2512179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057867" y="2698322"/>
            <a:ext cx="74491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/>
              </a:rPr>
              <a:t>Huile </a:t>
            </a:r>
            <a:r>
              <a:rPr lang="fr-FR" sz="1600" dirty="0" smtClean="0">
                <a:latin typeface="Montserrat" panose="020B0604020202020204"/>
              </a:rPr>
              <a:t>d’argan(</a:t>
            </a:r>
            <a:r>
              <a:rPr lang="fr-FR" sz="1600" dirty="0" err="1" smtClean="0">
                <a:latin typeface="Montserrat" panose="020B0604020202020204"/>
              </a:rPr>
              <a:t>argania</a:t>
            </a:r>
            <a:r>
              <a:rPr lang="fr-FR" sz="1600" dirty="0" smtClean="0">
                <a:latin typeface="Montserrat" panose="020B0604020202020204"/>
              </a:rPr>
              <a:t> </a:t>
            </a:r>
            <a:r>
              <a:rPr lang="fr-FR" sz="1600" dirty="0" err="1">
                <a:latin typeface="Montserrat" panose="020B0604020202020204"/>
              </a:rPr>
              <a:t>spinosa</a:t>
            </a:r>
            <a:r>
              <a:rPr lang="fr-FR" sz="1600" dirty="0">
                <a:latin typeface="Montserrat" panose="020B0604020202020204"/>
              </a:rPr>
              <a:t> </a:t>
            </a:r>
            <a:r>
              <a:rPr lang="fr-FR" sz="1600" dirty="0" err="1">
                <a:latin typeface="Montserrat" panose="020B0604020202020204"/>
              </a:rPr>
              <a:t>kernel</a:t>
            </a:r>
            <a:r>
              <a:rPr lang="fr-FR" sz="1600" dirty="0">
                <a:latin typeface="Montserrat" panose="020B0604020202020204"/>
              </a:rPr>
              <a:t> </a:t>
            </a:r>
            <a:r>
              <a:rPr lang="fr-FR" sz="1600" dirty="0" smtClean="0">
                <a:latin typeface="Montserrat" panose="020B0604020202020204"/>
              </a:rPr>
              <a:t>oil:</a:t>
            </a:r>
            <a:r>
              <a:rPr lang="fr-FR" sz="1600" i="1" dirty="0" smtClean="0">
                <a:latin typeface="Montserrat" panose="020B0604020202020204"/>
              </a:rPr>
              <a:t>1.044 g)</a:t>
            </a:r>
            <a:endParaRPr lang="fr-FR" sz="1600" i="1" dirty="0">
              <a:latin typeface="Montserrat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/>
              </a:rPr>
              <a:t>Huile </a:t>
            </a:r>
            <a:r>
              <a:rPr lang="fr-FR" sz="1600" dirty="0" smtClean="0">
                <a:latin typeface="Montserrat" panose="020B0604020202020204"/>
              </a:rPr>
              <a:t>d’</a:t>
            </a:r>
            <a:r>
              <a:rPr lang="fr-FR" sz="1600" dirty="0" err="1" smtClean="0">
                <a:latin typeface="Montserrat" panose="020B0604020202020204"/>
              </a:rPr>
              <a:t>avocat’persea</a:t>
            </a:r>
            <a:r>
              <a:rPr lang="fr-FR" sz="1600" dirty="0" smtClean="0">
                <a:latin typeface="Montserrat" panose="020B0604020202020204"/>
              </a:rPr>
              <a:t> </a:t>
            </a:r>
            <a:r>
              <a:rPr lang="fr-FR" sz="1600" dirty="0" err="1">
                <a:latin typeface="Montserrat" panose="020B0604020202020204"/>
              </a:rPr>
              <a:t>gratissima</a:t>
            </a:r>
            <a:r>
              <a:rPr lang="fr-FR" sz="1600" dirty="0">
                <a:latin typeface="Montserrat" panose="020B0604020202020204"/>
              </a:rPr>
              <a:t> </a:t>
            </a:r>
            <a:r>
              <a:rPr lang="fr-FR" sz="1600" dirty="0" smtClean="0">
                <a:latin typeface="Montserrat" panose="020B0604020202020204"/>
              </a:rPr>
              <a:t>oil:</a:t>
            </a:r>
            <a:r>
              <a:rPr lang="fr-FR" sz="1600" i="1" dirty="0" smtClean="0">
                <a:latin typeface="Montserrat" panose="020B0604020202020204"/>
              </a:rPr>
              <a:t>1.044 g)</a:t>
            </a:r>
            <a:endParaRPr lang="fr-FR" sz="1600" i="1" dirty="0">
              <a:latin typeface="Montserrat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/>
              </a:rPr>
              <a:t>Vitamine </a:t>
            </a:r>
            <a:r>
              <a:rPr lang="fr-FR" sz="1600" dirty="0" smtClean="0">
                <a:latin typeface="Montserrat" panose="020B0604020202020204"/>
              </a:rPr>
              <a:t>E(Alphatocophérol:</a:t>
            </a:r>
            <a:r>
              <a:rPr lang="fr-FR" sz="1600" i="1" dirty="0" smtClean="0">
                <a:latin typeface="Montserrat" panose="020B0604020202020204"/>
              </a:rPr>
              <a:t>0.4176 g)</a:t>
            </a:r>
            <a:endParaRPr lang="fr-FR" sz="1600" dirty="0">
              <a:latin typeface="Montserrat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57867" y="4549676"/>
            <a:ext cx="62782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0000"/>
                </a:solidFill>
                <a:latin typeface="Montserrat" panose="020B0604020202020204"/>
              </a:rPr>
              <a:t>L’huile d’argan peut s’appliquer en masque.</a:t>
            </a:r>
            <a:r>
              <a:rPr lang="fr-FR" sz="1600" dirty="0">
                <a:latin typeface="Montserrat" panose="020B0604020202020204"/>
              </a:rPr>
              <a:t/>
            </a:r>
            <a:br>
              <a:rPr lang="fr-FR" sz="1600" dirty="0">
                <a:latin typeface="Montserrat" panose="020B0604020202020204"/>
              </a:rPr>
            </a:br>
            <a:r>
              <a:rPr lang="fr-FR" sz="1600" dirty="0">
                <a:solidFill>
                  <a:srgbClr val="000000"/>
                </a:solidFill>
                <a:latin typeface="Montserrat" panose="020B0604020202020204"/>
              </a:rPr>
              <a:t>Vous pouvez ensuite masser votre cuir chevelu en effectuant de petits mouvements</a:t>
            </a:r>
            <a:r>
              <a:rPr lang="fr-FR" sz="1600" dirty="0">
                <a:latin typeface="Montserrat" panose="020B0604020202020204"/>
              </a:rPr>
              <a:t/>
            </a:r>
            <a:br>
              <a:rPr lang="fr-FR" sz="1600" dirty="0">
                <a:latin typeface="Montserrat" panose="020B0604020202020204"/>
              </a:rPr>
            </a:br>
            <a:r>
              <a:rPr lang="fr-FR" sz="1600" dirty="0">
                <a:solidFill>
                  <a:srgbClr val="000000"/>
                </a:solidFill>
                <a:latin typeface="Montserrat" panose="020B0604020202020204"/>
              </a:rPr>
              <a:t>circulaires, et laissez poser minimum 30 minutes.</a:t>
            </a:r>
            <a:r>
              <a:rPr lang="fr-FR" sz="1600" dirty="0">
                <a:latin typeface="Montserrat" panose="020B0604020202020204"/>
              </a:rPr>
              <a:t/>
            </a:r>
            <a:br>
              <a:rPr lang="fr-FR" sz="1600" dirty="0">
                <a:latin typeface="Montserrat" panose="020B0604020202020204"/>
              </a:rPr>
            </a:br>
            <a:r>
              <a:rPr lang="fr-FR" sz="1600" dirty="0">
                <a:solidFill>
                  <a:srgbClr val="000000"/>
                </a:solidFill>
                <a:latin typeface="Montserrat" panose="020B0604020202020204"/>
              </a:rPr>
              <a:t>Ensuite, lavez vos cheveux deux fois d’affilée pour enlever les résidus</a:t>
            </a:r>
            <a:r>
              <a:rPr lang="fr-FR" sz="1600" dirty="0">
                <a:latin typeface="Montserrat" panose="020B0604020202020204"/>
              </a:rPr>
              <a:t/>
            </a:r>
            <a:br>
              <a:rPr lang="fr-FR" sz="1600" dirty="0">
                <a:latin typeface="Montserrat" panose="020B0604020202020204"/>
              </a:rPr>
            </a:br>
            <a:r>
              <a:rPr lang="fr-FR" sz="1600" dirty="0">
                <a:solidFill>
                  <a:srgbClr val="000000"/>
                </a:solidFill>
                <a:latin typeface="Montserrat" panose="020B0604020202020204"/>
              </a:rPr>
              <a:t>d’huile, et découvrez vos cheveux adoucis et en pleine forme.</a:t>
            </a:r>
            <a:r>
              <a:rPr lang="fr-FR" sz="1600" dirty="0">
                <a:latin typeface="Montserrat" panose="020B0604020202020204"/>
              </a:rPr>
              <a:t/>
            </a:r>
            <a:br>
              <a:rPr lang="fr-FR" sz="1600" dirty="0">
                <a:latin typeface="Montserrat" panose="020B0604020202020204"/>
              </a:rPr>
            </a:br>
            <a:r>
              <a:rPr lang="fr-FR" sz="1600" dirty="0">
                <a:solidFill>
                  <a:srgbClr val="000000"/>
                </a:solidFill>
                <a:latin typeface="Montserrat" panose="020B0604020202020204"/>
              </a:rPr>
              <a:t>Appliquez également un peu d’huile d’argan sur cheveux secs</a:t>
            </a:r>
            <a:r>
              <a:rPr lang="fr-FR" sz="1600" dirty="0">
                <a:latin typeface="Montserrat" panose="020B0604020202020204"/>
              </a:rPr>
              <a:t/>
            </a:r>
            <a:br>
              <a:rPr lang="fr-FR" sz="1600" dirty="0">
                <a:latin typeface="Montserrat" panose="020B0604020202020204"/>
              </a:rPr>
            </a:br>
            <a:r>
              <a:rPr lang="fr-FR" sz="1600" dirty="0">
                <a:solidFill>
                  <a:srgbClr val="000000"/>
                </a:solidFill>
                <a:latin typeface="Montserrat" panose="020B0604020202020204"/>
              </a:rPr>
              <a:t>en cas de frisottis</a:t>
            </a:r>
            <a:endParaRPr lang="fr-FR" sz="1600" dirty="0">
              <a:latin typeface="Montserrat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5965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732</Words>
  <Application>Microsoft Office PowerPoint</Application>
  <PresentationFormat>Grand écran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Arial</vt:lpstr>
      <vt:lpstr>Calibri</vt:lpstr>
      <vt:lpstr>Montserrat</vt:lpstr>
      <vt:lpstr>Oswald Medium</vt:lpstr>
      <vt:lpstr>Poppins</vt:lpstr>
      <vt:lpstr>Raleway</vt:lpstr>
      <vt:lpstr>Minimalist SEO Strategy by Slidesgo</vt:lpstr>
      <vt:lpstr>1_Minimalist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</dc:creator>
  <cp:lastModifiedBy>a</cp:lastModifiedBy>
  <cp:revision>16</cp:revision>
  <dcterms:created xsi:type="dcterms:W3CDTF">2026-03-09T19:28:26Z</dcterms:created>
  <dcterms:modified xsi:type="dcterms:W3CDTF">2026-03-10T09:44:46Z</dcterms:modified>
</cp:coreProperties>
</file>