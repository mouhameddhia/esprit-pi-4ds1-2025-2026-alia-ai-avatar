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5"/>
  </p:notesMasterIdLst>
  <p:sldIdLst>
    <p:sldId id="307" r:id="rId2"/>
    <p:sldId id="258" r:id="rId3"/>
    <p:sldId id="372" r:id="rId4"/>
    <p:sldId id="373" r:id="rId5"/>
    <p:sldId id="374" r:id="rId6"/>
    <p:sldId id="375" r:id="rId7"/>
    <p:sldId id="376" r:id="rId8"/>
    <p:sldId id="377" r:id="rId9"/>
    <p:sldId id="381" r:id="rId10"/>
    <p:sldId id="382" r:id="rId11"/>
    <p:sldId id="378" r:id="rId12"/>
    <p:sldId id="379" r:id="rId13"/>
    <p:sldId id="380" r:id="rId14"/>
  </p:sldIdLst>
  <p:sldSz cx="9144000" cy="5143500" type="screen16x9"/>
  <p:notesSz cx="6858000" cy="9144000"/>
  <p:embeddedFontLst>
    <p:embeddedFont>
      <p:font typeface="Poppins" panose="020B0604020202020204" charset="0"/>
      <p:regular r:id="rId16"/>
      <p:bold r:id="rId17"/>
      <p:italic r:id="rId18"/>
      <p:boldItalic r:id="rId19"/>
    </p:embeddedFont>
    <p:embeddedFont>
      <p:font typeface="Montserrat" panose="020B0604020202020204" charset="0"/>
      <p:regular r:id="rId20"/>
      <p:bold r:id="rId21"/>
      <p:italic r:id="rId22"/>
      <p:boldItalic r:id="rId23"/>
    </p:embeddedFont>
    <p:embeddedFont>
      <p:font typeface="Oswald Medium" panose="020B0604020202020204" charset="0"/>
      <p:regular r:id="rId24"/>
      <p:bold r:id="rId25"/>
    </p:embeddedFont>
    <p:embeddedFont>
      <p:font typeface="Raleway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D6D"/>
    <a:srgbClr val="35535B"/>
    <a:srgbClr val="E14D4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974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1002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4592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7362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517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305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2985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8665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2551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649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598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834428" y="341801"/>
            <a:ext cx="56984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5400" cap="all" dirty="0" smtClean="0">
                <a:solidFill>
                  <a:srgbClr val="E14D4D"/>
                </a:solidFill>
              </a:rPr>
              <a:t>VITONIC</a:t>
            </a:r>
            <a:endParaRPr lang="fr-FR" sz="54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640080" y="57350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Supplémentation complète pour la femme enceinte selon les recommandations de l'OMS 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19116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05461" y="457985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VITONIC Grossesse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589628"/>
            <a:ext cx="38103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1,8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d'iode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70691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503347"/>
              </p:ext>
            </p:extLst>
          </p:nvPr>
        </p:nvGraphicFramePr>
        <p:xfrm>
          <a:off x="4364705" y="4160203"/>
          <a:ext cx="3737340" cy="823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au moment  du</a:t>
                      </a:r>
                      <a:r>
                        <a:rPr lang="fr-FR" sz="1000" baseline="0" dirty="0" smtClean="0">
                          <a:latin typeface="Montserrat" panose="020B0604020202020204" charset="0"/>
                        </a:rPr>
                        <a:t> repas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Montserrat" panose="020B0604020202020204" charset="0"/>
                        </a:rPr>
                        <a:t>       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1420" y="1620420"/>
            <a:ext cx="4035235" cy="3139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Palier </a:t>
            </a:r>
            <a:r>
              <a:rPr lang="fr-FR" sz="1200" dirty="0">
                <a:latin typeface="Montserrat" panose="020B0604020202020204" charset="0"/>
              </a:rPr>
              <a:t>les carences en fer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Apport </a:t>
            </a:r>
            <a:r>
              <a:rPr lang="fr-FR" sz="1200" dirty="0">
                <a:latin typeface="Montserrat" panose="020B0604020202020204" charset="0"/>
              </a:rPr>
              <a:t>en vitamines et oligo-éléments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les nausées matinales au cours de la grossesse 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39833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69743" y="499365"/>
            <a:ext cx="4909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VITONIC Fer Grossesse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796799"/>
            <a:ext cx="3810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4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d'E.S de Gingembre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Zingiber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officinale)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Bisglycinate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de fer=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65,1163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de cuivre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D3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70691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3737"/>
              </p:ext>
            </p:extLst>
          </p:nvPr>
        </p:nvGraphicFramePr>
        <p:xfrm>
          <a:off x="4364705" y="4160203"/>
          <a:ext cx="3737340" cy="823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au moment  du</a:t>
                      </a:r>
                      <a:r>
                        <a:rPr lang="fr-FR" sz="1000" baseline="0" dirty="0" smtClean="0">
                          <a:latin typeface="Montserrat" panose="020B0604020202020204" charset="0"/>
                        </a:rPr>
                        <a:t> repas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Montserrat" panose="020B0604020202020204" charset="0"/>
                        </a:rPr>
                        <a:t>       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1641" y="1649689"/>
            <a:ext cx="4141076" cy="31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4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2361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466325"/>
            <a:ext cx="4609526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la montée laiteuse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</a:t>
            </a:r>
            <a:r>
              <a:rPr lang="fr-FR" sz="1200" dirty="0">
                <a:latin typeface="Montserrat" panose="020B0604020202020204" charset="0"/>
              </a:rPr>
              <a:t>une bonne qualité du lait maternel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Réponds </a:t>
            </a:r>
            <a:r>
              <a:rPr lang="fr-FR" sz="1200" dirty="0">
                <a:latin typeface="Montserrat" panose="020B0604020202020204" charset="0"/>
              </a:rPr>
              <a:t>aux besoins spécifiques de la femme allaitante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Polie </a:t>
            </a:r>
            <a:r>
              <a:rPr lang="fr-FR" sz="1200" dirty="0">
                <a:latin typeface="Montserrat" panose="020B0604020202020204" charset="0"/>
              </a:rPr>
              <a:t>certaines carences en vitamine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74330" y="1488142"/>
            <a:ext cx="4110061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</a:t>
            </a:r>
            <a:r>
              <a:rPr lang="fr-FR" sz="1800" dirty="0" smtClean="0">
                <a:latin typeface="Montserrat" panose="020B0604020202020204" charset="0"/>
              </a:rPr>
              <a:t>POUR 3 GÉLULES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69741" y="465129"/>
            <a:ext cx="41075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>
                <a:solidFill>
                  <a:schemeClr val="bg1"/>
                </a:solidFill>
                <a:latin typeface="Montserrat" panose="020B0604020202020204" charset="0"/>
              </a:rPr>
              <a:t>VITONIC Allaitement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925388"/>
            <a:ext cx="21663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d'E.S de Fenugrec 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485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levure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bière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68548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24012"/>
              </p:ext>
            </p:extLst>
          </p:nvPr>
        </p:nvGraphicFramePr>
        <p:xfrm>
          <a:off x="4364705" y="4138769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Au moment des repas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45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517768" y="1925388"/>
            <a:ext cx="20864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9089" y="1736393"/>
            <a:ext cx="4120055" cy="31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6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Pallie </a:t>
            </a:r>
            <a:r>
              <a:rPr lang="fr-FR" sz="1200" dirty="0">
                <a:latin typeface="Montserrat" panose="020B0604020202020204" charset="0"/>
              </a:rPr>
              <a:t>les carences en fer et </a:t>
            </a:r>
            <a:r>
              <a:rPr lang="fr-FR" sz="1200" dirty="0" smtClean="0">
                <a:latin typeface="Montserrat" panose="020B0604020202020204" charset="0"/>
              </a:rPr>
              <a:t>rétablit </a:t>
            </a:r>
            <a:r>
              <a:rPr lang="fr-FR" sz="1200" dirty="0">
                <a:latin typeface="Montserrat" panose="020B0604020202020204" charset="0"/>
              </a:rPr>
              <a:t>les réserves en fer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Prévient </a:t>
            </a:r>
            <a:r>
              <a:rPr lang="fr-FR" sz="1200" dirty="0">
                <a:latin typeface="Montserrat" panose="020B0604020202020204" charset="0"/>
              </a:rPr>
              <a:t>et traite les symptômes de la </a:t>
            </a:r>
            <a:r>
              <a:rPr lang="fr-FR" sz="1200" dirty="0" smtClean="0">
                <a:latin typeface="Montserrat" panose="020B0604020202020204" charset="0"/>
              </a:rPr>
              <a:t>ménopause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Calme </a:t>
            </a:r>
            <a:r>
              <a:rPr lang="fr-FR" sz="1200" dirty="0">
                <a:latin typeface="Montserrat" panose="020B0604020202020204" charset="0"/>
              </a:rPr>
              <a:t>et traite les symptômes prémenstruels et dysménorrhées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Activité </a:t>
            </a:r>
            <a:r>
              <a:rPr lang="fr-FR" sz="1200" dirty="0">
                <a:latin typeface="Montserrat" panose="020B0604020202020204" charset="0"/>
              </a:rPr>
              <a:t>phyto-</a:t>
            </a:r>
            <a:r>
              <a:rPr lang="fr-FR" sz="1200" dirty="0" err="1">
                <a:latin typeface="Montserrat" panose="020B0604020202020204" charset="0"/>
              </a:rPr>
              <a:t>oestrogénique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96984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46022" y="472556"/>
            <a:ext cx="490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Fer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368309"/>
            <a:ext cx="43912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130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d'Angélique (Angelico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152,76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Bisglycinate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fer(33 mg de fer élément)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56032" y="393796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704588"/>
              </p:ext>
            </p:extLst>
          </p:nvPr>
        </p:nvGraphicFramePr>
        <p:xfrm>
          <a:off x="4376525" y="4349816"/>
          <a:ext cx="3737340" cy="5800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Montserrat" panose="020B0604020202020204" charset="0"/>
                        </a:rPr>
                        <a:t>       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623" y="1688203"/>
            <a:ext cx="4151587" cy="31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3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Carences </a:t>
            </a:r>
            <a:r>
              <a:rPr lang="fr-FR" sz="1200" dirty="0">
                <a:latin typeface="Montserrat" panose="020B0604020202020204" charset="0"/>
              </a:rPr>
              <a:t>en vitamines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Immunité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Vitalité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Tonus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Apaisement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32451" y="1491479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2 GÉLULES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46022" y="472556"/>
            <a:ext cx="490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Tonus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882531"/>
            <a:ext cx="22520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Prébiotique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195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65691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33617"/>
              </p:ext>
            </p:extLst>
          </p:nvPr>
        </p:nvGraphicFramePr>
        <p:xfrm>
          <a:off x="4364705" y="4110195"/>
          <a:ext cx="3737340" cy="8552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2 gélules par jour à avaler au moment des repas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65841" y="1882531"/>
            <a:ext cx="22520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0,8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d'iode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B8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Chrome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Vitamine 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2152" y="1832450"/>
            <a:ext cx="4183117" cy="305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2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446022" y="472556"/>
            <a:ext cx="490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Tonus+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29429" y="1872494"/>
            <a:ext cx="22520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79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Calcium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B8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71406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44778"/>
              </p:ext>
            </p:extLst>
          </p:nvPr>
        </p:nvGraphicFramePr>
        <p:xfrm>
          <a:off x="4364705" y="4167347"/>
          <a:ext cx="3737340" cy="823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(Formule jour)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(Formule nuit)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60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81518" y="1886765"/>
            <a:ext cx="22520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75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Magnésium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70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Passiflore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Passiflora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incarnata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0,8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</p:txBody>
      </p:sp>
      <p:sp>
        <p:nvSpPr>
          <p:cNvPr id="20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34763" y="1173602"/>
            <a:ext cx="2458128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400" dirty="0">
                <a:latin typeface="Montserrat" panose="020B0604020202020204" charset="0"/>
              </a:rPr>
              <a:t>COMPOSITION PAR GÉLULE FORMULE JOUR </a:t>
            </a:r>
            <a:endParaRPr sz="1400" dirty="0">
              <a:latin typeface="Montserrat" panose="020B0604020202020204" charset="0"/>
            </a:endParaRPr>
          </a:p>
        </p:txBody>
      </p:sp>
      <p:sp>
        <p:nvSpPr>
          <p:cNvPr id="23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6245195" y="1177707"/>
            <a:ext cx="2276979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400" dirty="0" smtClean="0">
                <a:latin typeface="Montserrat" panose="020B0604020202020204" charset="0"/>
              </a:rPr>
              <a:t>COMPOSITION </a:t>
            </a:r>
            <a:r>
              <a:rPr lang="fr-FR" sz="1400" dirty="0">
                <a:latin typeface="Montserrat" panose="020B0604020202020204" charset="0"/>
              </a:rPr>
              <a:t>PAR GÉLULE FORMULE </a:t>
            </a:r>
            <a:r>
              <a:rPr lang="fr-FR" sz="1400" dirty="0" smtClean="0">
                <a:latin typeface="Montserrat" panose="020B0604020202020204" charset="0"/>
              </a:rPr>
              <a:t>NUIT </a:t>
            </a:r>
            <a:endParaRPr sz="1400" dirty="0"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0405" y="1646371"/>
            <a:ext cx="4141881" cy="3251450"/>
          </a:xfrm>
          <a:prstGeom prst="rect">
            <a:avLst/>
          </a:prstGeom>
        </p:spPr>
      </p:pic>
      <p:sp>
        <p:nvSpPr>
          <p:cNvPr id="13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4370785" y="-905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15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82459" y="27060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les états de fatigue et d’asthénie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le tonus en période de stress et surmenage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une vigilance diurne et une récupération nocturne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8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791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80629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la mémoire et la concentration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Diminue </a:t>
            </a:r>
            <a:r>
              <a:rPr lang="fr-FR" sz="1200" dirty="0">
                <a:latin typeface="Montserrat" panose="020B0604020202020204" charset="0"/>
              </a:rPr>
              <a:t>la fatigue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les signes de surmenage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69012" y="1586050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3 GÉLULES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67403" y="470621"/>
            <a:ext cx="490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</a:t>
            </a:r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EXAMENS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69012" y="2130766"/>
            <a:ext cx="2252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Lécithine de soja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Magnésium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502357" y="378385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110519"/>
              </p:ext>
            </p:extLst>
          </p:nvPr>
        </p:nvGraphicFramePr>
        <p:xfrm>
          <a:off x="4465364" y="4289596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Au moment des repas, pendant 3 à 8 semaines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45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24804" y="2190860"/>
            <a:ext cx="2252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Bl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B8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198" y="1737197"/>
            <a:ext cx="4141546" cy="322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3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791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32451" y="5523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les états d’asthénie et de fatigue intense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la vigilance et augmente le tonus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smtClean="0">
                <a:latin typeface="Montserrat" panose="020B0604020202020204" charset="0"/>
              </a:rPr>
              <a:t>Renforce l’immunité 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32451" y="1391464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2 GÉLULES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4260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186228"/>
              </p:ext>
            </p:extLst>
          </p:nvPr>
        </p:nvGraphicFramePr>
        <p:xfrm>
          <a:off x="4364705" y="3995892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Au moment des repas, pendant 3 à 8 semaines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2050" name="Picture 2" descr="https://vital.com.tn/wp-content/uploads/2024/02/VITONIC-boos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" y="1300693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/>
          <p:cNvSpPr txBox="1"/>
          <p:nvPr/>
        </p:nvSpPr>
        <p:spPr>
          <a:xfrm>
            <a:off x="67403" y="470621"/>
            <a:ext cx="490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</a:t>
            </a:r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BOOSTER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213005" y="1882531"/>
            <a:ext cx="22520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Prébiotique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195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</p:txBody>
      </p:sp>
    </p:spTree>
    <p:extLst>
      <p:ext uri="{BB962C8B-B14F-4D97-AF65-F5344CB8AC3E}">
        <p14:creationId xmlns:p14="http://schemas.microsoft.com/office/powerpoint/2010/main" val="398467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791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200" dirty="0">
                <a:latin typeface="Montserrat" panose="020B0604020202020204" charset="0"/>
              </a:rPr>
              <a:t>INDICATIONS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06141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latin typeface="Montserrat" panose="020B0604020202020204" charset="0"/>
              </a:rPr>
              <a:t>-Apporte le confort et le bien être aux femmes en période de ménopause et de pré-ménopause</a:t>
            </a:r>
          </a:p>
          <a:p>
            <a:pPr marL="0" lvl="0" indent="0" algn="l"/>
            <a:r>
              <a:rPr lang="fr-FR" sz="1200" dirty="0" smtClean="0">
                <a:latin typeface="Montserrat" panose="020B0604020202020204" charset="0"/>
              </a:rPr>
              <a:t>-Aide à réduire les bouffées de chaleur et les sueurs nocturnes</a:t>
            </a:r>
          </a:p>
          <a:p>
            <a:pPr marL="0" lvl="0" indent="0" algn="l"/>
            <a:r>
              <a:rPr lang="fr-FR" sz="1200" dirty="0" smtClean="0">
                <a:latin typeface="Montserrat" panose="020B0604020202020204" charset="0"/>
              </a:rPr>
              <a:t>-Permet de retrouver le </a:t>
            </a:r>
            <a:r>
              <a:rPr lang="fr-FR" sz="1200" dirty="0" err="1" smtClean="0">
                <a:latin typeface="Montserrat" panose="020B0604020202020204" charset="0"/>
              </a:rPr>
              <a:t>tonis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13005" y="1625130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200" dirty="0" smtClean="0">
                <a:latin typeface="Montserrat" panose="020B0604020202020204" charset="0"/>
              </a:rPr>
              <a:t>COMPOSITION POUR 2 GÉLULES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4260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200" dirty="0" smtClean="0">
                <a:latin typeface="Montserrat" panose="020B0604020202020204" charset="0"/>
              </a:rPr>
              <a:t>POSOLOGIE</a:t>
            </a:r>
            <a:endParaRPr sz="12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932155"/>
              </p:ext>
            </p:extLst>
          </p:nvPr>
        </p:nvGraphicFramePr>
        <p:xfrm>
          <a:off x="4364705" y="3995892"/>
          <a:ext cx="3737340" cy="9619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2 gélules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2 gélules par jour  le matin Au moment des repas, pendant 3 à 6 mois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6</a:t>
            </a:r>
            <a:r>
              <a:rPr lang="fr-FR" sz="12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0</a:t>
            </a: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2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3074" name="Picture 2" descr="https://vital.com.tn/wp-content/uploads/2024/07/VITONIC-men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5" y="1300693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/>
          <p:cNvSpPr txBox="1"/>
          <p:nvPr/>
        </p:nvSpPr>
        <p:spPr>
          <a:xfrm>
            <a:off x="67403" y="470621"/>
            <a:ext cx="4909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" panose="020B0604020202020204" charset="0"/>
              </a:rPr>
              <a:t>VITONIC </a:t>
            </a:r>
            <a:r>
              <a:rPr lang="fr-FR" sz="3200" dirty="0" smtClean="0">
                <a:solidFill>
                  <a:schemeClr val="bg1"/>
                </a:solidFill>
                <a:latin typeface="Montserrat" panose="020B0604020202020204" charset="0"/>
              </a:rPr>
              <a:t>MENO</a:t>
            </a:r>
            <a:endParaRPr lang="fr-FR" sz="32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213005" y="1882531"/>
            <a:ext cx="22520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Calcium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125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MGExtrait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sec de soja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B3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8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mg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65841" y="1882531"/>
            <a:ext cx="2252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4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B9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B8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Vitamine 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</p:spTree>
    <p:extLst>
      <p:ext uri="{BB962C8B-B14F-4D97-AF65-F5344CB8AC3E}">
        <p14:creationId xmlns:p14="http://schemas.microsoft.com/office/powerpoint/2010/main" val="424069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0222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493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Trouble </a:t>
            </a:r>
            <a:r>
              <a:rPr lang="fr-FR" sz="1200" dirty="0">
                <a:latin typeface="Montserrat" panose="020B0604020202020204" charset="0"/>
              </a:rPr>
              <a:t>de la mémoire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Asthénie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Sénescence </a:t>
            </a:r>
            <a:r>
              <a:rPr lang="fr-FR" sz="1200" dirty="0">
                <a:latin typeface="Montserrat" panose="020B0604020202020204" charset="0"/>
              </a:rPr>
              <a:t>et fatigue physique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Renforce </a:t>
            </a:r>
            <a:r>
              <a:rPr lang="fr-FR" sz="1200" dirty="0">
                <a:latin typeface="Montserrat" panose="020B0604020202020204" charset="0"/>
              </a:rPr>
              <a:t>les défenses naturelles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32451" y="1555772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2 GÉLULES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53170" y="470621"/>
            <a:ext cx="405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Sénior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946824"/>
            <a:ext cx="22520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Probiotique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112,5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Magnésium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497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640484"/>
              </p:ext>
            </p:extLst>
          </p:nvPr>
        </p:nvGraphicFramePr>
        <p:xfrm>
          <a:off x="4364705" y="3903021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65841" y="1946824"/>
            <a:ext cx="22520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Cuivre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µg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147" y="1650124"/>
            <a:ext cx="4039540" cy="31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0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824903" y="72169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25827" y="381272"/>
            <a:ext cx="4321395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Soutien </a:t>
            </a:r>
            <a:r>
              <a:rPr lang="fr-FR" sz="1200" dirty="0">
                <a:latin typeface="Montserrat" panose="020B0604020202020204" charset="0"/>
              </a:rPr>
              <a:t>de l’ovulation physiologique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Amélioration </a:t>
            </a:r>
            <a:r>
              <a:rPr lang="fr-FR" sz="1200" dirty="0">
                <a:latin typeface="Montserrat" panose="020B0604020202020204" charset="0"/>
              </a:rPr>
              <a:t>de la qualité ovocytaire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Maintien </a:t>
            </a:r>
            <a:r>
              <a:rPr lang="fr-FR" sz="1200" dirty="0">
                <a:latin typeface="Montserrat" panose="020B0604020202020204" charset="0"/>
              </a:rPr>
              <a:t>de l’équilibre hormonal du cycle féminin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Préparation </a:t>
            </a:r>
            <a:r>
              <a:rPr lang="fr-FR" sz="1200" dirty="0">
                <a:latin typeface="Montserrat" panose="020B0604020202020204" charset="0"/>
              </a:rPr>
              <a:t>de l’endomètre à l’implantation embryonnaire et le maintien </a:t>
            </a:r>
            <a:r>
              <a:rPr lang="fr-FR" sz="1200" dirty="0" smtClean="0">
                <a:latin typeface="Montserrat" panose="020B0604020202020204" charset="0"/>
              </a:rPr>
              <a:t>précoce </a:t>
            </a:r>
            <a:r>
              <a:rPr lang="fr-FR" sz="1200" dirty="0">
                <a:latin typeface="Montserrat" panose="020B0604020202020204" charset="0"/>
              </a:rPr>
              <a:t>de la </a:t>
            </a:r>
            <a:r>
              <a:rPr lang="fr-FR" sz="1200" dirty="0" smtClean="0">
                <a:latin typeface="Montserrat" panose="020B0604020202020204" charset="0"/>
              </a:rPr>
              <a:t>grossesse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un </a:t>
            </a:r>
            <a:r>
              <a:rPr lang="fr-FR" sz="1200" dirty="0">
                <a:latin typeface="Montserrat" panose="020B0604020202020204" charset="0"/>
              </a:rPr>
              <a:t>soutien nutritionnel de la préconception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003" y="1736290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-33398" y="479201"/>
            <a:ext cx="44260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>
                <a:solidFill>
                  <a:schemeClr val="bg1"/>
                </a:solidFill>
                <a:latin typeface="Montserrat" panose="020B0604020202020204" charset="0"/>
              </a:rPr>
              <a:t>VITONIC Conception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25245" y="2093290"/>
            <a:ext cx="22520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Myo-inositol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Fer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mg Vitamine 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de Gattilier vitex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23789" y="363805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48043"/>
              </p:ext>
            </p:extLst>
          </p:nvPr>
        </p:nvGraphicFramePr>
        <p:xfrm>
          <a:off x="4392613" y="4113227"/>
          <a:ext cx="3737340" cy="823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au moment  du</a:t>
                      </a:r>
                      <a:r>
                        <a:rPr lang="fr-FR" sz="1000" baseline="0" dirty="0" smtClean="0">
                          <a:latin typeface="Montserrat" panose="020B0604020202020204" charset="0"/>
                        </a:rPr>
                        <a:t> repas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70200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392268" y="2153506"/>
            <a:ext cx="2252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d'iode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Sélénium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µg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B8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µg de Vitamine B12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0218" y="1650124"/>
            <a:ext cx="4194076" cy="31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5937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1000015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</a:t>
            </a:r>
            <a:r>
              <a:rPr lang="fr-FR" sz="1200" dirty="0">
                <a:latin typeface="Montserrat" panose="020B0604020202020204" charset="0"/>
              </a:rPr>
              <a:t>la qualité et la quantité du </a:t>
            </a:r>
            <a:r>
              <a:rPr lang="fr-FR" sz="1200" dirty="0" smtClean="0">
                <a:latin typeface="Montserrat" panose="020B0604020202020204" charset="0"/>
              </a:rPr>
              <a:t>sperme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</a:t>
            </a:r>
            <a:r>
              <a:rPr lang="fr-FR" sz="1200" dirty="0">
                <a:latin typeface="Montserrat" panose="020B0604020202020204" charset="0"/>
              </a:rPr>
              <a:t>la performance des </a:t>
            </a:r>
            <a:r>
              <a:rPr lang="fr-FR" sz="1200" dirty="0" smtClean="0">
                <a:latin typeface="Montserrat" panose="020B0604020202020204" charset="0"/>
              </a:rPr>
              <a:t>spermatozoïdes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le stress oxydatif spermatique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32451" y="1720080"/>
            <a:ext cx="4203167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6 GÉLULES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4776" y="489140"/>
            <a:ext cx="4426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VITONIC Fertilité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111132"/>
            <a:ext cx="22520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 -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carnitine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Taurine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Coenzyme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QlO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61404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345266"/>
              </p:ext>
            </p:extLst>
          </p:nvPr>
        </p:nvGraphicFramePr>
        <p:xfrm>
          <a:off x="4364705" y="4067329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smtClean="0">
                          <a:latin typeface="Montserrat" panose="020B0604020202020204" charset="0"/>
                        </a:rPr>
                        <a:t>2gélules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2gélules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2gélules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58" y="2830547"/>
            <a:ext cx="1929747" cy="1929747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2941624" y="3130696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120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2900748" y="3461556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65841" y="2111132"/>
            <a:ext cx="2252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B9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B12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6028" y="1810971"/>
            <a:ext cx="4004442" cy="294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0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5281</TotalTime>
  <Words>1271</Words>
  <Application>Microsoft Office PowerPoint</Application>
  <PresentationFormat>Affichage à l'écran (16:9)</PresentationFormat>
  <Paragraphs>362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139</cp:revision>
  <dcterms:modified xsi:type="dcterms:W3CDTF">2026-03-10T09:46:16Z</dcterms:modified>
</cp:coreProperties>
</file>