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6"/>
  </p:notesMasterIdLst>
  <p:sldIdLst>
    <p:sldId id="258" r:id="rId2"/>
    <p:sldId id="259" r:id="rId3"/>
    <p:sldId id="260" r:id="rId4"/>
    <p:sldId id="262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CB4F9D-F614-4CA0-899A-82820B5E3CA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72CFEA-9B36-4C60-9A29-6F83BF3CF4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6455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c1b75c0d8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c1b75c0d8_3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5178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9758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0456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8594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241733" y="3100717"/>
            <a:ext cx="4671200" cy="8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6241733" y="3759040"/>
            <a:ext cx="37584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 flipH="1">
            <a:off x="720000" y="3263133"/>
            <a:ext cx="1418467" cy="4319667"/>
            <a:chOff x="146675" y="378750"/>
            <a:chExt cx="1063850" cy="3239750"/>
          </a:xfrm>
        </p:grpSpPr>
        <p:sp>
          <p:nvSpPr>
            <p:cNvPr id="56" name="Google Shape;56;p7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124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1018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1018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5400000">
            <a:off x="9920633" y="3629300"/>
            <a:ext cx="1418467" cy="4319667"/>
            <a:chOff x="146675" y="378750"/>
            <a:chExt cx="1063850" cy="3239750"/>
          </a:xfrm>
        </p:grpSpPr>
        <p:sp>
          <p:nvSpPr>
            <p:cNvPr id="74" name="Google Shape;74;p9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345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826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2158000" y="-2019633"/>
            <a:ext cx="631200" cy="598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470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4238200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45253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4182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705533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4238100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45253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4182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705467" y="5313200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80580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83451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80580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83451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609733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609733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542951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5429600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924936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9249367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10879626" y="-1730367"/>
            <a:ext cx="894033" cy="3526100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6763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81200"/>
            <a:ext cx="1075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1075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55934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340">
          <p15:clr>
            <a:srgbClr val="EA4335"/>
          </p15:clr>
        </p15:guide>
        <p15:guide id="4294967295" orient="horz" pos="2900">
          <p15:clr>
            <a:srgbClr val="EA4335"/>
          </p15:clr>
        </p15:guide>
        <p15:guide id="4294967295" pos="340">
          <p15:clr>
            <a:srgbClr val="EA4335"/>
          </p15:clr>
        </p15:guide>
        <p15:guide id="4294967295" pos="54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5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28;p25"/>
          <p:cNvSpPr txBox="1">
            <a:spLocks/>
          </p:cNvSpPr>
          <p:nvPr/>
        </p:nvSpPr>
        <p:spPr>
          <a:xfrm>
            <a:off x="2379229" y="445106"/>
            <a:ext cx="8050647" cy="1396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35535B"/>
              </a:buClr>
            </a:pPr>
            <a:r>
              <a:rPr lang="fr-FR" sz="6400" kern="0" cap="all" dirty="0">
                <a:solidFill>
                  <a:srgbClr val="E14D4D"/>
                </a:solidFill>
              </a:rPr>
              <a:t/>
            </a:r>
            <a:br>
              <a:rPr lang="fr-FR" sz="6400" kern="0" cap="all" dirty="0">
                <a:solidFill>
                  <a:srgbClr val="E14D4D"/>
                </a:solidFill>
              </a:rPr>
            </a:br>
            <a:r>
              <a:rPr lang="fr-FR" sz="6400" kern="0" cap="all" dirty="0" err="1" smtClean="0">
                <a:solidFill>
                  <a:srgbClr val="E14D4D"/>
                </a:solidFill>
              </a:rPr>
              <a:t>Bactol</a:t>
            </a:r>
            <a:endParaRPr lang="fr-FR" sz="6400" kern="0" cap="all" dirty="0">
              <a:solidFill>
                <a:srgbClr val="E14D4D"/>
              </a:solidFill>
            </a:endParaRPr>
          </a:p>
        </p:txBody>
      </p:sp>
      <p:sp>
        <p:nvSpPr>
          <p:cNvPr id="7" name="Google Shape;810;p35"/>
          <p:cNvSpPr/>
          <p:nvPr/>
        </p:nvSpPr>
        <p:spPr>
          <a:xfrm>
            <a:off x="523727" y="445106"/>
            <a:ext cx="1738332" cy="1407148"/>
          </a:xfrm>
          <a:prstGeom prst="homePlate">
            <a:avLst>
              <a:gd name="adj" fmla="val 31917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E14D4D"/>
              </a:solidFill>
              <a:cs typeface="Arial"/>
              <a:sym typeface="Arial"/>
            </a:endParaRPr>
          </a:p>
        </p:txBody>
      </p:sp>
      <p:sp>
        <p:nvSpPr>
          <p:cNvPr id="8" name="Google Shape;820;p35"/>
          <p:cNvSpPr txBox="1">
            <a:spLocks/>
          </p:cNvSpPr>
          <p:nvPr/>
        </p:nvSpPr>
        <p:spPr>
          <a:xfrm>
            <a:off x="332523" y="719667"/>
            <a:ext cx="1746885" cy="768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sz="3200" kern="0" dirty="0">
              <a:solidFill>
                <a:srgbClr val="FFFFFF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974" y="-212875"/>
            <a:ext cx="2719009" cy="271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529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755384"/>
            <a:ext cx="3715600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INDICATIONS</a:t>
            </a:r>
            <a:endParaRPr sz="24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772598" y="755385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/>
            <a:r>
              <a:rPr lang="fr-FR" sz="1600" dirty="0">
                <a:latin typeface="Montserrat" panose="020B0604020202020204" charset="0"/>
              </a:rPr>
              <a:t> 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endParaRPr lang="fr-FR" sz="1600" dirty="0">
              <a:latin typeface="Montserrat Medium" panose="00000600000000000000" pitchFamily="50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endParaRPr lang="fr-FR" sz="16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404619" y="2265956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 smtClean="0"/>
              <a:t>COMPOSITION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-291152" y="738610"/>
            <a:ext cx="7606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2400" kern="0" dirty="0" smtClean="0">
                <a:solidFill>
                  <a:srgbClr val="FFFFFF"/>
                </a:solidFill>
                <a:latin typeface="Montserrat" panose="020B0604020202020204" charset="0"/>
                <a:cs typeface="Arial"/>
                <a:sym typeface="Arial"/>
              </a:rPr>
              <a:t>BACTOL SAVON  PROFESSIONNEL</a:t>
            </a:r>
            <a:endParaRPr lang="fr-FR" sz="2400" kern="0" dirty="0">
              <a:solidFill>
                <a:srgbClr val="FFFFFF"/>
              </a:solidFill>
              <a:latin typeface="Montserrat" panose="020B0604020202020204" charset="0"/>
              <a:cs typeface="Arial"/>
              <a:sym typeface="Arial"/>
            </a:endParaRP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4283517" y="4663953"/>
            <a:ext cx="812359" cy="450415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fr-FR" sz="1867" kern="0">
              <a:solidFill>
                <a:srgbClr val="FFFFFF"/>
              </a:solidFill>
              <a:sym typeface="Arial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198779" y="4678815"/>
            <a:ext cx="150175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2133" b="1" kern="0" dirty="0" smtClean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90 </a:t>
            </a:r>
            <a:r>
              <a:rPr lang="fr-FR" sz="2133" b="1" kern="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gr</a:t>
            </a:r>
            <a:endParaRPr lang="fr-FR" sz="2133" b="1" kern="0" dirty="0">
              <a:solidFill>
                <a:srgbClr val="FFFFFF"/>
              </a:solidFill>
              <a:latin typeface="Montserrat Medium" panose="00000600000000000000" pitchFamily="50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729088" y="4517997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/>
              <a:t>CONSEILS D'UTILISATION </a:t>
            </a:r>
            <a:endParaRPr sz="24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823915"/>
              </p:ext>
            </p:extLst>
          </p:nvPr>
        </p:nvGraphicFramePr>
        <p:xfrm>
          <a:off x="5815335" y="5282825"/>
          <a:ext cx="4983120" cy="13424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45780"/>
                <a:gridCol w="3737340"/>
              </a:tblGrid>
              <a:tr h="367065">
                <a:tc>
                  <a:txBody>
                    <a:bodyPr/>
                    <a:lstStyle/>
                    <a:p>
                      <a:r>
                        <a:rPr lang="fr-FR" sz="16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+mj-lt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600" cap="all" baseline="0" dirty="0">
                        <a:latin typeface="+mj-lt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+mj-lt"/>
                        </a:rPr>
                        <a:t>UTILISATION</a:t>
                      </a:r>
                      <a:endParaRPr lang="fr-FR" sz="1600" dirty="0">
                        <a:latin typeface="+mj-lt"/>
                      </a:endParaRPr>
                    </a:p>
                  </a:txBody>
                  <a:tcPr marL="121920" marR="121920" marT="60960" marB="60960"/>
                </a:tc>
              </a:tr>
              <a:tr h="975360"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+mj-lt"/>
                        </a:rPr>
                        <a:t>Adulte</a:t>
                      </a:r>
                      <a:endParaRPr lang="fr-FR" sz="1600" dirty="0">
                        <a:latin typeface="+mj-lt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b="0" i="0" u="none" strike="noStrike" cap="none" baseline="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 Usage quotidien </a:t>
                      </a:r>
                      <a:endParaRPr lang="fr-FR" sz="1600" dirty="0">
                        <a:latin typeface="+mj-lt"/>
                      </a:endParaRPr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052" y="6067425"/>
            <a:ext cx="1018563" cy="64207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700538" y="1163894"/>
            <a:ext cx="6096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 Savon désinfectant 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15335" y="2682544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600" dirty="0"/>
              <a:t> Chlorure de benzalkonium 	0.18 g	</a:t>
            </a:r>
          </a:p>
        </p:txBody>
      </p:sp>
      <p:pic>
        <p:nvPicPr>
          <p:cNvPr id="4" name="Picture 2" descr="https://vital.com.tn/wp-content/uploads/2020/09/Bactol-professionnel-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94" y="2133734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350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755384"/>
            <a:ext cx="3715600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INDICATIONS</a:t>
            </a:r>
            <a:endParaRPr sz="24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772598" y="755385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/>
            <a:r>
              <a:rPr lang="fr-FR" sz="1600" dirty="0">
                <a:latin typeface="Montserrat" panose="020B0604020202020204" charset="0"/>
              </a:rPr>
              <a:t> 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endParaRPr lang="fr-FR" sz="1600" dirty="0">
              <a:latin typeface="Montserrat Medium" panose="00000600000000000000" pitchFamily="50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endParaRPr lang="fr-FR" sz="16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404619" y="2265956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 smtClean="0"/>
              <a:t>COMPOSITION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4283517" y="4663953"/>
            <a:ext cx="1072254" cy="450415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fr-FR" sz="1867" kern="0">
              <a:solidFill>
                <a:srgbClr val="FFFFFF"/>
              </a:solidFill>
              <a:sym typeface="Arial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198779" y="4748430"/>
            <a:ext cx="150175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2133" b="1" kern="0" dirty="0" smtClean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125 ML</a:t>
            </a:r>
            <a:endParaRPr lang="fr-FR" sz="2133" b="1" kern="0" dirty="0">
              <a:solidFill>
                <a:srgbClr val="FFFFFF"/>
              </a:solidFill>
              <a:latin typeface="Montserrat Medium" panose="00000600000000000000" pitchFamily="50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729088" y="4517997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/>
              <a:t>CONSEILS D'UTILISATION </a:t>
            </a:r>
            <a:endParaRPr sz="24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347698"/>
              </p:ext>
            </p:extLst>
          </p:nvPr>
        </p:nvGraphicFramePr>
        <p:xfrm>
          <a:off x="5815335" y="5282825"/>
          <a:ext cx="4983120" cy="13424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45780"/>
                <a:gridCol w="3737340"/>
              </a:tblGrid>
              <a:tr h="367065">
                <a:tc>
                  <a:txBody>
                    <a:bodyPr/>
                    <a:lstStyle/>
                    <a:p>
                      <a:r>
                        <a:rPr lang="fr-FR" sz="16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+mj-lt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600" cap="all" baseline="0" dirty="0">
                        <a:latin typeface="+mj-lt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+mj-lt"/>
                        </a:rPr>
                        <a:t>UTILISATION</a:t>
                      </a:r>
                      <a:endParaRPr lang="fr-FR" sz="1600" dirty="0">
                        <a:latin typeface="+mj-lt"/>
                      </a:endParaRPr>
                    </a:p>
                  </a:txBody>
                  <a:tcPr marL="121920" marR="121920" marT="60960" marB="60960"/>
                </a:tc>
              </a:tr>
              <a:tr h="975360"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+mj-lt"/>
                        </a:rPr>
                        <a:t>Adulte enfant</a:t>
                      </a:r>
                      <a:endParaRPr lang="fr-FR" sz="1600" dirty="0">
                        <a:latin typeface="+mj-lt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867" b="0" i="0" u="none" strike="noStrike" cap="none" baseline="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Selon besoin, sans rinçage </a:t>
                      </a:r>
                      <a:endParaRPr lang="fr-FR" sz="1600" dirty="0">
                        <a:latin typeface="+mj-lt"/>
                      </a:endParaRPr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052" y="6067425"/>
            <a:ext cx="1018563" cy="642079"/>
          </a:xfrm>
          <a:prstGeom prst="rect">
            <a:avLst/>
          </a:prstGeom>
        </p:spPr>
      </p:pic>
      <p:pic>
        <p:nvPicPr>
          <p:cNvPr id="2050" name="Picture 2" descr="https://vital.com.tn/wp-content/uploads/2020/09/Bactol-Spray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49" y="2134327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815335" y="924035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fr-FR" sz="3200" b="0" i="0" u="none" strike="noStrike" baseline="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b="0" i="0" u="none" strike="noStrike" baseline="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fr-FR" b="0" i="0" u="none" strike="noStrike" baseline="0" dirty="0" smtClean="0">
                <a:solidFill>
                  <a:srgbClr val="000000"/>
                </a:solidFill>
                <a:latin typeface="+mj-lt"/>
              </a:rPr>
              <a:t>Solution désinfectante </a:t>
            </a:r>
            <a:endParaRPr lang="fr-FR" dirty="0"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85615" y="2552758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fr-FR" sz="3200" b="0" i="0" u="none" strike="noStrike" baseline="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b="0" i="0" u="none" strike="noStrike" baseline="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fr-FR" b="0" i="0" u="none" strike="noStrike" baseline="0" dirty="0" smtClean="0">
                <a:solidFill>
                  <a:srgbClr val="000000"/>
                </a:solidFill>
                <a:latin typeface="+mj-lt"/>
              </a:rPr>
              <a:t>Alcool 95° 	65 % </a:t>
            </a:r>
            <a:r>
              <a:rPr lang="fr-FR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	</a:t>
            </a:r>
            <a:endParaRPr lang="fr-FR" b="0" i="0" u="none" strike="noStrike" baseline="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63509" y="784642"/>
            <a:ext cx="50131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i="0" u="none" strike="noStrike" dirty="0" smtClean="0">
                <a:solidFill>
                  <a:schemeClr val="bg1"/>
                </a:solidFill>
                <a:effectLst/>
                <a:latin typeface="Montserrat" panose="020B0604020202020204"/>
              </a:rPr>
              <a:t>SPRAY DÉSINFECTANT BACTOL</a:t>
            </a:r>
            <a:endParaRPr lang="fr-FR" sz="2400" b="1" i="0" dirty="0">
              <a:solidFill>
                <a:schemeClr val="bg1"/>
              </a:solidFill>
              <a:effectLst/>
              <a:latin typeface="Montserrat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00053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755384"/>
            <a:ext cx="3715600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INDICATIONS</a:t>
            </a:r>
            <a:endParaRPr sz="24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772598" y="755385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/>
            <a:r>
              <a:rPr lang="fr-FR" sz="1600" dirty="0">
                <a:latin typeface="Montserrat" panose="020B0604020202020204" charset="0"/>
              </a:rPr>
              <a:t> 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endParaRPr lang="fr-FR" sz="1600" dirty="0">
              <a:latin typeface="Montserrat Medium" panose="00000600000000000000" pitchFamily="50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endParaRPr lang="fr-FR" sz="16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404619" y="2265956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 smtClean="0"/>
              <a:t>COMPOSITION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-291152" y="738610"/>
            <a:ext cx="7606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2400" kern="0" dirty="0" smtClean="0">
                <a:solidFill>
                  <a:srgbClr val="FFFFFF"/>
                </a:solidFill>
                <a:latin typeface="Montserrat" panose="020B0604020202020204" charset="0"/>
                <a:cs typeface="Arial"/>
                <a:sym typeface="Arial"/>
              </a:rPr>
              <a:t> </a:t>
            </a:r>
            <a:endParaRPr lang="fr-FR" sz="2400" kern="0" dirty="0">
              <a:solidFill>
                <a:srgbClr val="FFFFFF"/>
              </a:solidFill>
              <a:latin typeface="Montserrat" panose="020B0604020202020204" charset="0"/>
              <a:cs typeface="Arial"/>
              <a:sym typeface="Arial"/>
            </a:endParaRP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4230582" y="4589616"/>
            <a:ext cx="1125189" cy="450415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fr-FR" sz="1867" kern="0">
              <a:solidFill>
                <a:srgbClr val="FFFFFF"/>
              </a:solidFill>
              <a:sym typeface="Arial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227329" y="4620725"/>
            <a:ext cx="150175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2133" b="1" kern="0" dirty="0" smtClean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125 ML</a:t>
            </a:r>
            <a:endParaRPr lang="fr-FR" sz="2133" b="1" kern="0" dirty="0">
              <a:solidFill>
                <a:srgbClr val="FFFFFF"/>
              </a:solidFill>
              <a:latin typeface="Montserrat Medium" panose="00000600000000000000" pitchFamily="50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729088" y="4517997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/>
              <a:t>CONSEILS D'UTILISATION </a:t>
            </a:r>
            <a:endParaRPr sz="24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219964"/>
              </p:ext>
            </p:extLst>
          </p:nvPr>
        </p:nvGraphicFramePr>
        <p:xfrm>
          <a:off x="5815335" y="5282825"/>
          <a:ext cx="4983120" cy="146434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45780"/>
                <a:gridCol w="3737340"/>
              </a:tblGrid>
              <a:tr h="367065">
                <a:tc>
                  <a:txBody>
                    <a:bodyPr/>
                    <a:lstStyle/>
                    <a:p>
                      <a:r>
                        <a:rPr lang="fr-FR" sz="16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+mj-lt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600" cap="all" baseline="0" dirty="0">
                        <a:latin typeface="+mj-lt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+mj-lt"/>
                        </a:rPr>
                        <a:t>UTILISATION</a:t>
                      </a:r>
                      <a:endParaRPr lang="fr-FR" sz="1600" dirty="0">
                        <a:latin typeface="+mj-lt"/>
                      </a:endParaRPr>
                    </a:p>
                  </a:txBody>
                  <a:tcPr marL="121920" marR="121920" marT="60960" marB="60960"/>
                </a:tc>
              </a:tr>
              <a:tr h="975360"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+mj-lt"/>
                        </a:rPr>
                        <a:t>Adulte</a:t>
                      </a:r>
                      <a:endParaRPr lang="fr-FR" sz="1600" dirty="0">
                        <a:latin typeface="+mj-lt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b="0" i="0" u="none" strike="noStrike" cap="none" baseline="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En cas de besoin, bien frotter les mains avec quelques gouttes du gel désinfectant</a:t>
                      </a:r>
                    </a:p>
                    <a:p>
                      <a:r>
                        <a:rPr lang="fr-FR" sz="1600" b="0" i="0" u="none" strike="noStrike" cap="none" baseline="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Sans rinçage</a:t>
                      </a:r>
                      <a:endParaRPr lang="fr-FR" sz="1600" dirty="0">
                        <a:latin typeface="+mj-lt"/>
                      </a:endParaRPr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052" y="6067425"/>
            <a:ext cx="1018563" cy="64207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772598" y="1567712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+mj-lt"/>
              </a:rPr>
              <a:t>Gel désinfectant</a:t>
            </a:r>
            <a:endParaRPr lang="fr-FR" sz="16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15335" y="2682544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>
              <a:solidFill>
                <a:srgbClr val="000000"/>
              </a:solidFill>
              <a:latin typeface="Montserrat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/>
              <a:t>Alcool </a:t>
            </a:r>
            <a:r>
              <a:rPr lang="fr-FR" sz="1600" dirty="0"/>
              <a:t>70 %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Chlorure de </a:t>
            </a:r>
            <a:r>
              <a:rPr lang="fr-FR" sz="1600" dirty="0" err="1"/>
              <a:t>benzalkonium</a:t>
            </a:r>
            <a:r>
              <a:rPr lang="fr-FR" sz="1600" dirty="0"/>
              <a:t> 0.2 %</a:t>
            </a:r>
            <a:endParaRPr lang="fr-FR" sz="160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4100" name="Picture 4" descr="https://vital.com.tn/wp-content/uploads/2020/09/Bactol-gel-12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77" y="2241112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97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87</Words>
  <Application>Microsoft Office PowerPoint</Application>
  <PresentationFormat>Grand écran</PresentationFormat>
  <Paragraphs>44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3" baseType="lpstr">
      <vt:lpstr>Arial</vt:lpstr>
      <vt:lpstr>Calibri</vt:lpstr>
      <vt:lpstr>Montserrat</vt:lpstr>
      <vt:lpstr>Montserrat Medium</vt:lpstr>
      <vt:lpstr>Oswald Medium</vt:lpstr>
      <vt:lpstr>Poppins</vt:lpstr>
      <vt:lpstr>Raleway</vt:lpstr>
      <vt:lpstr>Verdana</vt:lpstr>
      <vt:lpstr>1_Minimalist SEO Strategy by Slidesgo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</dc:creator>
  <cp:lastModifiedBy>a</cp:lastModifiedBy>
  <cp:revision>3</cp:revision>
  <dcterms:created xsi:type="dcterms:W3CDTF">2026-03-10T11:00:25Z</dcterms:created>
  <dcterms:modified xsi:type="dcterms:W3CDTF">2026-03-10T11:11:58Z</dcterms:modified>
</cp:coreProperties>
</file>