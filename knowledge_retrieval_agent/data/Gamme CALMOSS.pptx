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6" r:id="rId3"/>
    <p:sldMasterId id="2147483668" r:id="rId4"/>
    <p:sldMasterId id="2147483670" r:id="rId5"/>
    <p:sldMasterId id="2147483672" r:id="rId6"/>
    <p:sldMasterId id="2147483676" r:id="rId7"/>
  </p:sldMasterIdLst>
  <p:sldIdLst>
    <p:sldId id="258" r:id="rId8"/>
    <p:sldId id="259" r:id="rId9"/>
    <p:sldId id="266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57D315E-3C6F-482B-AF7F-BF2045B26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7789BD77-6169-833C-FAE5-27CF56FB3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2F57EE91-3DA1-5620-D5B9-BADEA91A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341FF-5D64-44C1-AC14-85F7311CCBD5}" type="datetimeFigureOut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09/03/2026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48139BD9-CC54-5B6C-21C7-CF7A45752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995C7253-1E83-142F-823E-3AD6ABBE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FCA8-D3EE-4A52-A994-2D1FE407291E}" type="slidenum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806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D0F4513-42D5-C832-B39B-EE468D4A8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D829EA15-539A-8AA0-91A7-4F7292D04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CB9EC9B9-7607-332E-CA67-5259C9FCF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341FF-5D64-44C1-AC14-85F7311CCBD5}" type="datetimeFigureOut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09/03/2026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8141E617-C268-C42E-0188-FCFD14C89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7A53DA42-DD66-872C-951E-F8A9D586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FCA8-D3EE-4A52-A994-2D1FE407291E}" type="slidenum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98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D0F4513-42D5-C832-B39B-EE468D4A8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D829EA15-539A-8AA0-91A7-4F7292D04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CB9EC9B9-7607-332E-CA67-5259C9FCF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341FF-5D64-44C1-AC14-85F7311CCBD5}" type="datetimeFigureOut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09/03/2026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8141E617-C268-C42E-0188-FCFD14C89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7A53DA42-DD66-872C-951E-F8A9D586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FCA8-D3EE-4A52-A994-2D1FE407291E}" type="slidenum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270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D0F4513-42D5-C832-B39B-EE468D4A8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D829EA15-539A-8AA0-91A7-4F7292D04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CB9EC9B9-7607-332E-CA67-5259C9FCF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341FF-5D64-44C1-AC14-85F7311CCBD5}" type="datetimeFigureOut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09/03/2026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8141E617-C268-C42E-0188-FCFD14C89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7A53DA42-DD66-872C-951E-F8A9D586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FCA8-D3EE-4A52-A994-2D1FE407291E}" type="slidenum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3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D0F4513-42D5-C832-B39B-EE468D4A8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D829EA15-539A-8AA0-91A7-4F7292D04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CB9EC9B9-7607-332E-CA67-5259C9FCF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341FF-5D64-44C1-AC14-85F7311CCBD5}" type="datetimeFigureOut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09/03/2026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8141E617-C268-C42E-0188-FCFD14C89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7A53DA42-DD66-872C-951E-F8A9D586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FCA8-D3EE-4A52-A994-2D1FE407291E}" type="slidenum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9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D0F4513-42D5-C832-B39B-EE468D4A8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D829EA15-539A-8AA0-91A7-4F7292D04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CB9EC9B9-7607-332E-CA67-5259C9FCF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341FF-5D64-44C1-AC14-85F7311CCBD5}" type="datetimeFigureOut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09/03/2026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8141E617-C268-C42E-0188-FCFD14C89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7A53DA42-DD66-872C-951E-F8A9D586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FCA8-D3EE-4A52-A994-2D1FE407291E}" type="slidenum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03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D0F4513-42D5-C832-B39B-EE468D4A8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D829EA15-539A-8AA0-91A7-4F7292D04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CB9EC9B9-7607-332E-CA67-5259C9FCF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341FF-5D64-44C1-AC14-85F7311CCBD5}" type="datetimeFigureOut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09/03/2026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8141E617-C268-C42E-0188-FCFD14C89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7A53DA42-DD66-872C-951E-F8A9D586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1FCA8-D3EE-4A52-A994-2D1FE407291E}" type="slidenum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084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6FB7E43D-6DAD-36F8-8F1E-250517485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5D144B90-5083-26B4-FB8F-A1C04F744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259ADD7F-23CF-A6ED-7CD6-BE037BB43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341FF-5D64-44C1-AC14-85F7311CCBD5}" type="datetimeFigureOut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09/03/2026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AFEAE8BF-0D8C-CF6E-B826-47F83E331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A839A6DB-ADBB-F832-40E2-BF306191B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E1FCA8-D3EE-4A52-A994-2D1FE407291E}" type="slidenum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6FB7E43D-6DAD-36F8-8F1E-250517485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5D144B90-5083-26B4-FB8F-A1C04F744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259ADD7F-23CF-A6ED-7CD6-BE037BB43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341FF-5D64-44C1-AC14-85F7311CCBD5}" type="datetimeFigureOut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09/03/2026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AFEAE8BF-0D8C-CF6E-B826-47F83E331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A839A6DB-ADBB-F832-40E2-BF306191B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E1FCA8-D3EE-4A52-A994-2D1FE407291E}" type="slidenum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82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6FB7E43D-6DAD-36F8-8F1E-250517485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5D144B90-5083-26B4-FB8F-A1C04F744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259ADD7F-23CF-A6ED-7CD6-BE037BB43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341FF-5D64-44C1-AC14-85F7311CCBD5}" type="datetimeFigureOut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09/03/2026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AFEAE8BF-0D8C-CF6E-B826-47F83E331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A839A6DB-ADBB-F832-40E2-BF306191B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E1FCA8-D3EE-4A52-A994-2D1FE407291E}" type="slidenum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2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6FB7E43D-6DAD-36F8-8F1E-250517485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5D144B90-5083-26B4-FB8F-A1C04F744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259ADD7F-23CF-A6ED-7CD6-BE037BB43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341FF-5D64-44C1-AC14-85F7311CCBD5}" type="datetimeFigureOut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09/03/2026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AFEAE8BF-0D8C-CF6E-B826-47F83E331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A839A6DB-ADBB-F832-40E2-BF306191B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E1FCA8-D3EE-4A52-A994-2D1FE407291E}" type="slidenum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425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6FB7E43D-6DAD-36F8-8F1E-250517485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5D144B90-5083-26B4-FB8F-A1C04F744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259ADD7F-23CF-A6ED-7CD6-BE037BB43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341FF-5D64-44C1-AC14-85F7311CCBD5}" type="datetimeFigureOut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09/03/2026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AFEAE8BF-0D8C-CF6E-B826-47F83E331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A839A6DB-ADBB-F832-40E2-BF306191B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E1FCA8-D3EE-4A52-A994-2D1FE407291E}" type="slidenum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79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6FB7E43D-6DAD-36F8-8F1E-250517485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5D144B90-5083-26B4-FB8F-A1C04F744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259ADD7F-23CF-A6ED-7CD6-BE037BB43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341FF-5D64-44C1-AC14-85F7311CCBD5}" type="datetimeFigureOut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09/03/2026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AFEAE8BF-0D8C-CF6E-B826-47F83E331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A839A6DB-ADBB-F832-40E2-BF306191B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E1FCA8-D3EE-4A52-A994-2D1FE407291E}" type="slidenum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01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6FB7E43D-6DAD-36F8-8F1E-250517485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5D144B90-5083-26B4-FB8F-A1C04F744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259ADD7F-23CF-A6ED-7CD6-BE037BB43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341FF-5D64-44C1-AC14-85F7311CCBD5}" type="datetimeFigureOut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09/03/2026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AFEAE8BF-0D8C-CF6E-B826-47F83E331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A839A6DB-ADBB-F832-40E2-BF306191B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E1FCA8-D3EE-4A52-A994-2D1FE407291E}" type="slidenum">
              <a:rPr lang="fr-FR" smtClean="0">
                <a:solidFill>
                  <a:prstClr val="black">
                    <a:tint val="82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790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10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xmlns="" id="{343E2B33-9F75-7F97-ADA1-C2BF7E582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792"/>
            <a:ext cx="12214933" cy="686479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xmlns="" id="{FA4321E7-5D95-D53B-EFA0-E041C076D8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946" y="-287864"/>
            <a:ext cx="2996190" cy="159410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xmlns="" id="{1E6DA419-083E-49B2-B2FC-D0B3F02E1F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84" y="5406210"/>
            <a:ext cx="2358901" cy="120784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B7891B68-9674-414C-B0FE-A753AACBD1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8" y="0"/>
            <a:ext cx="12214932" cy="68689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044DB60-1E16-4092-A8D3-16A9B41ACE9C}"/>
              </a:ext>
            </a:extLst>
          </p:cNvPr>
          <p:cNvSpPr/>
          <p:nvPr/>
        </p:nvSpPr>
        <p:spPr>
          <a:xfrm>
            <a:off x="1285134" y="1907827"/>
            <a:ext cx="9682480" cy="791882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4400" dirty="0">
                <a:solidFill>
                  <a:srgbClr val="093576"/>
                </a:solidFill>
                <a:latin typeface="Arial Black" panose="020B0A04020102020204" pitchFamily="34" charset="0"/>
              </a:rPr>
              <a:t>COMPRIME A SUCER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1CC82D4C-E1F8-4E9A-8B5F-25A63EDD82A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64" y="171030"/>
            <a:ext cx="1137201" cy="95733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DA7EEF7F-9930-48B4-9597-624E35E5E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64" y="1223963"/>
            <a:ext cx="34290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421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29">
            <a:extLst>
              <a:ext uri="{FF2B5EF4-FFF2-40B4-BE49-F238E27FC236}">
                <a16:creationId xmlns:a16="http://schemas.microsoft.com/office/drawing/2014/main" xmlns="" id="{147B5345-AB65-46DF-A74E-B675AC43D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766" y="0"/>
            <a:ext cx="12295663" cy="6846014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/>
            </a:outerShdw>
          </a:effec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4508" y="-174927"/>
            <a:ext cx="4959422" cy="1655762"/>
          </a:xfrm>
        </p:spPr>
        <p:txBody>
          <a:bodyPr anchor="ctr">
            <a:normAutofit/>
          </a:bodyPr>
          <a:lstStyle/>
          <a:p>
            <a:r>
              <a:rPr lang="fr-FR" sz="2800" b="1" i="1" dirty="0">
                <a:solidFill>
                  <a:schemeClr val="bg1"/>
                </a:solidFill>
              </a:rPr>
              <a:t>Confort respiratoire des enfants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xmlns="" id="{BC8638EF-F689-46A3-AFED-14040DA92226}"/>
              </a:ext>
            </a:extLst>
          </p:cNvPr>
          <p:cNvSpPr txBox="1"/>
          <p:nvPr/>
        </p:nvSpPr>
        <p:spPr>
          <a:xfrm>
            <a:off x="638070" y="1203096"/>
            <a:ext cx="628022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93576"/>
                </a:solidFill>
              </a:rPr>
              <a:t>Indications</a:t>
            </a:r>
          </a:p>
          <a:p>
            <a:endParaRPr lang="fr-FR" sz="2000" b="1" dirty="0">
              <a:solidFill>
                <a:srgbClr val="093576"/>
              </a:solidFill>
            </a:endParaRPr>
          </a:p>
          <a:p>
            <a:r>
              <a:rPr lang="fr-FR" dirty="0">
                <a:solidFill>
                  <a:srgbClr val="093576"/>
                </a:solidFill>
              </a:rPr>
              <a:t>- </a:t>
            </a:r>
            <a:r>
              <a:rPr lang="fr-FR" b="1" dirty="0">
                <a:solidFill>
                  <a:srgbClr val="093576"/>
                </a:solidFill>
              </a:rPr>
              <a:t>Soulagement de la gorge</a:t>
            </a:r>
          </a:p>
          <a:p>
            <a:r>
              <a:rPr lang="fr-FR" b="1" dirty="0">
                <a:solidFill>
                  <a:srgbClr val="093576"/>
                </a:solidFill>
              </a:rPr>
              <a:t>- Bien-être respiratoire</a:t>
            </a:r>
          </a:p>
          <a:p>
            <a:r>
              <a:rPr lang="fr-FR" b="1" dirty="0">
                <a:solidFill>
                  <a:srgbClr val="093576"/>
                </a:solidFill>
              </a:rPr>
              <a:t>- Formule douce adaptée aux </a:t>
            </a:r>
            <a:r>
              <a:rPr lang="fr-FR" sz="1600" b="1" dirty="0">
                <a:solidFill>
                  <a:srgbClr val="093576"/>
                </a:solidFill>
              </a:rPr>
              <a:t>enfants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xmlns="" id="{EDE12743-9F8E-4F91-B600-2C181712058A}"/>
              </a:ext>
            </a:extLst>
          </p:cNvPr>
          <p:cNvSpPr txBox="1"/>
          <p:nvPr/>
        </p:nvSpPr>
        <p:spPr>
          <a:xfrm>
            <a:off x="638070" y="4717710"/>
            <a:ext cx="44715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FF0000"/>
                </a:solidFill>
              </a:rPr>
              <a:t>Posologie:</a:t>
            </a:r>
            <a:endParaRPr lang="fr-FR" sz="1600" b="1" dirty="0">
              <a:solidFill>
                <a:srgbClr val="FF0000"/>
              </a:solidFill>
            </a:endParaRPr>
          </a:p>
          <a:p>
            <a:r>
              <a:rPr lang="fr-FR" sz="1600" b="1" dirty="0">
                <a:solidFill>
                  <a:srgbClr val="093576"/>
                </a:solidFill>
              </a:rPr>
              <a:t>- 1 comprimé, 2 à 3 fois par jour</a:t>
            </a:r>
          </a:p>
          <a:p>
            <a:r>
              <a:rPr lang="fr-FR" sz="1600" b="1" dirty="0">
                <a:solidFill>
                  <a:srgbClr val="093576"/>
                </a:solidFill>
              </a:rPr>
              <a:t>- Comprimé à sucer, goût orange agréable</a:t>
            </a:r>
          </a:p>
          <a:p>
            <a:r>
              <a:rPr lang="fr-FR" sz="1600" b="1" dirty="0">
                <a:solidFill>
                  <a:srgbClr val="093576"/>
                </a:solidFill>
              </a:rPr>
              <a:t>- Recommandé pour enfants à partir de 6 ans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xmlns="" id="{FF06FA1A-0CC3-4CA8-BDBA-2403E7AC13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03096"/>
            <a:ext cx="6140904" cy="4466112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xmlns="" id="{D3EBF2AD-1D70-49A1-8ADD-9428EFC382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433" y="5076306"/>
            <a:ext cx="4471518" cy="717356"/>
          </a:xfrm>
          <a:prstGeom prst="rect">
            <a:avLst/>
          </a:prstGeom>
        </p:spPr>
      </p:pic>
      <p:pic>
        <p:nvPicPr>
          <p:cNvPr id="13312" name="Image 13311">
            <a:extLst>
              <a:ext uri="{FF2B5EF4-FFF2-40B4-BE49-F238E27FC236}">
                <a16:creationId xmlns:a16="http://schemas.microsoft.com/office/drawing/2014/main" xmlns="" id="{4541B6F7-3741-4FC5-A528-1C5DCF8AF9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74" y="5393824"/>
            <a:ext cx="2512026" cy="144999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01084595-D56C-441F-96AB-36B138069E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957" y="2741979"/>
            <a:ext cx="4393058" cy="18342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xmlns="" id="{665D5EFB-6247-4712-AC02-D3EF076E371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30" y="313611"/>
            <a:ext cx="3888117" cy="6786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42">
            <a:extLst>
              <a:ext uri="{FF2B5EF4-FFF2-40B4-BE49-F238E27FC236}">
                <a16:creationId xmlns:a16="http://schemas.microsoft.com/office/drawing/2014/main" xmlns="" id="{00BC7552-D046-4922-A1AE-DE04F89337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890" y="-28241"/>
            <a:ext cx="12357890" cy="687719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xmlns="" id="{C7CE84C8-9514-4719-A405-FBFCF23AFA1A}"/>
              </a:ext>
            </a:extLst>
          </p:cNvPr>
          <p:cNvSpPr txBox="1"/>
          <p:nvPr/>
        </p:nvSpPr>
        <p:spPr>
          <a:xfrm>
            <a:off x="359229" y="1412755"/>
            <a:ext cx="648621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Indications</a:t>
            </a:r>
          </a:p>
          <a:p>
            <a:endParaRPr lang="fr-FR" sz="2000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Soulage la gorge</a:t>
            </a:r>
          </a:p>
          <a:p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Bien-être respiratoire</a:t>
            </a:r>
          </a:p>
          <a:p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Sensation de fraîcheur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xmlns="" id="{0ADF96B2-F66F-4B9C-A463-A129085188E1}"/>
              </a:ext>
            </a:extLst>
          </p:cNvPr>
          <p:cNvSpPr txBox="1"/>
          <p:nvPr/>
        </p:nvSpPr>
        <p:spPr>
          <a:xfrm>
            <a:off x="359229" y="3037793"/>
            <a:ext cx="314302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Posologie</a:t>
            </a:r>
            <a:r>
              <a:rPr lang="fr-FR" sz="2000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comprimé 2 à 3 fois par jour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xmlns="" id="{CFE464B9-C58B-4986-9402-E257658B7E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324" y="3429000"/>
            <a:ext cx="4932587" cy="3587336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xmlns="" id="{082591DF-FFE4-4354-BD5C-E1456C1131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908" y="3533831"/>
            <a:ext cx="4832202" cy="3514329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xmlns="" id="{4F3C34D5-7590-4866-BD6C-115DE461FD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448" y="3523372"/>
            <a:ext cx="3616993" cy="550613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xmlns="" id="{EBC45368-1787-4D35-88DD-223392CA27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012" y="3533831"/>
            <a:ext cx="3501915" cy="542297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xmlns="" id="{9066346F-E728-4E4A-9EF3-E9076473E9D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3" y="4865607"/>
            <a:ext cx="4125682" cy="1141493"/>
          </a:xfrm>
          <a:prstGeom prst="rect">
            <a:avLst/>
          </a:prstGeom>
        </p:spPr>
      </p:pic>
      <p:sp>
        <p:nvSpPr>
          <p:cNvPr id="41" name="ZoneTexte 40">
            <a:extLst>
              <a:ext uri="{FF2B5EF4-FFF2-40B4-BE49-F238E27FC236}">
                <a16:creationId xmlns:a16="http://schemas.microsoft.com/office/drawing/2014/main" xmlns="" id="{BB90E24F-4779-4A8F-8633-C1E99FDBAB30}"/>
              </a:ext>
            </a:extLst>
          </p:cNvPr>
          <p:cNvSpPr txBox="1"/>
          <p:nvPr/>
        </p:nvSpPr>
        <p:spPr>
          <a:xfrm>
            <a:off x="25093" y="4445423"/>
            <a:ext cx="7070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Double couche</a:t>
            </a: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xmlns="" id="{54732F45-5BDA-4098-B0C8-D3596A620EA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74" y="5389300"/>
            <a:ext cx="2512026" cy="1449992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14D77584-CC93-4965-8E9D-887F89A828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2364" y="1412755"/>
            <a:ext cx="8020360" cy="199759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xmlns="" id="{136232B2-3DB7-4F00-98FB-1324E9A3EA0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5014" y="4168357"/>
            <a:ext cx="790218" cy="34925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FBD5184A-A575-4EDB-AC1E-C2424605C916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35"/>
          <a:stretch/>
        </p:blipFill>
        <p:spPr>
          <a:xfrm>
            <a:off x="9883861" y="761010"/>
            <a:ext cx="1948910" cy="80099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xmlns="" id="{8BA59DB7-C9F1-4184-AA59-2A094D960694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16"/>
          <a:stretch/>
        </p:blipFill>
        <p:spPr>
          <a:xfrm>
            <a:off x="109276" y="184900"/>
            <a:ext cx="3586031" cy="85530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xmlns="" id="{D06C5550-CEB9-4274-8A3E-2B861C4C088B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82"/>
          <a:stretch/>
        </p:blipFill>
        <p:spPr>
          <a:xfrm>
            <a:off x="4220426" y="726435"/>
            <a:ext cx="1643042" cy="8553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27">
            <a:extLst>
              <a:ext uri="{FF2B5EF4-FFF2-40B4-BE49-F238E27FC236}">
                <a16:creationId xmlns:a16="http://schemas.microsoft.com/office/drawing/2014/main" xmlns="" id="{85F93653-8706-4CBF-8931-5A59A228AB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740" y="-52663"/>
            <a:ext cx="8665947" cy="696332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90994" y="357085"/>
            <a:ext cx="4860436" cy="844184"/>
          </a:xfrm>
        </p:spPr>
        <p:txBody>
          <a:bodyPr anchor="ctr">
            <a:normAutofit/>
          </a:bodyPr>
          <a:lstStyle/>
          <a:p>
            <a:r>
              <a:rPr lang="fr-FR" sz="3200" b="1" i="1" dirty="0">
                <a:solidFill>
                  <a:srgbClr val="093576"/>
                </a:solidFill>
              </a:rPr>
              <a:t>Vitalité et Immunité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8353211D-9FE7-4782-B2E2-D578AA969A3D}"/>
              </a:ext>
            </a:extLst>
          </p:cNvPr>
          <p:cNvSpPr txBox="1"/>
          <p:nvPr/>
        </p:nvSpPr>
        <p:spPr>
          <a:xfrm>
            <a:off x="323850" y="1405968"/>
            <a:ext cx="63373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Indications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Métabolisme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énergétique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normal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Réduction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fatigue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Fonctionnement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système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immunitaire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Performances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intellectuelles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normales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Protection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contre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 stress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oxydatif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xmlns="" id="{AE12B3D5-2FA7-4389-8B88-5DE03AE65D08}"/>
              </a:ext>
            </a:extLst>
          </p:cNvPr>
          <p:cNvSpPr txBox="1"/>
          <p:nvPr/>
        </p:nvSpPr>
        <p:spPr>
          <a:xfrm>
            <a:off x="4577098" y="3029387"/>
            <a:ext cx="267707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Posologie :</a:t>
            </a: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- 3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comprimés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à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sucer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 jour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À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consommer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dans le cadre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d'une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alimentation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équilibrée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solidFill>
                <a:srgbClr val="093576"/>
              </a:solidFill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xmlns="" id="{C09717CE-F147-4035-A3F0-112219096A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05968"/>
            <a:ext cx="6096000" cy="4433455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xmlns="" id="{F23CE04F-FE95-46B8-8099-73581EE001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612" y="5091490"/>
            <a:ext cx="4131871" cy="1034866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xmlns="" id="{436A22B0-8EC3-45C6-B89C-4706B3C845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74" y="5455975"/>
            <a:ext cx="2512026" cy="144999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1ED845E9-E82D-4FDA-B5AE-6FA2B0FC0A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537" y="3498698"/>
            <a:ext cx="4029903" cy="275587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47DBD625-E029-42C6-BC93-07ECCB29889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18" y="383314"/>
            <a:ext cx="4429002" cy="7331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>
            <a:extLst>
              <a:ext uri="{FF2B5EF4-FFF2-40B4-BE49-F238E27FC236}">
                <a16:creationId xmlns:a16="http://schemas.microsoft.com/office/drawing/2014/main" xmlns="" id="{B81190E4-81BF-4893-89F3-04DD934EA7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01" y="9547"/>
            <a:ext cx="12277671" cy="683257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88446" y="89927"/>
            <a:ext cx="4298623" cy="1052587"/>
          </a:xfrm>
        </p:spPr>
        <p:txBody>
          <a:bodyPr anchor="ctr">
            <a:normAutofit/>
          </a:bodyPr>
          <a:lstStyle/>
          <a:p>
            <a:r>
              <a:rPr lang="fr-FR" sz="3200" b="1" i="1" dirty="0">
                <a:solidFill>
                  <a:srgbClr val="093576"/>
                </a:solidFill>
              </a:rPr>
              <a:t>Rhume &amp; Grippe</a:t>
            </a:r>
          </a:p>
        </p:txBody>
      </p:sp>
      <p:pic>
        <p:nvPicPr>
          <p:cNvPr id="4" name="Image 3" descr="Une image contenant texte, fruit, nourriture&#10;&#10;Le contenu généré par l’IA peut être incorrect.">
            <a:extLst>
              <a:ext uri="{FF2B5EF4-FFF2-40B4-BE49-F238E27FC236}">
                <a16:creationId xmlns:a16="http://schemas.microsoft.com/office/drawing/2014/main" xmlns="" id="{77432CDD-49CC-545F-A7F9-0D6DC96E8E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545" y="1498522"/>
            <a:ext cx="5942426" cy="4321765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FAB17E20-3C19-49B3-8347-6A5126930DCF}"/>
              </a:ext>
            </a:extLst>
          </p:cNvPr>
          <p:cNvSpPr txBox="1"/>
          <p:nvPr/>
        </p:nvSpPr>
        <p:spPr>
          <a:xfrm>
            <a:off x="460375" y="1191042"/>
            <a:ext cx="633095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93576"/>
                </a:solidFill>
              </a:rPr>
              <a:t>Indications</a:t>
            </a:r>
          </a:p>
          <a:p>
            <a:endParaRPr lang="fr-FR" dirty="0">
              <a:solidFill>
                <a:srgbClr val="093576"/>
              </a:solidFill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Dégagement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voies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respiratoires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Amélioration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confort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respiratoire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Bien-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être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respiratoire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période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froid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solidFill>
                <a:srgbClr val="093576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xmlns="" id="{C469A594-2AF3-4C7A-B1B0-55518BE516F7}"/>
              </a:ext>
            </a:extLst>
          </p:cNvPr>
          <p:cNvSpPr txBox="1"/>
          <p:nvPr/>
        </p:nvSpPr>
        <p:spPr>
          <a:xfrm>
            <a:off x="460374" y="5286930"/>
            <a:ext cx="718502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Posologie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- 1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comprimé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 à 3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fois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 jour</a:t>
            </a: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À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sucer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lentement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pour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efficacité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optimale</a:t>
            </a:r>
            <a:endParaRPr lang="en-US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Sans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prétraitement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requis</a:t>
            </a:r>
            <a:endParaRPr lang="en-US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solidFill>
                <a:srgbClr val="093576"/>
              </a:solidFill>
            </a:endParaRPr>
          </a:p>
          <a:p>
            <a:endParaRPr lang="fr-FR" dirty="0">
              <a:solidFill>
                <a:srgbClr val="093576"/>
              </a:solidFill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xmlns="" id="{88B7AD6B-E0CD-4BF4-854F-C1641D17A7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266" y="5306328"/>
            <a:ext cx="4659469" cy="721260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xmlns="" id="{F8FB8CDD-E4E7-43EC-8A72-95E7DD4625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199" y="5395650"/>
            <a:ext cx="2512026" cy="144999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3C96E85A-E0AA-4029-9201-07A58C7892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598" y="2879090"/>
            <a:ext cx="5170915" cy="217793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xmlns="" id="{5CC1FAA2-B7C4-489C-B759-001DBB171EE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2657" y="5006721"/>
            <a:ext cx="821902" cy="36325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xmlns="" id="{2DFFAA8F-9F7E-446B-B791-3330C94FDCC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4" y="264274"/>
            <a:ext cx="3602485" cy="8297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>
            <a:extLst>
              <a:ext uri="{FF2B5EF4-FFF2-40B4-BE49-F238E27FC236}">
                <a16:creationId xmlns:a16="http://schemas.microsoft.com/office/drawing/2014/main" xmlns="" id="{3ABF11A2-4E9D-4BDD-A8B1-7AD8F35606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2941" y="0"/>
            <a:ext cx="12320619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33299" y="-66889"/>
            <a:ext cx="4126005" cy="1655762"/>
          </a:xfrm>
        </p:spPr>
        <p:txBody>
          <a:bodyPr anchor="ctr">
            <a:normAutofit/>
          </a:bodyPr>
          <a:lstStyle/>
          <a:p>
            <a:r>
              <a:rPr lang="fr-FR" sz="3200" b="1" i="1" dirty="0">
                <a:solidFill>
                  <a:schemeClr val="bg1"/>
                </a:solidFill>
              </a:rPr>
              <a:t>Transit intestinal naturel</a:t>
            </a:r>
          </a:p>
        </p:txBody>
      </p:sp>
      <p:pic>
        <p:nvPicPr>
          <p:cNvPr id="4" name="Image 3" descr="Une image contenant texte, logo, Marque&#10;&#10;Le contenu généré par l’IA peut être incorrect.">
            <a:extLst>
              <a:ext uri="{FF2B5EF4-FFF2-40B4-BE49-F238E27FC236}">
                <a16:creationId xmlns:a16="http://schemas.microsoft.com/office/drawing/2014/main" xmlns="" id="{43AB8AB9-F6C9-D414-FD66-503611F460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84919"/>
            <a:ext cx="6259286" cy="4552207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EA2D612C-00BA-41D4-83A9-48B6E71DD809}"/>
              </a:ext>
            </a:extLst>
          </p:cNvPr>
          <p:cNvSpPr txBox="1"/>
          <p:nvPr/>
        </p:nvSpPr>
        <p:spPr>
          <a:xfrm>
            <a:off x="333375" y="1588873"/>
            <a:ext cx="617855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93576"/>
                </a:solidFill>
              </a:rPr>
              <a:t>Indications</a:t>
            </a:r>
          </a:p>
          <a:p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Constipation </a:t>
            </a:r>
            <a:r>
              <a:rPr lang="fr-FR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occasionelle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Laxatif doux</a:t>
            </a:r>
          </a:p>
          <a:p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Stimulation du transit intestinal</a:t>
            </a:r>
          </a:p>
          <a:p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Amélioration du confort digestif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EC9E6F36-B50A-42DB-9F7C-42AD5CA853E0}"/>
              </a:ext>
            </a:extLst>
          </p:cNvPr>
          <p:cNvSpPr txBox="1"/>
          <p:nvPr/>
        </p:nvSpPr>
        <p:spPr>
          <a:xfrm>
            <a:off x="333375" y="5029739"/>
            <a:ext cx="61785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Posologie: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- 1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comprimé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à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sucer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 jour ne pas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dépasser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10j de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traitement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À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consommer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dans le cadre d’un régime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varié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Goût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vanille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agréable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xmlns="" id="{2DA5B181-0835-436F-A554-B0AF5466F2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964" y="5289101"/>
            <a:ext cx="4133975" cy="958603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xmlns="" id="{30564BEA-0E52-4902-B830-0EF733DE31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74" y="5430575"/>
            <a:ext cx="2512026" cy="144999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01F929D9-74F6-40BB-825B-734EA9A2CC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75" y="3386853"/>
            <a:ext cx="5674883" cy="1273953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xmlns="" id="{5F362257-8C6B-4E5C-AE85-02121B3A7B4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3939" y="5214463"/>
            <a:ext cx="808164" cy="35718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xmlns="" id="{490D0D13-74F1-4421-B411-7C966B17BDA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350933"/>
            <a:ext cx="4351747" cy="8302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>
            <a:extLst>
              <a:ext uri="{FF2B5EF4-FFF2-40B4-BE49-F238E27FC236}">
                <a16:creationId xmlns:a16="http://schemas.microsoft.com/office/drawing/2014/main" xmlns="" id="{A8524B30-F875-40CB-9A6F-8B59B2EE7F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8798" y="-91356"/>
            <a:ext cx="14282905" cy="698768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89132" y="-91356"/>
            <a:ext cx="3304162" cy="1655762"/>
          </a:xfrm>
        </p:spPr>
        <p:txBody>
          <a:bodyPr anchor="ctr">
            <a:normAutofit/>
          </a:bodyPr>
          <a:lstStyle/>
          <a:p>
            <a:r>
              <a:rPr lang="fr-FR" sz="3200" b="1" i="1" dirty="0">
                <a:solidFill>
                  <a:srgbClr val="093576"/>
                </a:solidFill>
              </a:rPr>
              <a:t>Équilibre acido-basique</a:t>
            </a:r>
          </a:p>
        </p:txBody>
      </p:sp>
      <p:pic>
        <p:nvPicPr>
          <p:cNvPr id="4" name="Image 3" descr="Une image contenant texte, étiquette, logo, nourriture&#10;&#10;Le contenu généré par l’IA peut être incorrect.">
            <a:extLst>
              <a:ext uri="{FF2B5EF4-FFF2-40B4-BE49-F238E27FC236}">
                <a16:creationId xmlns:a16="http://schemas.microsoft.com/office/drawing/2014/main" xmlns="" id="{F7A12E2A-F178-D6DC-3D2C-45867010F1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95" y="1301324"/>
            <a:ext cx="6946446" cy="5051962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642A10EC-A6B8-497E-A9C1-9D0810DE6344}"/>
              </a:ext>
            </a:extLst>
          </p:cNvPr>
          <p:cNvSpPr txBox="1"/>
          <p:nvPr/>
        </p:nvSpPr>
        <p:spPr>
          <a:xfrm>
            <a:off x="628650" y="1612893"/>
            <a:ext cx="621665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Indications</a:t>
            </a:r>
          </a:p>
          <a:p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Équilibre acido-basique de l’estomac</a:t>
            </a:r>
          </a:p>
          <a:p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Fonctionnement normal des enzymes digestives</a:t>
            </a: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Confort digestif après les repas</a:t>
            </a: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Rôle : neutralisation de l’excès d’acidité, soutien enzymatique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xmlns="" id="{C758CD99-8555-4B32-BC7F-5194F00030C9}"/>
              </a:ext>
            </a:extLst>
          </p:cNvPr>
          <p:cNvSpPr txBox="1"/>
          <p:nvPr/>
        </p:nvSpPr>
        <p:spPr>
          <a:xfrm>
            <a:off x="517525" y="5103674"/>
            <a:ext cx="62166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Posologie: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- 1 à 4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comprimés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 jour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À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croquer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lentement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après les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repas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Sans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prétraitement</a:t>
            </a:r>
            <a:r>
              <a:rPr lang="en-US" b="1" dirty="0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935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nécessaire</a:t>
            </a:r>
            <a:endParaRPr lang="fr-FR" b="1" dirty="0">
              <a:solidFill>
                <a:srgbClr val="09357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solidFill>
                <a:srgbClr val="093576"/>
              </a:solidFill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xmlns="" id="{16219316-DD30-4BFD-AC84-777CDAA268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275" y="5573486"/>
            <a:ext cx="3622858" cy="840083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xmlns="" id="{D4A35667-541C-4143-99F9-9C2C1CDF32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382" y="5437951"/>
            <a:ext cx="2512026" cy="144999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77E69E30-881F-41E6-B054-B65FE4C900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020" y="3648436"/>
            <a:ext cx="5510574" cy="115863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8E70E185-EF3B-4B4E-BA0F-2D63205A17B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71" y="363480"/>
            <a:ext cx="4866103" cy="9378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4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5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6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7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3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261</Words>
  <Application>Microsoft Office PowerPoint</Application>
  <PresentationFormat>Grand écran</PresentationFormat>
  <Paragraphs>62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7</vt:i4>
      </vt:variant>
      <vt:variant>
        <vt:lpstr>Titres des diapositives</vt:lpstr>
      </vt:variant>
      <vt:variant>
        <vt:i4>7</vt:i4>
      </vt:variant>
    </vt:vector>
  </HeadingPairs>
  <TitlesOfParts>
    <vt:vector size="19" baseType="lpstr">
      <vt:lpstr>Aptos</vt:lpstr>
      <vt:lpstr>Aptos Display</vt:lpstr>
      <vt:lpstr>Arial</vt:lpstr>
      <vt:lpstr>Arial Black</vt:lpstr>
      <vt:lpstr>Calibri</vt:lpstr>
      <vt:lpstr>1_Thème Office</vt:lpstr>
      <vt:lpstr>2_Thème Office</vt:lpstr>
      <vt:lpstr>4_Thème Office</vt:lpstr>
      <vt:lpstr>5_Thème Office</vt:lpstr>
      <vt:lpstr>6_Thème Office</vt:lpstr>
      <vt:lpstr>7_Thème Office</vt:lpstr>
      <vt:lpstr>3_Thème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</dc:creator>
  <cp:lastModifiedBy>a</cp:lastModifiedBy>
  <cp:revision>2</cp:revision>
  <dcterms:created xsi:type="dcterms:W3CDTF">2026-03-09T21:48:00Z</dcterms:created>
  <dcterms:modified xsi:type="dcterms:W3CDTF">2026-03-09T22:00:38Z</dcterms:modified>
</cp:coreProperties>
</file>