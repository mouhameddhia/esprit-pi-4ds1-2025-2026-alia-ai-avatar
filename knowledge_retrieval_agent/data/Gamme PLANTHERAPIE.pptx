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20"/>
  </p:notesMasterIdLst>
  <p:sldIdLst>
    <p:sldId id="307" r:id="rId2"/>
    <p:sldId id="258" r:id="rId3"/>
    <p:sldId id="411" r:id="rId4"/>
    <p:sldId id="412" r:id="rId5"/>
    <p:sldId id="424" r:id="rId6"/>
    <p:sldId id="414" r:id="rId7"/>
    <p:sldId id="415" r:id="rId8"/>
    <p:sldId id="425" r:id="rId9"/>
    <p:sldId id="427" r:id="rId10"/>
    <p:sldId id="426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3" r:id="rId19"/>
  </p:sldIdLst>
  <p:sldSz cx="9144000" cy="5143500" type="screen16x9"/>
  <p:notesSz cx="6858000" cy="9144000"/>
  <p:embeddedFontLst>
    <p:embeddedFont>
      <p:font typeface="Poppins" panose="020B0604020202020204" charset="0"/>
      <p:regular r:id="rId21"/>
      <p:bold r:id="rId22"/>
      <p:italic r:id="rId23"/>
      <p:boldItalic r:id="rId24"/>
    </p:embeddedFont>
    <p:embeddedFont>
      <p:font typeface="Montserrat" panose="020B0604020202020204" charset="0"/>
      <p:regular r:id="rId25"/>
      <p:bold r:id="rId26"/>
      <p:italic r:id="rId27"/>
      <p:boldItalic r:id="rId28"/>
    </p:embeddedFont>
    <p:embeddedFont>
      <p:font typeface="Oswald Medium" panose="020B0604020202020204" charset="0"/>
      <p:regular r:id="rId29"/>
      <p:bold r:id="rId30"/>
    </p:embeddedFont>
    <p:embeddedFont>
      <p:font typeface="Raleway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4" userDrawn="1">
          <p15:clr>
            <a:srgbClr val="9AA0A6"/>
          </p15:clr>
        </p15:guide>
        <p15:guide id="2" orient="horz" pos="2719">
          <p15:clr>
            <a:srgbClr val="9AA0A6"/>
          </p15:clr>
        </p15:guide>
        <p15:guide id="3" pos="2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4D4D"/>
    <a:srgbClr val="6D6D6D"/>
    <a:srgbClr val="35535B"/>
    <a:srgbClr val="1E75BA"/>
    <a:srgbClr val="FCD232"/>
    <a:srgbClr val="F7BC3B"/>
    <a:srgbClr val="B71818"/>
    <a:srgbClr val="868786"/>
    <a:srgbClr val="54A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11C431-235F-4305-BE99-AC0004E7AA60}">
  <a:tblStyle styleId="{1011C431-235F-4305-BE99-AC0004E7AA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4" y="108"/>
      </p:cViewPr>
      <p:guideLst>
        <p:guide orient="horz" pos="554"/>
        <p:guide orient="horz" pos="2719"/>
        <p:guide pos="27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16032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57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574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4341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6698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8004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15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5449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954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240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9984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7861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35525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17844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7949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1214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28642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30492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566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681300" y="2325538"/>
            <a:ext cx="3503400" cy="6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4681300" y="2819280"/>
            <a:ext cx="2818800" cy="8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540000" y="2447350"/>
            <a:ext cx="1063850" cy="3239750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763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763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7440475" y="2721975"/>
            <a:ext cx="1063850" cy="3239750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1618500" y="-1514725"/>
            <a:ext cx="473400" cy="4492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353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31786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339402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31370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529150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3178575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339402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31370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529100" y="398490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60435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625887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604355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625887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207300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2073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4072138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40722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6937025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6937025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8159719" y="-1297776"/>
            <a:ext cx="670525" cy="2644575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435900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1784421" y="333829"/>
            <a:ext cx="6037985" cy="104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4800" cap="all" dirty="0" smtClean="0">
                <a:solidFill>
                  <a:srgbClr val="E14D4D"/>
                </a:solidFill>
              </a:rPr>
              <a:t/>
            </a:r>
            <a:br>
              <a:rPr lang="fr-FR" sz="4800" cap="all" dirty="0" smtClean="0">
                <a:solidFill>
                  <a:srgbClr val="E14D4D"/>
                </a:solidFill>
              </a:rPr>
            </a:br>
            <a:r>
              <a:rPr lang="fr-FR" sz="5000" cap="all" dirty="0" smtClean="0">
                <a:solidFill>
                  <a:srgbClr val="E14D4D"/>
                </a:solidFill>
              </a:rPr>
              <a:t>PLANTHERAPIE </a:t>
            </a:r>
            <a:endParaRPr lang="fr-FR" sz="500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392795" y="333829"/>
            <a:ext cx="1303749" cy="1055361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14D4D"/>
              </a:solidFill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640080" y="573509"/>
            <a:ext cx="5760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2400" dirty="0">
              <a:solidFill>
                <a:schemeClr val="bg1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30" y="-159657"/>
            <a:ext cx="2039257" cy="203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6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2" y="962416"/>
            <a:ext cx="3885167" cy="3885167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63082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130123" y="92116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Renforce l'immunité et améliore le confort des voies respiratoires </a:t>
            </a:r>
            <a:r>
              <a:rPr lang="fr-FR" sz="1200" dirty="0" smtClean="0">
                <a:latin typeface="Montserrat" panose="020B0604020202020204" charset="0"/>
              </a:rPr>
              <a:t>supérieures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la fréquence et l’intensité des infections bactériennes des voies respiratoires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55007" y="164123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COMPOSITION </a:t>
            </a:r>
            <a:r>
              <a:rPr lang="fr-FR" sz="1800" dirty="0" smtClean="0">
                <a:latin typeface="Montserrat" panose="020B0604020202020204" charset="0"/>
              </a:rPr>
              <a:t>POUR 10 ML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916428" y="478644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PLANTYL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22636" y="2172133"/>
            <a:ext cx="3810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12,5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essentielle d'Eucalyptus (Eucalyptus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globulus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essentielle de Thym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Thumus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vulgaris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essentielle de Lavande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Lavandula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angustifolia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8545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19584"/>
              </p:ext>
            </p:extLst>
          </p:nvPr>
        </p:nvGraphicFramePr>
        <p:xfrm>
          <a:off x="4364705" y="3838734"/>
          <a:ext cx="3737340" cy="5800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10ml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10ml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>
                          <a:latin typeface="Montserrat" panose="020B0604020202020204" charset="0"/>
                        </a:rPr>
                        <a:t>       -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84" y="4710286"/>
            <a:ext cx="1494895" cy="342063"/>
          </a:xfrm>
          <a:prstGeom prst="rect">
            <a:avLst/>
          </a:prstGeom>
        </p:spPr>
      </p:pic>
      <p:sp>
        <p:nvSpPr>
          <p:cNvPr id="20" name="ZoneTexte 19"/>
          <p:cNvSpPr txBox="1"/>
          <p:nvPr/>
        </p:nvSpPr>
        <p:spPr>
          <a:xfrm>
            <a:off x="2841162" y="3706727"/>
            <a:ext cx="1126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150 </a:t>
            </a:r>
            <a:r>
              <a:rPr lang="fr-FR" sz="2000" b="1" dirty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ml</a:t>
            </a:r>
            <a:endParaRPr lang="fr-FR" sz="18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148" y="2724099"/>
            <a:ext cx="1453291" cy="1453291"/>
          </a:xfrm>
          <a:prstGeom prst="rect">
            <a:avLst/>
          </a:prstGeom>
        </p:spPr>
      </p:pic>
      <p:sp>
        <p:nvSpPr>
          <p:cNvPr id="23" name="Arrondir un rectangle avec un coin diagonal 22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Montserrat" panose="020B0604020202020204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3035744" y="1801004"/>
            <a:ext cx="713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Montserrat" panose="020B0604020202020204" charset="0"/>
              </a:rPr>
              <a:t>Sirop</a:t>
            </a:r>
            <a:endParaRPr lang="fr-FR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7822" y="1141274"/>
            <a:ext cx="3874664" cy="3874664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430801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742081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Renforce l'immunité et améliore le confort des voies respiratoires </a:t>
            </a:r>
            <a:r>
              <a:rPr lang="fr-FR" sz="1200" dirty="0" smtClean="0">
                <a:latin typeface="Montserrat" panose="020B0604020202020204" charset="0"/>
              </a:rPr>
              <a:t>supérieures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Réduit la fréquence et l’intensité des infections bactériennes des voies respiratoires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80373" y="168633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COMPOSITION PAR CAPSULE 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54255" y="2099391"/>
            <a:ext cx="3810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essentielle d'Eucalyptus (Eucalyptus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globulus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essentielle de Thym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Thumus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vulgaris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essentielle de Lavande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Lavandula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angustifolia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9972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524751"/>
              </p:ext>
            </p:extLst>
          </p:nvPr>
        </p:nvGraphicFramePr>
        <p:xfrm>
          <a:off x="4364705" y="3753004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capsule 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ZoneTexte 13"/>
          <p:cNvSpPr txBox="1"/>
          <p:nvPr/>
        </p:nvSpPr>
        <p:spPr>
          <a:xfrm>
            <a:off x="3247798" y="3434009"/>
            <a:ext cx="529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15</a:t>
            </a:r>
            <a:endParaRPr lang="fr-FR" sz="18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20" name="Arrondir un rectangle avec un coin diagonal 19"/>
          <p:cNvSpPr/>
          <p:nvPr/>
        </p:nvSpPr>
        <p:spPr>
          <a:xfrm>
            <a:off x="2962454" y="1802929"/>
            <a:ext cx="1065963" cy="397630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Montserrat" panose="020B0604020202020204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2861250" y="1770911"/>
            <a:ext cx="1202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1200" b="1" dirty="0" smtClean="0">
                <a:solidFill>
                  <a:schemeClr val="bg1"/>
                </a:solidFill>
                <a:latin typeface="Montserrat" panose="020B0604020202020204" charset="0"/>
              </a:rPr>
              <a:t>Capsule</a:t>
            </a:r>
          </a:p>
          <a:p>
            <a:pPr algn="ctr"/>
            <a:r>
              <a:rPr lang="fr-FR" sz="1200" b="1" dirty="0" smtClean="0">
                <a:solidFill>
                  <a:schemeClr val="bg1"/>
                </a:solidFill>
                <a:latin typeface="Montserrat" panose="020B0604020202020204" charset="0"/>
              </a:rPr>
              <a:t>molle</a:t>
            </a:r>
            <a:endParaRPr lang="fr-FR" sz="1200" b="1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916428" y="478644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PLANTYL</a:t>
            </a: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84" y="4710286"/>
            <a:ext cx="1494895" cy="342063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657" y="2917047"/>
            <a:ext cx="2014536" cy="201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12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63082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98782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Calme la toux </a:t>
            </a:r>
            <a:r>
              <a:rPr lang="fr-FR" sz="1200" dirty="0" smtClean="0">
                <a:latin typeface="Montserrat" panose="020B0604020202020204" charset="0"/>
              </a:rPr>
              <a:t>sèche irritative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Soulage les irritations de la gorge des voies respiratoires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55007" y="164123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COMPOSITION </a:t>
            </a:r>
            <a:r>
              <a:rPr lang="fr-FR" sz="1800" dirty="0" smtClean="0">
                <a:latin typeface="Montserrat" panose="020B0604020202020204" charset="0"/>
              </a:rPr>
              <a:t>POUR 10 ML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916428" y="478644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PLANTEXIL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025408"/>
            <a:ext cx="38103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97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Plantain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Plantago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lanceo!ata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Romarin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Rosmarinus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officinalis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28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Tilleul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Tilia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cordata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Miel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Propolis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8545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295806"/>
              </p:ext>
            </p:extLst>
          </p:nvPr>
        </p:nvGraphicFramePr>
        <p:xfrm>
          <a:off x="4364705" y="3838734"/>
          <a:ext cx="3737340" cy="5800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10ml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>
                          <a:latin typeface="Montserrat" panose="020B0604020202020204" charset="0"/>
                        </a:rPr>
                        <a:t>-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10ml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84" y="4710286"/>
            <a:ext cx="1494895" cy="342063"/>
          </a:xfrm>
          <a:prstGeom prst="rect">
            <a:avLst/>
          </a:prstGeom>
        </p:spPr>
      </p:pic>
      <p:sp>
        <p:nvSpPr>
          <p:cNvPr id="20" name="ZoneTexte 19"/>
          <p:cNvSpPr txBox="1"/>
          <p:nvPr/>
        </p:nvSpPr>
        <p:spPr>
          <a:xfrm>
            <a:off x="2841162" y="3706727"/>
            <a:ext cx="1126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150 </a:t>
            </a:r>
            <a:r>
              <a:rPr lang="fr-FR" sz="2000" b="1" dirty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ml</a:t>
            </a:r>
            <a:endParaRPr lang="fr-FR" sz="18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148" y="2724099"/>
            <a:ext cx="1453291" cy="1453291"/>
          </a:xfrm>
          <a:prstGeom prst="rect">
            <a:avLst/>
          </a:prstGeom>
        </p:spPr>
      </p:pic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Montserrat" panose="020B060402020202020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035744" y="1801004"/>
            <a:ext cx="713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Montserrat" panose="020B0604020202020204" charset="0"/>
              </a:rPr>
              <a:t>Sirop</a:t>
            </a:r>
            <a:endParaRPr lang="fr-FR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516" y="966770"/>
            <a:ext cx="2185298" cy="350226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09" y="1801004"/>
            <a:ext cx="2199345" cy="350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3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430801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742081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Calme la toux </a:t>
            </a:r>
            <a:r>
              <a:rPr lang="fr-FR" sz="1200" dirty="0" smtClean="0">
                <a:latin typeface="Montserrat" panose="020B0604020202020204" charset="0"/>
              </a:rPr>
              <a:t>sèche irritative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Soulage </a:t>
            </a:r>
            <a:r>
              <a:rPr lang="fr-FR" sz="1200" dirty="0">
                <a:latin typeface="Montserrat" panose="020B0604020202020204" charset="0"/>
              </a:rPr>
              <a:t>les irritations de la gorge des voies respiratoires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83599" y="147691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COMPOSITION PAR GÉLULE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1925391"/>
            <a:ext cx="38103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Tilleul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Tilia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cordata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Plantain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Plantago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lanceolata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45,6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Romarin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Rosmarinus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officinalis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9972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603941"/>
              </p:ext>
            </p:extLst>
          </p:nvPr>
        </p:nvGraphicFramePr>
        <p:xfrm>
          <a:off x="4364705" y="3753004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916428" y="478644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PLANTEXIL</a:t>
            </a: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84" y="4710286"/>
            <a:ext cx="1494895" cy="342063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15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5949" y="414610"/>
            <a:ext cx="45008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90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180766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98774" y="478644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Calme la </a:t>
            </a:r>
            <a:r>
              <a:rPr lang="fr-FR" sz="1200" dirty="0">
                <a:latin typeface="Montserrat" panose="020B0604020202020204" charset="0"/>
              </a:rPr>
              <a:t>toux </a:t>
            </a:r>
            <a:r>
              <a:rPr lang="fr-FR" sz="1200" dirty="0" smtClean="0">
                <a:latin typeface="Montserrat" panose="020B0604020202020204" charset="0"/>
              </a:rPr>
              <a:t>grasse productive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Effet</a:t>
            </a:r>
            <a:r>
              <a:rPr lang="fr-FR" sz="1200" dirty="0">
                <a:latin typeface="Montserrat" panose="020B0604020202020204" charset="0"/>
              </a:rPr>
              <a:t> e</a:t>
            </a:r>
            <a:r>
              <a:rPr lang="fr-FR" sz="1200" dirty="0" smtClean="0">
                <a:latin typeface="Montserrat" panose="020B0604020202020204" charset="0"/>
              </a:rPr>
              <a:t>xpectorant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Dégage </a:t>
            </a:r>
            <a:r>
              <a:rPr lang="fr-FR" sz="1200" dirty="0">
                <a:latin typeface="Montserrat" panose="020B0604020202020204" charset="0"/>
              </a:rPr>
              <a:t>les voies respiratoires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55007" y="109115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COMPOSITION </a:t>
            </a:r>
            <a:r>
              <a:rPr lang="fr-FR" sz="1800" dirty="0" smtClean="0">
                <a:latin typeface="Montserrat" panose="020B0604020202020204" charset="0"/>
              </a:rPr>
              <a:t>POUR 10 ML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916428" y="478644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PLANTHIOL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1475329"/>
            <a:ext cx="38103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97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Plantain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Plantago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lanceolata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83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Thym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Thumus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vulgaris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51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Cassis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Ribes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nigrum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Extrait sec d'Eucalyptus (Eucalyptus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globulus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Miel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Propolis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163986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09998"/>
              </p:ext>
            </p:extLst>
          </p:nvPr>
        </p:nvGraphicFramePr>
        <p:xfrm>
          <a:off x="4364705" y="3617270"/>
          <a:ext cx="3737340" cy="82567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10ml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10ml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 gridSpan="4"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De préférence avant 16H 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84" y="4710286"/>
            <a:ext cx="1494895" cy="342063"/>
          </a:xfrm>
          <a:prstGeom prst="rect">
            <a:avLst/>
          </a:prstGeom>
        </p:spPr>
      </p:pic>
      <p:sp>
        <p:nvSpPr>
          <p:cNvPr id="20" name="ZoneTexte 19"/>
          <p:cNvSpPr txBox="1"/>
          <p:nvPr/>
        </p:nvSpPr>
        <p:spPr>
          <a:xfrm>
            <a:off x="2841162" y="3706727"/>
            <a:ext cx="1126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150 </a:t>
            </a:r>
            <a:r>
              <a:rPr lang="fr-FR" sz="2000" b="1" dirty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ml</a:t>
            </a:r>
            <a:endParaRPr lang="fr-FR" sz="18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148" y="2724099"/>
            <a:ext cx="1453291" cy="1453291"/>
          </a:xfrm>
          <a:prstGeom prst="rect">
            <a:avLst/>
          </a:prstGeom>
        </p:spPr>
      </p:pic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Montserrat" panose="020B060402020202020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035744" y="1801004"/>
            <a:ext cx="713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Montserrat" panose="020B0604020202020204" charset="0"/>
              </a:rPr>
              <a:t>Sirop</a:t>
            </a:r>
            <a:endParaRPr lang="fr-FR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892" y="729712"/>
            <a:ext cx="2136323" cy="384375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2" y="1562994"/>
            <a:ext cx="2154512" cy="377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3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43794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74922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Calme </a:t>
            </a:r>
            <a:r>
              <a:rPr lang="fr-FR" sz="1200" dirty="0">
                <a:latin typeface="Montserrat" panose="020B0604020202020204" charset="0"/>
              </a:rPr>
              <a:t>la toux </a:t>
            </a:r>
            <a:r>
              <a:rPr lang="fr-FR" sz="1200" dirty="0" smtClean="0">
                <a:latin typeface="Montserrat" panose="020B0604020202020204" charset="0"/>
              </a:rPr>
              <a:t>grasse productive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Effet expectorant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Dégage </a:t>
            </a:r>
            <a:r>
              <a:rPr lang="fr-FR" sz="1200" dirty="0">
                <a:latin typeface="Montserrat" panose="020B0604020202020204" charset="0"/>
              </a:rPr>
              <a:t>les voies respiratoires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83599" y="155550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</a:t>
            </a:r>
            <a:r>
              <a:rPr lang="fr-FR" sz="1800" dirty="0">
                <a:latin typeface="Montserrat" panose="020B0604020202020204" charset="0"/>
              </a:rPr>
              <a:t>PAR GÉLULE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003976"/>
            <a:ext cx="38103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120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Plantain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Plantago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lanceolata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Thym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Thumus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vulgaris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Cassis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Ribes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nigrum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d'Eucalyptus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Ribes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nigrum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59976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279688"/>
              </p:ext>
            </p:extLst>
          </p:nvPr>
        </p:nvGraphicFramePr>
        <p:xfrm>
          <a:off x="4364705" y="4053046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 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916428" y="478644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PLANTHIOL</a:t>
            </a: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84" y="4710286"/>
            <a:ext cx="1494895" cy="342063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15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9142" y="437947"/>
            <a:ext cx="45008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2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43794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74922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Apaise la toux mixte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Dégage les vois respiratoires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Soulage l’irritation de la gorge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Adapté aux diabétiques </a:t>
            </a: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956641" y="159224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</a:t>
            </a:r>
            <a:r>
              <a:rPr lang="fr-FR" sz="1800" dirty="0">
                <a:latin typeface="Montserrat" panose="020B0604020202020204" charset="0"/>
              </a:rPr>
              <a:t>PAR </a:t>
            </a:r>
            <a:r>
              <a:rPr lang="fr-FR" sz="1800" dirty="0" smtClean="0">
                <a:latin typeface="Montserrat" panose="020B0604020202020204" charset="0"/>
              </a:rPr>
              <a:t>10 ML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200" b="0" dirty="0">
              <a:latin typeface="Montserrat" panose="020B0604020202020204" charset="0"/>
            </a:endParaRP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b="0" dirty="0" smtClean="0">
                <a:latin typeface="Montserrat" panose="020B0604020202020204" charset="0"/>
              </a:rPr>
              <a:t>70 mg  </a:t>
            </a:r>
            <a:r>
              <a:rPr lang="fr-FR" sz="1200" b="0" dirty="0">
                <a:latin typeface="Montserrat" panose="020B0604020202020204" charset="0"/>
              </a:rPr>
              <a:t>Extrait sec de lierre </a:t>
            </a:r>
            <a:r>
              <a:rPr lang="fr-FR" sz="1200" b="0" dirty="0" smtClean="0">
                <a:latin typeface="Montserrat" panose="020B0604020202020204" charset="0"/>
              </a:rPr>
              <a:t>grimpant(Hedera </a:t>
            </a:r>
            <a:r>
              <a:rPr lang="fr-FR" sz="1200" b="0" dirty="0" err="1" smtClean="0">
                <a:latin typeface="Montserrat" panose="020B0604020202020204" charset="0"/>
              </a:rPr>
              <a:t>Helix</a:t>
            </a:r>
            <a:r>
              <a:rPr lang="fr-FR" sz="1200" b="0" dirty="0" smtClean="0">
                <a:latin typeface="Montserrat" panose="020B0604020202020204" charset="0"/>
              </a:rPr>
              <a:t> </a:t>
            </a:r>
            <a:r>
              <a:rPr lang="fr-FR" sz="1200" b="0" dirty="0">
                <a:latin typeface="Montserrat" panose="020B0604020202020204" charset="0"/>
              </a:rPr>
              <a:t>L </a:t>
            </a:r>
            <a:r>
              <a:rPr lang="fr-FR" sz="1200" b="0" i="1" dirty="0" smtClean="0">
                <a:latin typeface="Montserrat" panose="020B0604020202020204" charset="0"/>
              </a:rPr>
              <a:t>Feuilles )</a:t>
            </a:r>
            <a:r>
              <a:rPr lang="fr-FR" sz="1200" b="0" dirty="0">
                <a:latin typeface="Montserrat" panose="020B0604020202020204" charset="0"/>
              </a:rPr>
              <a:t>		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b="0" dirty="0" smtClean="0">
                <a:latin typeface="Montserrat" panose="020B0604020202020204" charset="0"/>
              </a:rPr>
              <a:t>60 mg Extrait </a:t>
            </a:r>
            <a:r>
              <a:rPr lang="fr-FR" sz="1200" b="0" dirty="0">
                <a:latin typeface="Montserrat" panose="020B0604020202020204" charset="0"/>
              </a:rPr>
              <a:t>sec de guimauve </a:t>
            </a:r>
            <a:r>
              <a:rPr lang="fr-FR" sz="1200" b="0" dirty="0" smtClean="0">
                <a:latin typeface="Montserrat" panose="020B0604020202020204" charset="0"/>
              </a:rPr>
              <a:t>(</a:t>
            </a:r>
            <a:r>
              <a:rPr lang="fr-FR" sz="1200" b="0" dirty="0" err="1" smtClean="0">
                <a:latin typeface="Montserrat" panose="020B0604020202020204" charset="0"/>
              </a:rPr>
              <a:t>Althea</a:t>
            </a:r>
            <a:r>
              <a:rPr lang="fr-FR" sz="1200" b="0" dirty="0" smtClean="0">
                <a:latin typeface="Montserrat" panose="020B0604020202020204" charset="0"/>
              </a:rPr>
              <a:t> </a:t>
            </a:r>
            <a:r>
              <a:rPr lang="fr-FR" sz="1200" b="0" dirty="0" err="1">
                <a:latin typeface="Montserrat" panose="020B0604020202020204" charset="0"/>
              </a:rPr>
              <a:t>Officinalis</a:t>
            </a:r>
            <a:r>
              <a:rPr lang="fr-FR" sz="1200" b="0" dirty="0">
                <a:latin typeface="Montserrat" panose="020B0604020202020204" charset="0"/>
              </a:rPr>
              <a:t> L </a:t>
            </a:r>
            <a:r>
              <a:rPr lang="fr-FR" sz="1200" b="0" i="1" dirty="0" smtClean="0">
                <a:latin typeface="Montserrat" panose="020B0604020202020204" charset="0"/>
              </a:rPr>
              <a:t>Racines)</a:t>
            </a:r>
            <a:r>
              <a:rPr lang="fr-FR" sz="1200" b="0" dirty="0" smtClean="0">
                <a:latin typeface="Montserrat" panose="020B0604020202020204" charset="0"/>
              </a:rPr>
              <a:t> </a:t>
            </a:r>
            <a:endParaRPr lang="fr-FR" sz="1800" b="0" dirty="0"/>
          </a:p>
        </p:txBody>
      </p:sp>
      <p:sp>
        <p:nvSpPr>
          <p:cNvPr id="9" name="ZoneTexte 8"/>
          <p:cNvSpPr txBox="1"/>
          <p:nvPr/>
        </p:nvSpPr>
        <p:spPr>
          <a:xfrm>
            <a:off x="4213005" y="2003976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8" y="337749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267622"/>
              </p:ext>
            </p:extLst>
          </p:nvPr>
        </p:nvGraphicFramePr>
        <p:xfrm>
          <a:off x="4383764" y="3846603"/>
          <a:ext cx="3737340" cy="128287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3-6</a:t>
                      </a:r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 ans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2,5</a:t>
                      </a:r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 ml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2,5mll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6-12</a:t>
                      </a:r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 ans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5ml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5ml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12</a:t>
                      </a:r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 ans et plus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10ml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10ml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916428" y="478644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PULMAX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24" name="ZoneTexte 3"/>
          <p:cNvSpPr txBox="1"/>
          <p:nvPr/>
        </p:nvSpPr>
        <p:spPr>
          <a:xfrm>
            <a:off x="2899443" y="4248621"/>
            <a:ext cx="1313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150 ML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2970200" y="4579481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b="1" dirty="0" smtClean="0">
                <a:solidFill>
                  <a:srgbClr val="35535B"/>
                </a:solidFill>
                <a:latin typeface="Montserrat" panose="020B0604020202020204" charset="0"/>
              </a:rPr>
              <a:t>Sirop</a:t>
            </a:r>
            <a:endParaRPr lang="fr-FR" sz="1100" b="1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11" y="1140031"/>
            <a:ext cx="2030680" cy="400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03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43794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74922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Apaise la toux mixte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Dégage les vois respiratoires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Soulage l’irritation de la gorge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Adapté aux enfants diabétiques </a:t>
            </a: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956641" y="159224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</a:t>
            </a:r>
            <a:r>
              <a:rPr lang="fr-FR" sz="1800" dirty="0">
                <a:latin typeface="Montserrat" panose="020B0604020202020204" charset="0"/>
              </a:rPr>
              <a:t>PAR 5</a:t>
            </a:r>
            <a:r>
              <a:rPr lang="fr-FR" sz="1800" dirty="0" smtClean="0">
                <a:latin typeface="Montserrat" panose="020B0604020202020204" charset="0"/>
              </a:rPr>
              <a:t> ML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003976"/>
            <a:ext cx="3810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8" y="337749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654285"/>
              </p:ext>
            </p:extLst>
          </p:nvPr>
        </p:nvGraphicFramePr>
        <p:xfrm>
          <a:off x="4470591" y="4015418"/>
          <a:ext cx="3737340" cy="82567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0-5</a:t>
                      </a:r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 ans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5</a:t>
                      </a:r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 ml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5mll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5-10</a:t>
                      </a:r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 ans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10ml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10ml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565554" y="498779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PULMAX KIDS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24" name="ZoneTexte 3"/>
          <p:cNvSpPr txBox="1"/>
          <p:nvPr/>
        </p:nvSpPr>
        <p:spPr>
          <a:xfrm>
            <a:off x="2899443" y="4248621"/>
            <a:ext cx="1313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150 ML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2970200" y="4579481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b="1" dirty="0" smtClean="0">
                <a:solidFill>
                  <a:srgbClr val="35535B"/>
                </a:solidFill>
                <a:latin typeface="Montserrat" panose="020B0604020202020204" charset="0"/>
              </a:rPr>
              <a:t>Sirop</a:t>
            </a:r>
            <a:endParaRPr lang="fr-FR" sz="1100" b="1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pic>
        <p:nvPicPr>
          <p:cNvPr id="1026" name="Picture 2" descr="https://vital.com.tn/wp-content/uploads/2025/07/PULMAX-Enfant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021999"/>
            <a:ext cx="3158837" cy="412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315090" y="2335708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30 mg d’Extrait sec de thym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30 mg d’Extrait sec de plantain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30 mg d’Extrait sec de sureau noir</a:t>
            </a:r>
          </a:p>
        </p:txBody>
      </p:sp>
    </p:spTree>
    <p:extLst>
      <p:ext uri="{BB962C8B-B14F-4D97-AF65-F5344CB8AC3E}">
        <p14:creationId xmlns:p14="http://schemas.microsoft.com/office/powerpoint/2010/main" val="115608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43794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74922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Calme </a:t>
            </a:r>
            <a:r>
              <a:rPr lang="fr-FR" sz="1200" dirty="0">
                <a:latin typeface="Montserrat" panose="020B0604020202020204" charset="0"/>
              </a:rPr>
              <a:t>la toux </a:t>
            </a:r>
            <a:r>
              <a:rPr lang="fr-FR" sz="1200" dirty="0" smtClean="0">
                <a:latin typeface="Montserrat" panose="020B0604020202020204" charset="0"/>
              </a:rPr>
              <a:t>grasse productive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Effet expectorant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Dégage </a:t>
            </a:r>
            <a:r>
              <a:rPr lang="fr-FR" sz="1200" dirty="0">
                <a:latin typeface="Montserrat" panose="020B0604020202020204" charset="0"/>
              </a:rPr>
              <a:t>les voies respiratoires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83599" y="155550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</a:t>
            </a:r>
            <a:r>
              <a:rPr lang="fr-FR" sz="1800" dirty="0">
                <a:latin typeface="Montserrat" panose="020B0604020202020204" charset="0"/>
              </a:rPr>
              <a:t>PAR GÉLULE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003976"/>
            <a:ext cx="38103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120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Plantain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Plantago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lanceolata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Thym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Thumus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vulgaris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Cassis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Ribes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nigrum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d'Eucalyptus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Ribes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nigrum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59976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279688"/>
              </p:ext>
            </p:extLst>
          </p:nvPr>
        </p:nvGraphicFramePr>
        <p:xfrm>
          <a:off x="4364705" y="4053046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 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916428" y="478644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PLANTHIOL</a:t>
            </a: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84" y="4710286"/>
            <a:ext cx="1494895" cy="342063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15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9142" y="437947"/>
            <a:ext cx="45008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2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55" y="1025600"/>
            <a:ext cx="3731592" cy="3731592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1648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623492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Aide à soulager </a:t>
            </a:r>
            <a:r>
              <a:rPr lang="fr-FR" sz="1200" dirty="0" smtClean="0">
                <a:latin typeface="Montserrat" panose="020B0604020202020204" charset="0"/>
              </a:rPr>
              <a:t>l'encombrement </a:t>
            </a:r>
            <a:r>
              <a:rPr lang="fr-FR" sz="1200" dirty="0" err="1" smtClean="0">
                <a:latin typeface="Montserrat" panose="020B0604020202020204" charset="0"/>
              </a:rPr>
              <a:t>brochique</a:t>
            </a:r>
            <a:r>
              <a:rPr lang="fr-FR" sz="1200" dirty="0" smtClean="0">
                <a:latin typeface="Montserrat" panose="020B0604020202020204" charset="0"/>
              </a:rPr>
              <a:t> et dégager les voies respiratoires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4913" y="128253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105461" y="475834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PLANTHIOL Baume 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1639640"/>
            <a:ext cx="39949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essentielle d'eucalyptus (Eucalyptus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globulus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essentielle de thym (Thymus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vulgaris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L.)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essentielle de cèdre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Cedrus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at!antica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essentielle de Térébenthine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297824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CONSEILS D'UTILISATION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948381"/>
              </p:ext>
            </p:extLst>
          </p:nvPr>
        </p:nvGraphicFramePr>
        <p:xfrm>
          <a:off x="4364705" y="3431528"/>
          <a:ext cx="3737340" cy="11287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 smtClean="0">
                          <a:latin typeface="Montserrat" panose="020B0604020202020204" charset="0"/>
                        </a:rPr>
                        <a:t>Appliquer une noisette de la pommade sur le dos ou la poitrine 2 fois par jour, masser légèrement avec des mouvements circulaires jusqu'à la pénétration 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84" y="4710286"/>
            <a:ext cx="1494895" cy="342063"/>
          </a:xfrm>
          <a:prstGeom prst="rect">
            <a:avLst/>
          </a:prstGeom>
        </p:spPr>
      </p:pic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Montserrat" panose="020B060402020202020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035744" y="1801004"/>
            <a:ext cx="713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Montserrat" panose="020B0604020202020204" charset="0"/>
              </a:rPr>
              <a:t>40 gr</a:t>
            </a:r>
            <a:endParaRPr lang="fr-FR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78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2505" y="1009129"/>
            <a:ext cx="3841028" cy="3841028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43794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74922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Soulage les douleurs musculaires, céphalées et les </a:t>
            </a:r>
            <a:r>
              <a:rPr lang="fr-FR" sz="1200" dirty="0" smtClean="0">
                <a:latin typeface="Montserrat" panose="020B0604020202020204" charset="0"/>
              </a:rPr>
              <a:t>arthralgies</a:t>
            </a: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1" y="155550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</a:t>
            </a:r>
            <a:r>
              <a:rPr lang="fr-FR" sz="1800" dirty="0">
                <a:latin typeface="Montserrat" panose="020B0604020202020204" charset="0"/>
              </a:rPr>
              <a:t>PAR GÉLULE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003976"/>
            <a:ext cx="38103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Harpagophytum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Harpagophytum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procumbens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26,4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Guarana (Pau/lino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cupana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0686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270271"/>
              </p:ext>
            </p:extLst>
          </p:nvPr>
        </p:nvGraphicFramePr>
        <p:xfrm>
          <a:off x="4364705" y="3760148"/>
          <a:ext cx="3737340" cy="82567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 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 gridSpan="4"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En cas de besoin, ne pas dépasser 4 gélules par jour 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680684" y="485909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PLANTALGIC</a:t>
            </a: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84" y="4710286"/>
            <a:ext cx="1494895" cy="342063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15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05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807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92064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Nettoie </a:t>
            </a:r>
            <a:r>
              <a:rPr lang="fr-FR" sz="1200" dirty="0">
                <a:latin typeface="Montserrat" panose="020B0604020202020204" charset="0"/>
              </a:rPr>
              <a:t>et humidifie la muqueuse nasale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Désobstruction </a:t>
            </a:r>
            <a:r>
              <a:rPr lang="fr-FR" sz="1200" dirty="0">
                <a:latin typeface="Montserrat" panose="020B0604020202020204" charset="0"/>
              </a:rPr>
              <a:t>nasale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Solution </a:t>
            </a:r>
            <a:r>
              <a:rPr lang="fr-FR" sz="1200" dirty="0">
                <a:latin typeface="Montserrat" panose="020B0604020202020204" charset="0"/>
              </a:rPr>
              <a:t>isotonique, permet d'évacuer les agents infectieux et allergènes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1" y="157693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POUR 20 ML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025411"/>
            <a:ext cx="41594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180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Chlorure de sodium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Thym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Thumus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vulgaris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d'Arnica (Arnica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montana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Bardane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Arctium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lappa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132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Propolis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essentielle d'Eucalyptus (Eucalyptus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globulus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303891" y="346403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CONSEILS D'UTILISATION 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80684" y="485909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RHINOPLANT</a:t>
            </a: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84" y="4710286"/>
            <a:ext cx="1494895" cy="342063"/>
          </a:xfrm>
          <a:prstGeom prst="rect">
            <a:avLst/>
          </a:prstGeom>
        </p:spPr>
      </p:pic>
      <p:sp>
        <p:nvSpPr>
          <p:cNvPr id="15" name="Arrondir un rectangle avec un coin diagonal 14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Montserrat" panose="020B0604020202020204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3035744" y="1801004"/>
            <a:ext cx="713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Montserrat" panose="020B0604020202020204" charset="0"/>
              </a:rPr>
              <a:t>Spray</a:t>
            </a:r>
            <a:endParaRPr lang="fr-FR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2841162" y="3706727"/>
            <a:ext cx="1126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20 ml</a:t>
            </a:r>
            <a:endParaRPr lang="fr-FR" sz="18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190" y="2717908"/>
            <a:ext cx="1453291" cy="1453291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4321173" y="3878183"/>
            <a:ext cx="3979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2 à 4 pulvérisations dans chaque narine, 2 à 3 fois par jour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489" y="1450814"/>
            <a:ext cx="1289221" cy="301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2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568" y="1071666"/>
            <a:ext cx="3919016" cy="3919016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43794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74922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Equilibre la réponse du système immunitaire de l'organisme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1" y="155550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</a:t>
            </a:r>
            <a:r>
              <a:rPr lang="fr-FR" sz="1800" dirty="0">
                <a:latin typeface="Montserrat" panose="020B0604020202020204" charset="0"/>
              </a:rPr>
              <a:t>PAR GÉLULE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003976"/>
            <a:ext cx="3810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Quercétine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Sophorae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japonica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Méthyl-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sulfonyl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-méthane (MSM)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Cassis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Ribes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nigrum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0686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804978"/>
              </p:ext>
            </p:extLst>
          </p:nvPr>
        </p:nvGraphicFramePr>
        <p:xfrm>
          <a:off x="4364705" y="3760148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 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573741" y="485909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ALLERGIPLANT </a:t>
            </a: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84" y="4710286"/>
            <a:ext cx="1494895" cy="342063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60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75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53" y="963743"/>
            <a:ext cx="4095750" cy="4095750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4510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56385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Triple </a:t>
            </a:r>
            <a:r>
              <a:rPr lang="fr-FR" sz="1200" dirty="0">
                <a:latin typeface="Montserrat" panose="020B0604020202020204" charset="0"/>
              </a:rPr>
              <a:t>action: Antiseptique, anti-inflammatoire et cicatrisante de la gorge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Apaise</a:t>
            </a:r>
            <a:r>
              <a:rPr lang="fr-FR" sz="1200" dirty="0">
                <a:latin typeface="Montserrat" panose="020B0604020202020204" charset="0"/>
              </a:rPr>
              <a:t>, adoucit et assainit la gorge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1" y="150550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</a:t>
            </a:r>
            <a:r>
              <a:rPr lang="fr-FR" sz="1800" dirty="0">
                <a:latin typeface="Montserrat" panose="020B0604020202020204" charset="0"/>
              </a:rPr>
              <a:t>POUR 20 ML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1953973"/>
            <a:ext cx="41594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Thym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Thumus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vulgaris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Plantain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Plantago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lanceolata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Miel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132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Propolis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66,7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essentielle de Menthe poivrée (f'v1entha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piperita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46,7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essentielle de Girofle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Syzygium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aromaticum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303891" y="372835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CONSEILS D'UTILISATION 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787390" y="485909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ANGIPLANT</a:t>
            </a: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84" y="4710286"/>
            <a:ext cx="1494895" cy="342063"/>
          </a:xfrm>
          <a:prstGeom prst="rect">
            <a:avLst/>
          </a:prstGeom>
        </p:spPr>
      </p:pic>
      <p:sp>
        <p:nvSpPr>
          <p:cNvPr id="15" name="Arrondir un rectangle avec un coin diagonal 14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Montserrat" panose="020B0604020202020204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3035744" y="1801004"/>
            <a:ext cx="713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Montserrat" panose="020B0604020202020204" charset="0"/>
              </a:rPr>
              <a:t>Spray</a:t>
            </a:r>
            <a:endParaRPr lang="fr-FR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2841162" y="3706727"/>
            <a:ext cx="1126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20 ml</a:t>
            </a:r>
            <a:endParaRPr lang="fr-FR" sz="18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700" y="2758718"/>
            <a:ext cx="1453291" cy="1453291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4321173" y="4142504"/>
            <a:ext cx="3979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3 pulvérisations au niveau de la gorge, 3 à 4 fois par jour </a:t>
            </a:r>
          </a:p>
        </p:txBody>
      </p:sp>
    </p:spTree>
    <p:extLst>
      <p:ext uri="{BB962C8B-B14F-4D97-AF65-F5344CB8AC3E}">
        <p14:creationId xmlns:p14="http://schemas.microsoft.com/office/powerpoint/2010/main" val="384042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037" y="1001864"/>
            <a:ext cx="4031456" cy="4031456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180766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494902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Triple action: Antiseptique, anti-inflammatoire et cicatrisante de la gorge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Apaise, adoucit et assainit la gorge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55007" y="116259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COMPOSITION </a:t>
            </a:r>
            <a:r>
              <a:rPr lang="fr-FR" sz="1800" dirty="0" smtClean="0">
                <a:latin typeface="Montserrat" panose="020B0604020202020204" charset="0"/>
              </a:rPr>
              <a:t>POUR 10 ML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916428" y="478644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ANGIPLANT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1546769"/>
            <a:ext cx="38103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Propolis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Guimauve (Althaea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officinalis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d'Eucalyptus (Eucalyptus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globulus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Thym (Thymus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vulgaris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 (Acide ascorbique)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Eryzimum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Eryzimum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officinalis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53546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778269"/>
              </p:ext>
            </p:extLst>
          </p:nvPr>
        </p:nvGraphicFramePr>
        <p:xfrm>
          <a:off x="4364705" y="3988748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10ml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10ml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10ml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84" y="4710286"/>
            <a:ext cx="1494895" cy="342063"/>
          </a:xfrm>
          <a:prstGeom prst="rect">
            <a:avLst/>
          </a:prstGeom>
        </p:spPr>
      </p:pic>
      <p:sp>
        <p:nvSpPr>
          <p:cNvPr id="20" name="ZoneTexte 19"/>
          <p:cNvSpPr txBox="1"/>
          <p:nvPr/>
        </p:nvSpPr>
        <p:spPr>
          <a:xfrm>
            <a:off x="2841162" y="3706727"/>
            <a:ext cx="1126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150 </a:t>
            </a:r>
            <a:r>
              <a:rPr lang="fr-FR" sz="2000" b="1" dirty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ml</a:t>
            </a:r>
            <a:endParaRPr lang="fr-FR" sz="18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148" y="2724099"/>
            <a:ext cx="1453291" cy="1453291"/>
          </a:xfrm>
          <a:prstGeom prst="rect">
            <a:avLst/>
          </a:prstGeom>
        </p:spPr>
      </p:pic>
      <p:sp>
        <p:nvSpPr>
          <p:cNvPr id="14" name="Arrondir un rectangle avec un coin diagonal 13"/>
          <p:cNvSpPr/>
          <p:nvPr/>
        </p:nvSpPr>
        <p:spPr>
          <a:xfrm>
            <a:off x="2962454" y="1802929"/>
            <a:ext cx="819751" cy="27962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Montserrat" panose="020B060402020202020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035744" y="1801004"/>
            <a:ext cx="713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Montserrat" panose="020B0604020202020204" charset="0"/>
              </a:rPr>
              <a:t>Sirop</a:t>
            </a:r>
            <a:endParaRPr lang="fr-FR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19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375" y="971551"/>
            <a:ext cx="3959100" cy="3959100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43794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74922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Aide </a:t>
            </a:r>
            <a:r>
              <a:rPr lang="fr-FR" sz="1200" dirty="0">
                <a:latin typeface="Montserrat" panose="020B0604020202020204" charset="0"/>
              </a:rPr>
              <a:t>à protéger l'organisme des infections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Stimule </a:t>
            </a:r>
            <a:r>
              <a:rPr lang="fr-FR" sz="1200" dirty="0">
                <a:latin typeface="Montserrat" panose="020B0604020202020204" charset="0"/>
              </a:rPr>
              <a:t>la protection d'anticorps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Aide </a:t>
            </a:r>
            <a:r>
              <a:rPr lang="fr-FR" sz="1200" dirty="0">
                <a:latin typeface="Montserrat" panose="020B0604020202020204" charset="0"/>
              </a:rPr>
              <a:t>à réduire la durée du rhume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1" y="155550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>
                <a:latin typeface="Montserrat" panose="020B0604020202020204" charset="0"/>
              </a:rPr>
              <a:t>COMPOSITION </a:t>
            </a:r>
            <a:r>
              <a:rPr lang="fr-FR" sz="1800" dirty="0">
                <a:latin typeface="Montserrat" panose="020B0604020202020204" charset="0"/>
              </a:rPr>
              <a:t>PAR GÉLULE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018264"/>
            <a:ext cx="3810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480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d'Echinacée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Echinacea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purpurea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L)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 (Acide ascorbique)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Zinc (Sulfate de zinc)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0686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933066"/>
              </p:ext>
            </p:extLst>
          </p:nvPr>
        </p:nvGraphicFramePr>
        <p:xfrm>
          <a:off x="4364705" y="3760148"/>
          <a:ext cx="3737340" cy="82567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</a:p>
                  </a:txBody>
                  <a:tcPr/>
                </a:tc>
              </a:tr>
              <a:tr h="275187">
                <a:tc gridSpan="4"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Cure minimale de 3 mois 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110587" y="512920"/>
            <a:ext cx="513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  <a:latin typeface="Montserrat" panose="020B0604020202020204" charset="0"/>
              </a:rPr>
              <a:t>Echinacée Zinc </a:t>
            </a:r>
            <a:r>
              <a:rPr lang="fr-FR" sz="2400" dirty="0" err="1" smtClean="0">
                <a:solidFill>
                  <a:schemeClr val="bg1"/>
                </a:solidFill>
                <a:latin typeface="Montserrat" panose="020B0604020202020204" charset="0"/>
              </a:rPr>
              <a:t>Vit.C</a:t>
            </a:r>
            <a:r>
              <a:rPr lang="fr-FR" sz="2400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endParaRPr lang="fr-FR" sz="24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84" y="4710286"/>
            <a:ext cx="1494895" cy="342063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60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17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3758" y="971551"/>
            <a:ext cx="3945068" cy="3945068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16489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27769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Prévient et traite l'état grippal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984421"/>
            <a:ext cx="5603342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400" dirty="0"/>
              <a:t>COMPOSITION PAR </a:t>
            </a:r>
            <a:r>
              <a:rPr lang="fr-FR" sz="1400" dirty="0" smtClean="0"/>
              <a:t>GÉLULE </a:t>
            </a:r>
            <a:r>
              <a:rPr lang="fr-FR" sz="1400" dirty="0" smtClean="0">
                <a:solidFill>
                  <a:srgbClr val="E14D4D"/>
                </a:solidFill>
              </a:rPr>
              <a:t>(Formule JOUR) </a:t>
            </a:r>
            <a:endParaRPr sz="1400" dirty="0">
              <a:solidFill>
                <a:srgbClr val="E14D4D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1311030"/>
            <a:ext cx="4166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smtClean="0">
                <a:solidFill>
                  <a:srgbClr val="6D6D6D"/>
                </a:solidFill>
                <a:latin typeface="Montserrat" panose="020B0604020202020204" charset="0"/>
              </a:rPr>
              <a:t>145 mg d'Extrait sec de Noyer (Jugions regia)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smtClean="0">
                <a:solidFill>
                  <a:srgbClr val="6D6D6D"/>
                </a:solidFill>
                <a:latin typeface="Montserrat" panose="020B0604020202020204" charset="0"/>
              </a:rPr>
              <a:t>100 mg d'Extrait sec d'Acérola (Malpighia glabra)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smtClean="0">
                <a:solidFill>
                  <a:srgbClr val="6D6D6D"/>
                </a:solidFill>
                <a:latin typeface="Montserrat" panose="020B0604020202020204" charset="0"/>
              </a:rPr>
              <a:t>100 mg d'Extrait sec d'Echinacée (Echinacea pupurea)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0686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901192"/>
              </p:ext>
            </p:extLst>
          </p:nvPr>
        </p:nvGraphicFramePr>
        <p:xfrm>
          <a:off x="4364705" y="3760148"/>
          <a:ext cx="3737340" cy="94672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 (F.J*) 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 (F.N*)</a:t>
                      </a:r>
                    </a:p>
                  </a:txBody>
                  <a:tcPr/>
                </a:tc>
              </a:tr>
              <a:tr h="275187">
                <a:tc gridSpan="4"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*(F.J: Formule jour) *(F.N: Formule nuit)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ZoneTexte 15"/>
          <p:cNvSpPr txBox="1"/>
          <p:nvPr/>
        </p:nvSpPr>
        <p:spPr>
          <a:xfrm>
            <a:off x="975374" y="448331"/>
            <a:ext cx="3029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PLANTEX</a:t>
            </a: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84" y="4710286"/>
            <a:ext cx="1494895" cy="342063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66" y="2455379"/>
            <a:ext cx="1929747" cy="1929747"/>
          </a:xfrm>
          <a:prstGeom prst="rect">
            <a:avLst/>
          </a:prstGeom>
        </p:spPr>
      </p:pic>
      <p:sp>
        <p:nvSpPr>
          <p:cNvPr id="24" name="ZoneTexte 3"/>
          <p:cNvSpPr txBox="1"/>
          <p:nvPr/>
        </p:nvSpPr>
        <p:spPr>
          <a:xfrm>
            <a:off x="3149808" y="2755528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25" name="ZoneTexte 4"/>
          <p:cNvSpPr txBox="1"/>
          <p:nvPr/>
        </p:nvSpPr>
        <p:spPr>
          <a:xfrm>
            <a:off x="3080356" y="3086388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" panose="020B0604020202020204" charset="0"/>
            </a:endParaRPr>
          </a:p>
        </p:txBody>
      </p:sp>
      <p:sp>
        <p:nvSpPr>
          <p:cNvPr id="15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2187419"/>
            <a:ext cx="5603342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400" dirty="0"/>
              <a:t>COMPOSITION PAR </a:t>
            </a:r>
            <a:r>
              <a:rPr lang="fr-FR" sz="1400" dirty="0" smtClean="0"/>
              <a:t>GÉLULE </a:t>
            </a:r>
            <a:r>
              <a:rPr lang="fr-FR" sz="1400" dirty="0">
                <a:solidFill>
                  <a:srgbClr val="E14D4D"/>
                </a:solidFill>
              </a:rPr>
              <a:t>(Formule NUIT)</a:t>
            </a:r>
            <a:endParaRPr sz="1400" dirty="0">
              <a:solidFill>
                <a:srgbClr val="E14D4D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4213004" y="2515953"/>
            <a:ext cx="4580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145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Plantain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Plantago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lanceolata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d'Eucalyptus (Eucalyptus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globulus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Thym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Thumus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vulgaris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17621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6741</TotalTime>
  <Words>1243</Words>
  <Application>Microsoft Office PowerPoint</Application>
  <PresentationFormat>Affichage à l'écran (16:9)</PresentationFormat>
  <Paragraphs>344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Poppins</vt:lpstr>
      <vt:lpstr>Montserrat</vt:lpstr>
      <vt:lpstr>Oswald Medium</vt:lpstr>
      <vt:lpstr>Raleway</vt:lpstr>
      <vt:lpstr>Arial</vt:lpstr>
      <vt:lpstr>Minimalist SEO Strategy by Slidesgo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Gammes des  Laboratoires Vital</dc:title>
  <dc:creator>MED SAFOUANE MEDIOUN</dc:creator>
  <cp:lastModifiedBy>a</cp:lastModifiedBy>
  <cp:revision>178</cp:revision>
  <dcterms:modified xsi:type="dcterms:W3CDTF">2026-03-10T09:45:10Z</dcterms:modified>
</cp:coreProperties>
</file>