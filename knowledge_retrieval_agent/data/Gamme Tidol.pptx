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6"/>
  </p:notesMasterIdLst>
  <p:sldIdLst>
    <p:sldId id="260" r:id="rId3"/>
    <p:sldId id="257" r:id="rId4"/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F9490-64B3-42E0-A0E4-3C780445FA77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17A62-35E0-4F7F-9703-EEC8DAB910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3146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ac1b75c0d8_3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ac1b75c0d8_3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4960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9289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ab1d022ff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ab1d022ff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871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241733" y="3100717"/>
            <a:ext cx="4671200" cy="8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241733" y="3759040"/>
            <a:ext cx="37584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720000" y="3263133"/>
            <a:ext cx="1418467" cy="4319667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7153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018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1018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9920633" y="3629300"/>
            <a:ext cx="1418467" cy="4319667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46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58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93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241733" y="3100717"/>
            <a:ext cx="4671200" cy="8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ubTitle" idx="1"/>
          </p:nvPr>
        </p:nvSpPr>
        <p:spPr>
          <a:xfrm>
            <a:off x="6241733" y="3759040"/>
            <a:ext cx="37584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" name="Google Shape;55;p7"/>
          <p:cNvGrpSpPr/>
          <p:nvPr/>
        </p:nvGrpSpPr>
        <p:grpSpPr>
          <a:xfrm flipH="1">
            <a:off x="720000" y="3263133"/>
            <a:ext cx="1418467" cy="4319667"/>
            <a:chOff x="146675" y="378750"/>
            <a:chExt cx="1063850" cy="3239750"/>
          </a:xfrm>
        </p:grpSpPr>
        <p:sp>
          <p:nvSpPr>
            <p:cNvPr id="56" name="Google Shape;56;p7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Google Shape;57;p7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4742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1018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1018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grpSp>
        <p:nvGrpSpPr>
          <p:cNvPr id="73" name="Google Shape;73;p9"/>
          <p:cNvGrpSpPr/>
          <p:nvPr/>
        </p:nvGrpSpPr>
        <p:grpSpPr>
          <a:xfrm rot="5400000">
            <a:off x="9920633" y="3629300"/>
            <a:ext cx="1418467" cy="4319667"/>
            <a:chOff x="146675" y="378750"/>
            <a:chExt cx="1063850" cy="3239750"/>
          </a:xfrm>
        </p:grpSpPr>
        <p:sp>
          <p:nvSpPr>
            <p:cNvPr id="74" name="Google Shape;74;p9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146675" y="37875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82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048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/>
          <p:nvPr/>
        </p:nvSpPr>
        <p:spPr>
          <a:xfrm rot="5400000">
            <a:off x="2158000" y="-2019633"/>
            <a:ext cx="631200" cy="5989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470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"/>
          </p:nvPr>
        </p:nvSpPr>
        <p:spPr>
          <a:xfrm>
            <a:off x="4238200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2"/>
          </p:nvPr>
        </p:nvSpPr>
        <p:spPr>
          <a:xfrm>
            <a:off x="45253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3"/>
          </p:nvPr>
        </p:nvSpPr>
        <p:spPr>
          <a:xfrm>
            <a:off x="4182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4"/>
          </p:nvPr>
        </p:nvSpPr>
        <p:spPr>
          <a:xfrm>
            <a:off x="705533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5"/>
          </p:nvPr>
        </p:nvSpPr>
        <p:spPr>
          <a:xfrm>
            <a:off x="4238100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6"/>
          </p:nvPr>
        </p:nvSpPr>
        <p:spPr>
          <a:xfrm>
            <a:off x="45253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7"/>
          </p:nvPr>
        </p:nvSpPr>
        <p:spPr>
          <a:xfrm>
            <a:off x="4182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8"/>
          </p:nvPr>
        </p:nvSpPr>
        <p:spPr>
          <a:xfrm>
            <a:off x="705467" y="5313200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9"/>
          </p:nvPr>
        </p:nvSpPr>
        <p:spPr>
          <a:xfrm>
            <a:off x="8058067" y="25640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3"/>
          </p:nvPr>
        </p:nvSpPr>
        <p:spPr>
          <a:xfrm>
            <a:off x="8345167" y="30400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4"/>
          </p:nvPr>
        </p:nvSpPr>
        <p:spPr>
          <a:xfrm>
            <a:off x="8058067" y="4837167"/>
            <a:ext cx="3715600" cy="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2667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2pPr>
            <a:lvl3pPr lvl="2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3pPr>
            <a:lvl4pPr lvl="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4pPr>
            <a:lvl5pPr lvl="4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5pPr>
            <a:lvl6pPr lvl="5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6pPr>
            <a:lvl7pPr lvl="6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7pPr>
            <a:lvl8pPr lvl="7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8pPr>
            <a:lvl9pPr lvl="8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2300"/>
              <a:buFont typeface="Oswald Medium"/>
              <a:buNone/>
              <a:defRPr sz="3067">
                <a:solidFill>
                  <a:schemeClr val="dk1"/>
                </a:solidFill>
                <a:latin typeface="Oswald Medium"/>
                <a:ea typeface="Oswald Medium"/>
                <a:cs typeface="Oswald Medium"/>
                <a:sym typeface="Oswald Medium"/>
              </a:defRPr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5"/>
          </p:nvPr>
        </p:nvSpPr>
        <p:spPr>
          <a:xfrm>
            <a:off x="8345167" y="5313167"/>
            <a:ext cx="31412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16" hasCustomPrompt="1"/>
          </p:nvPr>
        </p:nvSpPr>
        <p:spPr>
          <a:xfrm>
            <a:off x="1609733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17" hasCustomPrompt="1"/>
          </p:nvPr>
        </p:nvSpPr>
        <p:spPr>
          <a:xfrm>
            <a:off x="1609733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18" hasCustomPrompt="1"/>
          </p:nvPr>
        </p:nvSpPr>
        <p:spPr>
          <a:xfrm>
            <a:off x="542951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19" hasCustomPrompt="1"/>
          </p:nvPr>
        </p:nvSpPr>
        <p:spPr>
          <a:xfrm>
            <a:off x="5429600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20" hasCustomPrompt="1"/>
          </p:nvPr>
        </p:nvSpPr>
        <p:spPr>
          <a:xfrm>
            <a:off x="9249367" y="16954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21" hasCustomPrompt="1"/>
          </p:nvPr>
        </p:nvSpPr>
        <p:spPr>
          <a:xfrm>
            <a:off x="9249367" y="3968600"/>
            <a:ext cx="1332800" cy="9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Montserrat"/>
              <a:buNone/>
              <a:defRPr sz="48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grpSp>
        <p:nvGrpSpPr>
          <p:cNvPr id="117" name="Google Shape;117;p13"/>
          <p:cNvGrpSpPr/>
          <p:nvPr/>
        </p:nvGrpSpPr>
        <p:grpSpPr>
          <a:xfrm flipH="1">
            <a:off x="10879626" y="-1730367"/>
            <a:ext cx="894033" cy="3526100"/>
            <a:chOff x="540000" y="973925"/>
            <a:chExt cx="670525" cy="2644575"/>
          </a:xfrm>
        </p:grpSpPr>
        <p:sp>
          <p:nvSpPr>
            <p:cNvPr id="118" name="Google Shape;118;p13"/>
            <p:cNvSpPr/>
            <p:nvPr/>
          </p:nvSpPr>
          <p:spPr>
            <a:xfrm>
              <a:off x="933325" y="973925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540000" y="1386500"/>
              <a:ext cx="277200" cy="2232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876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650498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81200"/>
            <a:ext cx="1075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10752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○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aleway"/>
              <a:buChar char="■"/>
              <a:defRPr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11887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4294967295" orient="horz" pos="340">
          <p15:clr>
            <a:srgbClr val="EA4335"/>
          </p15:clr>
        </p15:guide>
        <p15:guide id="4294967295" orient="horz" pos="2900">
          <p15:clr>
            <a:srgbClr val="EA4335"/>
          </p15:clr>
        </p15:guide>
        <p15:guide id="4294967295" pos="340">
          <p15:clr>
            <a:srgbClr val="EA4335"/>
          </p15:clr>
        </p15:guide>
        <p15:guide id="4294967295" pos="54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alphaModFix amt="51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28;p25"/>
          <p:cNvSpPr txBox="1">
            <a:spLocks/>
          </p:cNvSpPr>
          <p:nvPr/>
        </p:nvSpPr>
        <p:spPr>
          <a:xfrm>
            <a:off x="2379229" y="445106"/>
            <a:ext cx="8050647" cy="1396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35535B"/>
              </a:buClr>
            </a:pPr>
            <a:r>
              <a:rPr lang="fr-FR" sz="6400" kern="0" cap="all" dirty="0">
                <a:solidFill>
                  <a:srgbClr val="E14D4D"/>
                </a:solidFill>
              </a:rPr>
              <a:t/>
            </a:r>
            <a:br>
              <a:rPr lang="fr-FR" sz="6400" kern="0" cap="all" dirty="0">
                <a:solidFill>
                  <a:srgbClr val="E14D4D"/>
                </a:solidFill>
              </a:rPr>
            </a:br>
            <a:r>
              <a:rPr lang="fr-FR" sz="6400" kern="0" cap="all" dirty="0" smtClean="0">
                <a:solidFill>
                  <a:srgbClr val="E14D4D"/>
                </a:solidFill>
              </a:rPr>
              <a:t>TIDOL</a:t>
            </a:r>
            <a:endParaRPr lang="fr-FR" sz="6400" kern="0" cap="all" dirty="0">
              <a:solidFill>
                <a:srgbClr val="E14D4D"/>
              </a:solidFill>
            </a:endParaRPr>
          </a:p>
        </p:txBody>
      </p:sp>
      <p:sp>
        <p:nvSpPr>
          <p:cNvPr id="7" name="Google Shape;810;p35"/>
          <p:cNvSpPr/>
          <p:nvPr/>
        </p:nvSpPr>
        <p:spPr>
          <a:xfrm>
            <a:off x="523727" y="445106"/>
            <a:ext cx="1738332" cy="1407148"/>
          </a:xfrm>
          <a:prstGeom prst="homePlate">
            <a:avLst>
              <a:gd name="adj" fmla="val 31917"/>
            </a:avLst>
          </a:prstGeom>
          <a:solidFill>
            <a:srgbClr val="E14D4D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E14D4D"/>
              </a:solidFill>
              <a:cs typeface="Arial"/>
              <a:sym typeface="Arial"/>
            </a:endParaRPr>
          </a:p>
        </p:txBody>
      </p:sp>
      <p:sp>
        <p:nvSpPr>
          <p:cNvPr id="8" name="Google Shape;820;p35"/>
          <p:cNvSpPr txBox="1">
            <a:spLocks/>
          </p:cNvSpPr>
          <p:nvPr/>
        </p:nvSpPr>
        <p:spPr>
          <a:xfrm>
            <a:off x="332523" y="719667"/>
            <a:ext cx="1746885" cy="7680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" sz="3200" kern="0" dirty="0">
              <a:solidFill>
                <a:srgbClr val="FFFFFF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974" y="-212875"/>
            <a:ext cx="2719009" cy="271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5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755384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772598" y="755385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fr-FR" sz="1600" dirty="0">
                <a:latin typeface="Montserrat" panose="020B0604020202020204" charset="0"/>
              </a:rPr>
              <a:t> </a:t>
            </a: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 Medium" panose="00000600000000000000" pitchFamily="50" charset="0"/>
            </a:endParaRPr>
          </a:p>
          <a:p>
            <a:pPr marL="228594" indent="-228594" algn="l">
              <a:buFont typeface="Arial" panose="020B0604020202020204" pitchFamily="34" charset="0"/>
              <a:buChar char="•"/>
            </a:pPr>
            <a:endParaRPr lang="fr-FR" sz="1600" dirty="0">
              <a:latin typeface="Montserrat" panose="020B0604020202020204" charset="0"/>
            </a:endParaRP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04619" y="2265956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 smtClean="0"/>
              <a:t>COMPOSITION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-291152" y="738610"/>
            <a:ext cx="760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400" kern="0" dirty="0" smtClean="0">
                <a:solidFill>
                  <a:srgbClr val="FFFFFF"/>
                </a:solidFill>
                <a:latin typeface="Montserrat" panose="020B0604020202020204" charset="0"/>
                <a:cs typeface="Arial"/>
                <a:sym typeface="Arial"/>
              </a:rPr>
              <a:t>TIDOL GEL DE MASSAGE CHAUFFANT </a:t>
            </a:r>
            <a:endParaRPr lang="fr-FR" sz="2400" kern="0" dirty="0">
              <a:solidFill>
                <a:srgbClr val="FFFFFF"/>
              </a:solidFill>
              <a:latin typeface="Montserrat" panose="020B0604020202020204" charset="0"/>
              <a:cs typeface="Arial"/>
              <a:sym typeface="Arial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4283517" y="4663953"/>
            <a:ext cx="812359" cy="450415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fr-FR" sz="1867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198779" y="4678815"/>
            <a:ext cx="150175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133" b="1" kern="0" dirty="0" smtClea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45 gr</a:t>
            </a:r>
            <a:endParaRPr lang="fr-FR" sz="2133" b="1" kern="0" dirty="0">
              <a:solidFill>
                <a:srgbClr val="FFFFFF"/>
              </a:solidFill>
              <a:latin typeface="Montserrat Medium" panose="00000600000000000000" pitchFamily="50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29088" y="4517997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 </a:t>
            </a:r>
            <a:endParaRPr sz="24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706293"/>
              </p:ext>
            </p:extLst>
          </p:nvPr>
        </p:nvGraphicFramePr>
        <p:xfrm>
          <a:off x="5815335" y="5282825"/>
          <a:ext cx="4983120" cy="134242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367065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  <a:tr h="975360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Deux applications par jour, matin et soir, sur les zones à problème 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52" y="6067425"/>
            <a:ext cx="1018563" cy="642079"/>
          </a:xfrm>
          <a:prstGeom prst="rect">
            <a:avLst/>
          </a:prstGeom>
        </p:spPr>
      </p:pic>
      <p:pic>
        <p:nvPicPr>
          <p:cNvPr id="1026" name="Picture 2" descr="https://vital.com.tn/wp-content/uploads/2022/10/TIDOLgel-de-massage-chauffa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49" y="2337393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00538" y="1163894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sz="1600" b="0" i="0" u="none" strike="noStrike" baseline="0" dirty="0" smtClean="0">
              <a:solidFill>
                <a:srgbClr val="000000"/>
              </a:solidFill>
              <a:latin typeface="Montserra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i="0" u="none" strike="noStrike" baseline="0" dirty="0" smtClean="0">
                <a:solidFill>
                  <a:srgbClr val="000000"/>
                </a:solidFill>
                <a:latin typeface="Montserrat" panose="020B0604020202020204" charset="0"/>
              </a:rPr>
              <a:t>Confort articulaire et musculaire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rgbClr val="000000"/>
                </a:solidFill>
                <a:latin typeface="Montserrat" panose="020B0604020202020204" charset="0"/>
              </a:rPr>
              <a:t>Idéal pour les sportifs avant l’entrainement pour préparation des muscles</a:t>
            </a:r>
            <a:r>
              <a:rPr lang="fr-FR" sz="1600" b="0" i="0" u="none" strike="noStrike" baseline="0" dirty="0" smtClean="0">
                <a:solidFill>
                  <a:srgbClr val="000000"/>
                </a:solidFill>
                <a:latin typeface="Montserrat" panose="020B0604020202020204" charset="0"/>
              </a:rPr>
              <a:t> </a:t>
            </a:r>
            <a:endParaRPr lang="fr-FR" sz="1600" dirty="0">
              <a:latin typeface="Montserrat" panose="020B060402020202020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815335" y="2682544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0" i="0" u="none" strike="noStrike" baseline="0" dirty="0" smtClean="0">
              <a:solidFill>
                <a:srgbClr val="000000"/>
              </a:solidFill>
              <a:latin typeface="Montserra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i="0" u="none" strike="noStrike" baseline="0" dirty="0" smtClean="0">
                <a:solidFill>
                  <a:srgbClr val="000000"/>
                </a:solidFill>
                <a:latin typeface="Montserrat" panose="020B0604020202020204" charset="0"/>
              </a:rPr>
              <a:t>Alcool 	6.3 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i="0" u="none" strike="noStrike" baseline="0" dirty="0" smtClean="0">
                <a:solidFill>
                  <a:srgbClr val="000000"/>
                </a:solidFill>
                <a:latin typeface="Montserrat" panose="020B0604020202020204" charset="0"/>
              </a:rPr>
              <a:t>Menthol 3.15 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0" i="0" u="none" strike="noStrike" baseline="0" dirty="0" smtClean="0">
                <a:solidFill>
                  <a:srgbClr val="000000"/>
                </a:solidFill>
                <a:latin typeface="Montserrat" panose="020B0604020202020204" charset="0"/>
              </a:rPr>
              <a:t>Huile essentielle de menthe (</a:t>
            </a:r>
            <a:r>
              <a:rPr lang="fr-FR" sz="1600" b="0" i="0" u="none" strike="noStrike" baseline="0" dirty="0" err="1" smtClean="0">
                <a:solidFill>
                  <a:srgbClr val="000000"/>
                </a:solidFill>
                <a:latin typeface="Montserrat" panose="020B0604020202020204" charset="0"/>
              </a:rPr>
              <a:t>Mentha</a:t>
            </a:r>
            <a:r>
              <a:rPr lang="fr-FR" sz="1600" b="0" i="0" u="none" strike="noStrike" baseline="0" dirty="0" smtClean="0">
                <a:solidFill>
                  <a:srgbClr val="000000"/>
                </a:solidFill>
                <a:latin typeface="Montserrat" panose="020B0604020202020204" charset="0"/>
              </a:rPr>
              <a:t> </a:t>
            </a:r>
            <a:r>
              <a:rPr lang="fr-FR" sz="1600" b="0" i="0" u="none" strike="noStrike" baseline="0" dirty="0" err="1" smtClean="0">
                <a:solidFill>
                  <a:srgbClr val="000000"/>
                </a:solidFill>
                <a:latin typeface="Montserrat" panose="020B0604020202020204" charset="0"/>
              </a:rPr>
              <a:t>piperita</a:t>
            </a:r>
            <a:r>
              <a:rPr lang="fr-FR" sz="1600" b="0" i="0" u="none" strike="noStrike" baseline="0" dirty="0" smtClean="0">
                <a:solidFill>
                  <a:srgbClr val="000000"/>
                </a:solidFill>
                <a:latin typeface="Montserrat" panose="020B0604020202020204" charset="0"/>
              </a:rPr>
              <a:t>) 	0.585 g </a:t>
            </a:r>
            <a:r>
              <a:rPr lang="fr-FR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	</a:t>
            </a:r>
            <a:endParaRPr lang="fr-FR" b="0" i="0" u="none" strike="noStrike" baseline="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675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>
            <a:spLocks noGrp="1"/>
          </p:cNvSpPr>
          <p:nvPr>
            <p:ph type="subTitle" idx="9"/>
          </p:nvPr>
        </p:nvSpPr>
        <p:spPr>
          <a:xfrm>
            <a:off x="5042941" y="755384"/>
            <a:ext cx="3715600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INDICATIONS</a:t>
            </a:r>
            <a:endParaRPr sz="2400" dirty="0"/>
          </a:p>
        </p:txBody>
      </p:sp>
      <p:sp>
        <p:nvSpPr>
          <p:cNvPr id="250" name="Google Shape;250;p27"/>
          <p:cNvSpPr txBox="1">
            <a:spLocks noGrp="1"/>
          </p:cNvSpPr>
          <p:nvPr>
            <p:ph type="subTitle" idx="13"/>
          </p:nvPr>
        </p:nvSpPr>
        <p:spPr>
          <a:xfrm>
            <a:off x="5400700" y="755383"/>
            <a:ext cx="5190455" cy="192017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fr-FR" sz="1600" dirty="0">
                <a:latin typeface="Montserrat" panose="020B0604020202020204" charset="0"/>
              </a:rPr>
              <a:t> </a:t>
            </a:r>
          </a:p>
          <a:p>
            <a:endParaRPr lang="fr-FR" sz="1600" dirty="0" smtClean="0">
              <a:latin typeface="Montserrat Medium" panose="00000600000000000000" pitchFamily="50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600" dirty="0" smtClean="0">
                <a:solidFill>
                  <a:schemeClr val="tx1"/>
                </a:solidFill>
                <a:latin typeface="Montserrat" panose="020B0604020202020204" charset="0"/>
              </a:rPr>
              <a:t>Confort </a:t>
            </a:r>
            <a:r>
              <a:rPr lang="fr-FR" sz="1600" dirty="0">
                <a:solidFill>
                  <a:schemeClr val="tx1"/>
                </a:solidFill>
                <a:latin typeface="Montserrat" panose="020B0604020202020204" charset="0"/>
              </a:rPr>
              <a:t>articulaire et </a:t>
            </a:r>
            <a:r>
              <a:rPr lang="fr-FR" sz="1600" dirty="0" err="1" smtClean="0">
                <a:solidFill>
                  <a:schemeClr val="tx1"/>
                </a:solidFill>
                <a:latin typeface="Montserrat" panose="020B0604020202020204" charset="0"/>
              </a:rPr>
              <a:t>musculairE</a:t>
            </a:r>
            <a:endParaRPr lang="fr-FR" sz="1600" dirty="0" smtClean="0">
              <a:solidFill>
                <a:schemeClr val="tx1"/>
              </a:solidFill>
              <a:latin typeface="Montserrat" panose="020B060402020202020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600" smtClean="0">
                <a:solidFill>
                  <a:schemeClr val="tx1"/>
                </a:solidFill>
                <a:latin typeface="Montserrat" panose="020B0604020202020204" charset="0"/>
              </a:rPr>
              <a:t>Idéal </a:t>
            </a:r>
            <a:r>
              <a:rPr lang="fr-FR" sz="1600" dirty="0" smtClean="0">
                <a:solidFill>
                  <a:schemeClr val="tx1"/>
                </a:solidFill>
                <a:latin typeface="Montserrat" panose="020B0604020202020204" charset="0"/>
              </a:rPr>
              <a:t>pour les sportifs après l’entrainement pour soulager les muscles avec un effet relaxant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4404619" y="2265956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Aft>
                <a:spcPts val="2133"/>
              </a:spcAft>
            </a:pPr>
            <a:r>
              <a:rPr lang="fr-FR" sz="2400" dirty="0"/>
              <a:t>COMPOSITION</a:t>
            </a:r>
          </a:p>
          <a:p>
            <a:pPr marL="0" indent="0" algn="l">
              <a:spcAft>
                <a:spcPts val="2133"/>
              </a:spcAft>
            </a:pPr>
            <a:r>
              <a:rPr lang="fr-FR" sz="1600" b="0" dirty="0"/>
              <a:t> </a:t>
            </a:r>
            <a:r>
              <a:rPr lang="fr-FR" sz="1600" b="0" dirty="0"/>
              <a:t>                          </a:t>
            </a:r>
            <a:endParaRPr sz="1600" b="0" dirty="0"/>
          </a:p>
        </p:txBody>
      </p:sp>
      <p:sp>
        <p:nvSpPr>
          <p:cNvPr id="21" name="ZoneTexte 20"/>
          <p:cNvSpPr txBox="1"/>
          <p:nvPr/>
        </p:nvSpPr>
        <p:spPr>
          <a:xfrm>
            <a:off x="-373039" y="755383"/>
            <a:ext cx="7606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400" kern="0" dirty="0" smtClean="0">
                <a:solidFill>
                  <a:srgbClr val="FFFFFF"/>
                </a:solidFill>
                <a:latin typeface="Montserrat" panose="020B0604020202020204" charset="0"/>
                <a:cs typeface="Arial"/>
                <a:sym typeface="Arial"/>
              </a:rPr>
              <a:t>TIDOL GEL DE MASSAGE RELAXANT</a:t>
            </a:r>
            <a:endParaRPr lang="fr-FR" sz="2400" kern="0" dirty="0">
              <a:solidFill>
                <a:srgbClr val="FFFFFF"/>
              </a:solidFill>
              <a:latin typeface="Montserrat" panose="020B0604020202020204" charset="0"/>
              <a:cs typeface="Arial"/>
              <a:sym typeface="Arial"/>
            </a:endParaRPr>
          </a:p>
        </p:txBody>
      </p:sp>
      <p:sp>
        <p:nvSpPr>
          <p:cNvPr id="17" name="Arrondir un rectangle avec un coin diagonal 16"/>
          <p:cNvSpPr/>
          <p:nvPr/>
        </p:nvSpPr>
        <p:spPr>
          <a:xfrm>
            <a:off x="4283517" y="4663953"/>
            <a:ext cx="812359" cy="450415"/>
          </a:xfrm>
          <a:prstGeom prst="round2DiagRect">
            <a:avLst/>
          </a:prstGeom>
          <a:solidFill>
            <a:srgbClr val="E1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lang="fr-FR" sz="1867" kern="0">
              <a:solidFill>
                <a:srgbClr val="FFFFFF"/>
              </a:solidFill>
              <a:sym typeface="Arial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198779" y="4678815"/>
            <a:ext cx="1501759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fr-FR" sz="2133" b="1" kern="0" dirty="0" smtClean="0">
                <a:solidFill>
                  <a:srgbClr val="FFFFFF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45 gr</a:t>
            </a:r>
            <a:endParaRPr lang="fr-FR" sz="2133" b="1" kern="0" dirty="0">
              <a:solidFill>
                <a:srgbClr val="FFFFFF"/>
              </a:solidFill>
              <a:latin typeface="Montserrat Medium" panose="00000600000000000000" pitchFamily="50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22" name="Google Shape;251;p27"/>
          <p:cNvSpPr txBox="1">
            <a:spLocks noGrp="1"/>
          </p:cNvSpPr>
          <p:nvPr>
            <p:ph type="subTitle" idx="14"/>
          </p:nvPr>
        </p:nvSpPr>
        <p:spPr>
          <a:xfrm>
            <a:off x="5785276" y="4826950"/>
            <a:ext cx="5233964" cy="476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spcAft>
                <a:spcPts val="2133"/>
              </a:spcAft>
            </a:pPr>
            <a:r>
              <a:rPr lang="fr-FR" sz="2400" dirty="0"/>
              <a:t>CONSEILS D'UTILISATION </a:t>
            </a:r>
            <a:endParaRPr sz="2400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414603"/>
              </p:ext>
            </p:extLst>
          </p:nvPr>
        </p:nvGraphicFramePr>
        <p:xfrm>
          <a:off x="5916821" y="5572336"/>
          <a:ext cx="4983120" cy="104564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45780"/>
                <a:gridCol w="3737340"/>
              </a:tblGrid>
              <a:tr h="255866">
                <a:tc>
                  <a:txBody>
                    <a:bodyPr/>
                    <a:lstStyle/>
                    <a:p>
                      <a:r>
                        <a:rPr lang="fr-FR" sz="1600" b="1" i="0" u="none" strike="noStrike" cap="all" baseline="0" dirty="0" smtClean="0">
                          <a:solidFill>
                            <a:schemeClr val="lt1"/>
                          </a:solidFill>
                          <a:effectLst/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âge</a:t>
                      </a:r>
                      <a:endParaRPr lang="fr-FR" sz="1600" cap="all" baseline="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UTILISATION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  <a:tr h="679884">
                <a:tc>
                  <a:txBody>
                    <a:bodyPr/>
                    <a:lstStyle/>
                    <a:p>
                      <a:r>
                        <a:rPr lang="fr-FR" sz="1600" dirty="0" smtClean="0">
                          <a:latin typeface="Montserrat" panose="020B0604020202020204" charset="0"/>
                        </a:rPr>
                        <a:t>Adulte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fr-FR" sz="16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Deux applications par jour, matin et soir, sur les zones </a:t>
                      </a:r>
                      <a:r>
                        <a:rPr lang="fr-FR" sz="1600" b="0" i="1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à problème</a:t>
                      </a:r>
                      <a:r>
                        <a:rPr lang="fr-FR" sz="1600" b="0" i="0" u="none" strike="noStrike" cap="none" baseline="0" dirty="0" smtClean="0">
                          <a:solidFill>
                            <a:schemeClr val="dk1"/>
                          </a:solidFill>
                          <a:latin typeface="Montserrat" panose="020B0604020202020204" charset="0"/>
                          <a:ea typeface="+mn-ea"/>
                          <a:cs typeface="+mn-cs"/>
                          <a:sym typeface="Arial"/>
                        </a:rPr>
                        <a:t>. </a:t>
                      </a:r>
                      <a:endParaRPr lang="fr-FR" sz="1600" dirty="0">
                        <a:latin typeface="Montserrat" panose="020B0604020202020204" charset="0"/>
                      </a:endParaRPr>
                    </a:p>
                  </a:txBody>
                  <a:tcPr marL="121920" marR="121920" marT="60960" marB="60960"/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3052" y="6067425"/>
            <a:ext cx="1018563" cy="642079"/>
          </a:xfrm>
          <a:prstGeom prst="rect">
            <a:avLst/>
          </a:prstGeom>
        </p:spPr>
      </p:pic>
      <p:pic>
        <p:nvPicPr>
          <p:cNvPr id="2050" name="Picture 2" descr="https://vital.com.tn/wp-content/uploads/2022/10/TIDOLgel-de-massage-relaxan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91" y="1910687"/>
            <a:ext cx="2857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725492" y="2384039"/>
            <a:ext cx="6096000" cy="215443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fr-FR" sz="3200" b="0" i="0" u="none" strike="noStrike" baseline="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Huile essentielle de Romarin (</a:t>
            </a:r>
            <a:r>
              <a:rPr lang="fr-FR" sz="1400" b="0" i="0" u="none" strike="noStrike" baseline="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Rosmarinus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fr-FR" sz="1400" b="0" i="0" u="none" strike="noStrike" baseline="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officinalis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) 1 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Huile essentielle de Lavande (</a:t>
            </a:r>
            <a:r>
              <a:rPr lang="fr-FR" sz="1400" b="0" i="0" u="none" strike="noStrike" baseline="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Lavandula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fr-FR" sz="1400" b="0" i="0" u="none" strike="noStrike" baseline="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officinalis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) 0.35 g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Huile essentielle de Menthe (</a:t>
            </a:r>
            <a:r>
              <a:rPr lang="fr-FR" sz="1400" b="0" i="0" u="none" strike="noStrike" baseline="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Mentha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fr-FR" sz="1400" b="0" i="0" u="none" strike="noStrike" baseline="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piperita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) 0.3 g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Huile essentielle de Cyprès (Cupressus </a:t>
            </a:r>
            <a:r>
              <a:rPr lang="fr-FR" sz="1400" b="0" i="0" u="none" strike="noStrike" baseline="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sempervirens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) 0.25 g Huile essentielle de Girofle (</a:t>
            </a:r>
            <a:r>
              <a:rPr lang="fr-FR" sz="1400" b="0" i="0" u="none" strike="noStrike" baseline="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Syzygium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fr-FR" sz="1400" b="0" i="0" u="none" strike="noStrike" baseline="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aromaticum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) 0.175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Huile essentielle d’Eucalyptus (Eucalyptus </a:t>
            </a:r>
            <a:r>
              <a:rPr lang="fr-FR" sz="1400" b="0" i="0" u="none" strike="noStrike" baseline="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globulus</a:t>
            </a:r>
            <a:r>
              <a:rPr lang="fr-FR" sz="1400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) 0.175 g </a:t>
            </a:r>
            <a:r>
              <a:rPr lang="fr-FR" b="0" i="0" u="none" strike="noStrike" baseline="0" dirty="0" smtClean="0">
                <a:solidFill>
                  <a:srgbClr val="000000"/>
                </a:solidFill>
                <a:latin typeface="Verdana" panose="020B0604030504040204" pitchFamily="34" charset="0"/>
              </a:rPr>
              <a:t>	</a:t>
            </a:r>
            <a:endParaRPr lang="fr-FR" b="0" i="0" u="none" strike="noStrike" baseline="0" dirty="0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98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Minimalist SEO Strategy by Slidesgo">
  <a:themeElements>
    <a:clrScheme name="Simple Light">
      <a:dk1>
        <a:srgbClr val="35535B"/>
      </a:dk1>
      <a:lt1>
        <a:srgbClr val="FFFFFF"/>
      </a:lt1>
      <a:dk2>
        <a:srgbClr val="666666"/>
      </a:dk2>
      <a:lt2>
        <a:srgbClr val="FFFFFF"/>
      </a:lt2>
      <a:accent1>
        <a:srgbClr val="E14D4D"/>
      </a:accent1>
      <a:accent2>
        <a:srgbClr val="35535B"/>
      </a:accent2>
      <a:accent3>
        <a:srgbClr val="8ED9DC"/>
      </a:accent3>
      <a:accent4>
        <a:srgbClr val="999999"/>
      </a:accent4>
      <a:accent5>
        <a:srgbClr val="35535B"/>
      </a:accent5>
      <a:accent6>
        <a:srgbClr val="E14D4D"/>
      </a:accent6>
      <a:hlink>
        <a:srgbClr val="99999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103</Words>
  <Application>Microsoft Office PowerPoint</Application>
  <PresentationFormat>Grand écran</PresentationFormat>
  <Paragraphs>38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</vt:i4>
      </vt:variant>
    </vt:vector>
  </HeadingPairs>
  <TitlesOfParts>
    <vt:vector size="13" baseType="lpstr">
      <vt:lpstr>Arial</vt:lpstr>
      <vt:lpstr>Calibri</vt:lpstr>
      <vt:lpstr>Montserrat</vt:lpstr>
      <vt:lpstr>Montserrat Medium</vt:lpstr>
      <vt:lpstr>Oswald Medium</vt:lpstr>
      <vt:lpstr>Poppins</vt:lpstr>
      <vt:lpstr>Raleway</vt:lpstr>
      <vt:lpstr>Verdana</vt:lpstr>
      <vt:lpstr>Minimalist SEO Strategy by Slidesgo</vt:lpstr>
      <vt:lpstr>1_Minimalist SEO Strategy by Slidesgo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</dc:creator>
  <cp:lastModifiedBy>a</cp:lastModifiedBy>
  <cp:revision>3</cp:revision>
  <dcterms:created xsi:type="dcterms:W3CDTF">2026-03-10T10:36:01Z</dcterms:created>
  <dcterms:modified xsi:type="dcterms:W3CDTF">2026-03-10T10:46:11Z</dcterms:modified>
</cp:coreProperties>
</file>