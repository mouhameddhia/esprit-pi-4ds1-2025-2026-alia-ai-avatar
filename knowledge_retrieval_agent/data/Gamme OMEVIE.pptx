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9"/>
  </p:notesMasterIdLst>
  <p:sldIdLst>
    <p:sldId id="307" r:id="rId2"/>
    <p:sldId id="411" r:id="rId3"/>
    <p:sldId id="424" r:id="rId4"/>
    <p:sldId id="425" r:id="rId5"/>
    <p:sldId id="426" r:id="rId6"/>
    <p:sldId id="427" r:id="rId7"/>
    <p:sldId id="428" r:id="rId8"/>
  </p:sldIdLst>
  <p:sldSz cx="9144000" cy="5143500" type="screen16x9"/>
  <p:notesSz cx="6858000" cy="9144000"/>
  <p:embeddedFontLst>
    <p:embeddedFont>
      <p:font typeface="Poppins" panose="020B0604020202020204" charset="0"/>
      <p:regular r:id="rId10"/>
      <p:bold r:id="rId11"/>
      <p:italic r:id="rId12"/>
      <p:boldItalic r:id="rId13"/>
    </p:embeddedFont>
    <p:embeddedFont>
      <p:font typeface="Montserrat" panose="020B0604020202020204" charset="0"/>
      <p:regular r:id="rId14"/>
      <p:bold r:id="rId15"/>
      <p:italic r:id="rId16"/>
      <p:boldItalic r:id="rId17"/>
    </p:embeddedFont>
    <p:embeddedFont>
      <p:font typeface="Oswald Medium" panose="020B0604020202020204" charset="0"/>
      <p:regular r:id="rId18"/>
      <p:bold r:id="rId19"/>
    </p:embeddedFont>
    <p:embeddedFont>
      <p:font typeface="Raleway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54" userDrawn="1">
          <p15:clr>
            <a:srgbClr val="9AA0A6"/>
          </p15:clr>
        </p15:guide>
        <p15:guide id="2" orient="horz" pos="2719">
          <p15:clr>
            <a:srgbClr val="9AA0A6"/>
          </p15:clr>
        </p15:guide>
        <p15:guide id="3" pos="27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5535B"/>
    <a:srgbClr val="E14D4D"/>
    <a:srgbClr val="6D6D6D"/>
    <a:srgbClr val="1E75BA"/>
    <a:srgbClr val="FCD232"/>
    <a:srgbClr val="F7BC3B"/>
    <a:srgbClr val="B71818"/>
    <a:srgbClr val="868786"/>
    <a:srgbClr val="54A3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011C431-235F-4305-BE99-AC0004E7AA60}">
  <a:tblStyle styleId="{1011C431-235F-4305-BE99-AC0004E7AA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91" d="100"/>
          <a:sy n="91" d="100"/>
        </p:scale>
        <p:origin x="684" y="108"/>
      </p:cViewPr>
      <p:guideLst>
        <p:guide orient="horz" pos="554"/>
        <p:guide orient="horz" pos="2719"/>
        <p:guide pos="276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4160329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ac1b75c0d8_3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ac1b75c0d8_3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75779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43416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12794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45556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99624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52376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72008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dk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4681300" y="2325538"/>
            <a:ext cx="3503400" cy="6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ubTitle" idx="1"/>
          </p:nvPr>
        </p:nvSpPr>
        <p:spPr>
          <a:xfrm>
            <a:off x="4681300" y="2819280"/>
            <a:ext cx="2818800" cy="84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5" name="Google Shape;55;p7"/>
          <p:cNvGrpSpPr/>
          <p:nvPr/>
        </p:nvGrpSpPr>
        <p:grpSpPr>
          <a:xfrm flipH="1">
            <a:off x="540000" y="2447350"/>
            <a:ext cx="1063850" cy="3239750"/>
            <a:chOff x="146675" y="378750"/>
            <a:chExt cx="1063850" cy="3239750"/>
          </a:xfrm>
        </p:grpSpPr>
        <p:sp>
          <p:nvSpPr>
            <p:cNvPr id="56" name="Google Shape;56;p7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7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7"/>
            <p:cNvSpPr/>
            <p:nvPr/>
          </p:nvSpPr>
          <p:spPr>
            <a:xfrm>
              <a:off x="146675" y="37875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>
            <a:off x="763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subTitle" idx="1"/>
          </p:nvPr>
        </p:nvSpPr>
        <p:spPr>
          <a:xfrm>
            <a:off x="763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73" name="Google Shape;73;p9"/>
          <p:cNvGrpSpPr/>
          <p:nvPr/>
        </p:nvGrpSpPr>
        <p:grpSpPr>
          <a:xfrm rot="5400000">
            <a:off x="7440475" y="2721975"/>
            <a:ext cx="1063850" cy="3239750"/>
            <a:chOff x="146675" y="378750"/>
            <a:chExt cx="1063850" cy="3239750"/>
          </a:xfrm>
        </p:grpSpPr>
        <p:sp>
          <p:nvSpPr>
            <p:cNvPr id="74" name="Google Shape;74;p9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9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9"/>
            <p:cNvSpPr/>
            <p:nvPr/>
          </p:nvSpPr>
          <p:spPr>
            <a:xfrm>
              <a:off x="146675" y="37875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/>
          <p:nvPr/>
        </p:nvSpPr>
        <p:spPr>
          <a:xfrm rot="5400000">
            <a:off x="1618500" y="-1514725"/>
            <a:ext cx="473400" cy="4492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title"/>
          </p:nvPr>
        </p:nvSpPr>
        <p:spPr>
          <a:xfrm>
            <a:off x="540000" y="445025"/>
            <a:ext cx="3532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1"/>
          </p:nvPr>
        </p:nvSpPr>
        <p:spPr>
          <a:xfrm>
            <a:off x="3178650" y="1923050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2"/>
          </p:nvPr>
        </p:nvSpPr>
        <p:spPr>
          <a:xfrm>
            <a:off x="3394025" y="2280050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3"/>
          </p:nvPr>
        </p:nvSpPr>
        <p:spPr>
          <a:xfrm>
            <a:off x="313700" y="1923050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4"/>
          </p:nvPr>
        </p:nvSpPr>
        <p:spPr>
          <a:xfrm>
            <a:off x="529150" y="2280050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subTitle" idx="5"/>
          </p:nvPr>
        </p:nvSpPr>
        <p:spPr>
          <a:xfrm>
            <a:off x="3178575" y="3627875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subTitle" idx="6"/>
          </p:nvPr>
        </p:nvSpPr>
        <p:spPr>
          <a:xfrm>
            <a:off x="3394025" y="3984875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subTitle" idx="7"/>
          </p:nvPr>
        </p:nvSpPr>
        <p:spPr>
          <a:xfrm>
            <a:off x="313700" y="3627875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subTitle" idx="8"/>
          </p:nvPr>
        </p:nvSpPr>
        <p:spPr>
          <a:xfrm>
            <a:off x="529100" y="3984900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9"/>
          </p:nvPr>
        </p:nvSpPr>
        <p:spPr>
          <a:xfrm>
            <a:off x="6043550" y="1923050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ubTitle" idx="13"/>
          </p:nvPr>
        </p:nvSpPr>
        <p:spPr>
          <a:xfrm>
            <a:off x="6258875" y="2280050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subTitle" idx="14"/>
          </p:nvPr>
        </p:nvSpPr>
        <p:spPr>
          <a:xfrm>
            <a:off x="6043550" y="3627875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15"/>
          </p:nvPr>
        </p:nvSpPr>
        <p:spPr>
          <a:xfrm>
            <a:off x="6258875" y="3984875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title" idx="16" hasCustomPrompt="1"/>
          </p:nvPr>
        </p:nvSpPr>
        <p:spPr>
          <a:xfrm>
            <a:off x="1207300" y="12715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>
            <a:spLocks noGrp="1"/>
          </p:cNvSpPr>
          <p:nvPr>
            <p:ph type="title" idx="17" hasCustomPrompt="1"/>
          </p:nvPr>
        </p:nvSpPr>
        <p:spPr>
          <a:xfrm>
            <a:off x="1207300" y="29764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3" name="Google Shape;113;p13"/>
          <p:cNvSpPr txBox="1">
            <a:spLocks noGrp="1"/>
          </p:cNvSpPr>
          <p:nvPr>
            <p:ph type="title" idx="18" hasCustomPrompt="1"/>
          </p:nvPr>
        </p:nvSpPr>
        <p:spPr>
          <a:xfrm>
            <a:off x="4072138" y="12715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4" name="Google Shape;114;p13"/>
          <p:cNvSpPr txBox="1">
            <a:spLocks noGrp="1"/>
          </p:cNvSpPr>
          <p:nvPr>
            <p:ph type="title" idx="19" hasCustomPrompt="1"/>
          </p:nvPr>
        </p:nvSpPr>
        <p:spPr>
          <a:xfrm>
            <a:off x="4072200" y="29764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5" name="Google Shape;115;p13"/>
          <p:cNvSpPr txBox="1">
            <a:spLocks noGrp="1"/>
          </p:cNvSpPr>
          <p:nvPr>
            <p:ph type="title" idx="20" hasCustomPrompt="1"/>
          </p:nvPr>
        </p:nvSpPr>
        <p:spPr>
          <a:xfrm>
            <a:off x="6937025" y="12715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6" name="Google Shape;116;p13"/>
          <p:cNvSpPr txBox="1">
            <a:spLocks noGrp="1"/>
          </p:cNvSpPr>
          <p:nvPr>
            <p:ph type="title" idx="21" hasCustomPrompt="1"/>
          </p:nvPr>
        </p:nvSpPr>
        <p:spPr>
          <a:xfrm>
            <a:off x="6937025" y="29764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grpSp>
        <p:nvGrpSpPr>
          <p:cNvPr id="117" name="Google Shape;117;p13"/>
          <p:cNvGrpSpPr/>
          <p:nvPr/>
        </p:nvGrpSpPr>
        <p:grpSpPr>
          <a:xfrm flipH="1">
            <a:off x="8159719" y="-1297776"/>
            <a:ext cx="670525" cy="2644575"/>
            <a:chOff x="540000" y="973925"/>
            <a:chExt cx="670525" cy="2644575"/>
          </a:xfrm>
        </p:grpSpPr>
        <p:sp>
          <p:nvSpPr>
            <p:cNvPr id="118" name="Google Shape;118;p13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40000" y="435900"/>
            <a:ext cx="806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40000" y="1152475"/>
            <a:ext cx="806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5" r:id="rId2"/>
    <p:sldLayoutId id="2147483658" r:id="rId3"/>
    <p:sldLayoutId id="2147483659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0">
          <p15:clr>
            <a:srgbClr val="EA4335"/>
          </p15:clr>
        </p15:guide>
        <p15:guide id="2" orient="horz" pos="2900">
          <p15:clr>
            <a:srgbClr val="EA4335"/>
          </p15:clr>
        </p15:guide>
        <p15:guide id="3" pos="340">
          <p15:clr>
            <a:srgbClr val="EA4335"/>
          </p15:clr>
        </p15:guide>
        <p15:guide id="4" pos="542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alphaModFix amt="51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28;p25"/>
          <p:cNvSpPr txBox="1">
            <a:spLocks/>
          </p:cNvSpPr>
          <p:nvPr/>
        </p:nvSpPr>
        <p:spPr>
          <a:xfrm>
            <a:off x="1784421" y="333829"/>
            <a:ext cx="6037985" cy="1047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"/>
              <a:buNone/>
              <a:defRPr sz="3600" b="1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4800" cap="all" dirty="0" smtClean="0">
                <a:solidFill>
                  <a:srgbClr val="E14D4D"/>
                </a:solidFill>
              </a:rPr>
              <a:t/>
            </a:r>
            <a:br>
              <a:rPr lang="fr-FR" sz="4800" cap="all" dirty="0" smtClean="0">
                <a:solidFill>
                  <a:srgbClr val="E14D4D"/>
                </a:solidFill>
              </a:rPr>
            </a:br>
            <a:r>
              <a:rPr lang="fr-FR" sz="5400" cap="all" dirty="0" smtClean="0">
                <a:solidFill>
                  <a:srgbClr val="E14D4D"/>
                </a:solidFill>
              </a:rPr>
              <a:t>OMEVIE </a:t>
            </a:r>
            <a:endParaRPr lang="fr-FR" sz="5400" cap="all" dirty="0">
              <a:solidFill>
                <a:srgbClr val="E14D4D"/>
              </a:solidFill>
            </a:endParaRPr>
          </a:p>
        </p:txBody>
      </p:sp>
      <p:sp>
        <p:nvSpPr>
          <p:cNvPr id="7" name="Google Shape;810;p35"/>
          <p:cNvSpPr/>
          <p:nvPr/>
        </p:nvSpPr>
        <p:spPr>
          <a:xfrm>
            <a:off x="392795" y="333829"/>
            <a:ext cx="1303749" cy="1055361"/>
          </a:xfrm>
          <a:prstGeom prst="homePlate">
            <a:avLst>
              <a:gd name="adj" fmla="val 31917"/>
            </a:avLst>
          </a:prstGeom>
          <a:solidFill>
            <a:srgbClr val="E14D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E14D4D"/>
              </a:solidFill>
            </a:endParaRPr>
          </a:p>
        </p:txBody>
      </p:sp>
      <p:sp>
        <p:nvSpPr>
          <p:cNvPr id="8" name="Google Shape;820;p35"/>
          <p:cNvSpPr txBox="1">
            <a:spLocks/>
          </p:cNvSpPr>
          <p:nvPr/>
        </p:nvSpPr>
        <p:spPr>
          <a:xfrm>
            <a:off x="640080" y="573509"/>
            <a:ext cx="5760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" sz="2400" dirty="0">
              <a:solidFill>
                <a:schemeClr val="bg1"/>
              </a:solidFill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5230" y="-159657"/>
            <a:ext cx="2039257" cy="2039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965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64" y="1375448"/>
            <a:ext cx="3755913" cy="3755913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849330" y="413171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INDICATIONS</a:t>
            </a:r>
            <a:endParaRPr sz="1800" dirty="0">
              <a:latin typeface="Montserrat" panose="020B0604020202020204" charset="0"/>
            </a:endParaRPr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112230" y="659380"/>
            <a:ext cx="4674417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11150" indent="-171450" algn="l">
              <a:buFont typeface="Arial" panose="020B0604020202020204" pitchFamily="34" charset="0"/>
              <a:buChar char="•"/>
            </a:pPr>
            <a:endParaRPr lang="fr-FR" sz="1200" dirty="0" smtClean="0">
              <a:latin typeface="Montserrat" panose="020B0604020202020204" charset="0"/>
            </a:endParaRPr>
          </a:p>
          <a:p>
            <a:pPr marL="31115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Réduit </a:t>
            </a:r>
            <a:r>
              <a:rPr lang="fr-FR" sz="1200" dirty="0">
                <a:latin typeface="Montserrat" panose="020B0604020202020204" charset="0"/>
              </a:rPr>
              <a:t>le risque de troubles de mémoire et de concentration</a:t>
            </a:r>
          </a:p>
          <a:p>
            <a:pPr marL="31115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Améliore </a:t>
            </a:r>
            <a:r>
              <a:rPr lang="fr-FR" sz="1200" dirty="0">
                <a:latin typeface="Montserrat" panose="020B0604020202020204" charset="0"/>
              </a:rPr>
              <a:t> la fonction </a:t>
            </a:r>
            <a:r>
              <a:rPr lang="fr-FR" sz="1200" dirty="0" err="1">
                <a:latin typeface="Montserrat" panose="020B0604020202020204" charset="0"/>
              </a:rPr>
              <a:t>congnétive</a:t>
            </a:r>
            <a:r>
              <a:rPr lang="fr-FR" sz="1200" dirty="0">
                <a:latin typeface="Montserrat" panose="020B0604020202020204" charset="0"/>
              </a:rPr>
              <a:t> et le </a:t>
            </a:r>
            <a:r>
              <a:rPr lang="fr-FR" sz="1200" dirty="0" err="1">
                <a:latin typeface="Montserrat" panose="020B0604020202020204" charset="0"/>
              </a:rPr>
              <a:t>dévéloppement</a:t>
            </a:r>
            <a:r>
              <a:rPr lang="fr-FR" sz="1200" dirty="0">
                <a:latin typeface="Montserrat" panose="020B0604020202020204" charset="0"/>
              </a:rPr>
              <a:t> cérébral</a:t>
            </a:r>
          </a:p>
          <a:p>
            <a:pPr marL="31115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Assure </a:t>
            </a:r>
            <a:r>
              <a:rPr lang="fr-FR" sz="1200" dirty="0">
                <a:latin typeface="Montserrat" panose="020B0604020202020204" charset="0"/>
              </a:rPr>
              <a:t>une Prévention cardiovasculaire primaire et secondaire</a:t>
            </a:r>
          </a:p>
          <a:p>
            <a:pPr marL="311150" indent="-171450" algn="l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I</a:t>
            </a:r>
            <a:r>
              <a:rPr lang="fr-FR" sz="1200" dirty="0" smtClean="0">
                <a:latin typeface="Montserrat" panose="020B0604020202020204" charset="0"/>
              </a:rPr>
              <a:t>ndiqué </a:t>
            </a:r>
            <a:r>
              <a:rPr lang="fr-FR" sz="1200" dirty="0">
                <a:latin typeface="Montserrat" panose="020B0604020202020204" charset="0"/>
              </a:rPr>
              <a:t>en cas de dyslipidémies</a:t>
            </a:r>
          </a:p>
          <a:p>
            <a:pPr marL="31115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Réduit </a:t>
            </a:r>
            <a:r>
              <a:rPr lang="fr-FR" sz="1200" dirty="0">
                <a:latin typeface="Montserrat" panose="020B0604020202020204" charset="0"/>
              </a:rPr>
              <a:t>l’intensité et la fréquence  des inflammations chroniques</a:t>
            </a:r>
          </a:p>
          <a:p>
            <a:pPr marL="31115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Maintient </a:t>
            </a:r>
            <a:r>
              <a:rPr lang="fr-FR" sz="1200" dirty="0">
                <a:latin typeface="Montserrat" panose="020B0604020202020204" charset="0"/>
              </a:rPr>
              <a:t>une bonne vision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endParaRPr lang="fr-FR"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185581" y="2766739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COMPOSITION PAR CAPSULE </a:t>
            </a:r>
            <a:endParaRPr sz="1800" dirty="0">
              <a:latin typeface="Montserrat" panose="020B0604020202020204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4377042" y="3262020"/>
            <a:ext cx="38103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1000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d'Oméga 3 (36 % EPA, 24% DHA)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12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E</a:t>
            </a: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367144" y="3711008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POSOLOGIE</a:t>
            </a:r>
            <a:endParaRPr sz="1800" dirty="0">
              <a:latin typeface="Montserrat" panose="020B0604020202020204" charset="0"/>
            </a:endParaRPr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6796054"/>
              </p:ext>
            </p:extLst>
          </p:nvPr>
        </p:nvGraphicFramePr>
        <p:xfrm>
          <a:off x="4346083" y="4199086"/>
          <a:ext cx="3737340" cy="73249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934335"/>
                <a:gridCol w="934335"/>
                <a:gridCol w="93433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 Medium" panose="00000600000000000000" pitchFamily="50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 Medium" panose="00000600000000000000" pitchFamily="50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 Medium" panose="00000600000000000000" pitchFamily="50" charset="0"/>
                        </a:rPr>
                        <a:t>MATIN</a:t>
                      </a:r>
                      <a:endParaRPr lang="fr-FR" sz="1200" dirty="0">
                        <a:latin typeface="Montserrat Medium" panose="00000600000000000000" pitchFamily="50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 Medium" panose="00000600000000000000" pitchFamily="50" charset="0"/>
                        </a:rPr>
                        <a:t>MIDI</a:t>
                      </a:r>
                      <a:endParaRPr lang="fr-FR" sz="1200" dirty="0">
                        <a:latin typeface="Montserrat Medium" panose="00000600000000000000" pitchFamily="50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 Medium" panose="00000600000000000000" pitchFamily="50" charset="0"/>
                        </a:rPr>
                        <a:t>SOIR</a:t>
                      </a:r>
                      <a:endParaRPr lang="fr-FR" sz="1200" dirty="0">
                        <a:latin typeface="Montserrat Medium" panose="00000600000000000000" pitchFamily="50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 Medium" panose="00000600000000000000" pitchFamily="50" charset="0"/>
                        </a:rPr>
                        <a:t>Adulte</a:t>
                      </a:r>
                      <a:endParaRPr lang="fr-FR" sz="1200" dirty="0">
                        <a:latin typeface="Montserrat Medium" panose="00000600000000000000" pitchFamily="50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 Medium" panose="00000600000000000000" pitchFamily="50" charset="0"/>
                        </a:rPr>
                        <a:t>1 capsule </a:t>
                      </a:r>
                      <a:endParaRPr lang="fr-FR" sz="1200" dirty="0">
                        <a:latin typeface="Montserrat Medium" panose="00000600000000000000" pitchFamily="50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 smtClean="0">
                          <a:latin typeface="Montserrat Medium" panose="00000600000000000000" pitchFamily="50" charset="0"/>
                        </a:rPr>
                        <a:t>-</a:t>
                      </a:r>
                      <a:endParaRPr lang="fr-FR" sz="1000" dirty="0">
                        <a:latin typeface="Montserrat Medium" panose="00000600000000000000" pitchFamily="50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 smtClean="0">
                          <a:latin typeface="Montserrat Medium" panose="00000600000000000000" pitchFamily="50" charset="0"/>
                        </a:rPr>
                        <a:t>-</a:t>
                      </a:r>
                      <a:endParaRPr lang="fr-FR" sz="1000" dirty="0">
                        <a:latin typeface="Montserrat Medium" panose="00000600000000000000" pitchFamily="50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ZoneTexte 13"/>
          <p:cNvSpPr txBox="1"/>
          <p:nvPr/>
        </p:nvSpPr>
        <p:spPr>
          <a:xfrm>
            <a:off x="3257814" y="3316558"/>
            <a:ext cx="529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 smtClean="0">
                <a:solidFill>
                  <a:srgbClr val="35535B"/>
                </a:solidFill>
                <a:latin typeface="Montserrat" panose="020B0604020202020204" charset="0"/>
                <a:cs typeface="Poppins" panose="00000500000000000000" pitchFamily="2" charset="0"/>
              </a:rPr>
              <a:t>30</a:t>
            </a:r>
            <a:endParaRPr lang="fr-FR" sz="1800" b="1" dirty="0">
              <a:solidFill>
                <a:srgbClr val="35535B"/>
              </a:solidFill>
              <a:latin typeface="Montserrat" panose="020B0604020202020204" charset="0"/>
              <a:cs typeface="Poppins" panose="00000500000000000000" pitchFamily="2" charset="0"/>
            </a:endParaRPr>
          </a:p>
        </p:txBody>
      </p:sp>
      <p:sp>
        <p:nvSpPr>
          <p:cNvPr id="20" name="Arrondir un rectangle avec un coin diagonal 19"/>
          <p:cNvSpPr/>
          <p:nvPr/>
        </p:nvSpPr>
        <p:spPr>
          <a:xfrm>
            <a:off x="3057916" y="3044004"/>
            <a:ext cx="945177" cy="244981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>
              <a:latin typeface="Montserrat" panose="020B0604020202020204" charset="0"/>
            </a:endParaRPr>
          </a:p>
        </p:txBody>
      </p:sp>
      <p:sp>
        <p:nvSpPr>
          <p:cNvPr id="22" name="ZoneTexte 21"/>
          <p:cNvSpPr txBox="1"/>
          <p:nvPr/>
        </p:nvSpPr>
        <p:spPr>
          <a:xfrm>
            <a:off x="3056337" y="3027994"/>
            <a:ext cx="963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chemeClr val="bg1"/>
                </a:solidFill>
                <a:latin typeface="Montserrat" panose="020B0604020202020204" charset="0"/>
              </a:rPr>
              <a:t> </a:t>
            </a:r>
            <a:r>
              <a:rPr lang="fr-FR" sz="1200" b="1" dirty="0" smtClean="0">
                <a:solidFill>
                  <a:schemeClr val="bg1"/>
                </a:solidFill>
                <a:latin typeface="Montserrat" panose="020B0604020202020204" charset="0"/>
              </a:rPr>
              <a:t>Capsule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191494" y="474726"/>
            <a:ext cx="4107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anose="020B0604020202020204" charset="0"/>
              </a:rPr>
              <a:t>OMEVIE OMEGA 3 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2200" y="4642423"/>
            <a:ext cx="1266058" cy="392221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126" y="2783700"/>
            <a:ext cx="2014538" cy="2014538"/>
          </a:xfrm>
          <a:prstGeom prst="rect">
            <a:avLst/>
          </a:prstGeom>
        </p:spPr>
      </p:pic>
      <p:sp>
        <p:nvSpPr>
          <p:cNvPr id="23" name="Arrondir un rectangle avec un coin diagonal 22"/>
          <p:cNvSpPr/>
          <p:nvPr/>
        </p:nvSpPr>
        <p:spPr>
          <a:xfrm>
            <a:off x="3057916" y="1781849"/>
            <a:ext cx="945177" cy="244981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>
              <a:latin typeface="Montserrat" panose="020B0604020202020204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3031915" y="1750450"/>
            <a:ext cx="10803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chemeClr val="bg1"/>
                </a:solidFill>
                <a:latin typeface="Montserrat" panose="020B0604020202020204" charset="0"/>
              </a:rPr>
              <a:t>1000</a:t>
            </a:r>
            <a:r>
              <a:rPr lang="fr-FR" sz="1200" dirty="0">
                <a:solidFill>
                  <a:schemeClr val="bg1"/>
                </a:solidFill>
                <a:latin typeface="Montserrat" panose="020B0604020202020204" charset="0"/>
              </a:rPr>
              <a:t> </a:t>
            </a:r>
            <a:r>
              <a:rPr lang="fr-FR" sz="1200" b="1" dirty="0">
                <a:solidFill>
                  <a:schemeClr val="bg1"/>
                </a:solidFill>
                <a:latin typeface="Montserrat" panose="020B0604020202020204" charset="0"/>
              </a:rPr>
              <a:t>MG </a:t>
            </a:r>
          </a:p>
        </p:txBody>
      </p:sp>
    </p:spTree>
    <p:extLst>
      <p:ext uri="{BB962C8B-B14F-4D97-AF65-F5344CB8AC3E}">
        <p14:creationId xmlns:p14="http://schemas.microsoft.com/office/powerpoint/2010/main" val="3760125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2910" y="1187006"/>
            <a:ext cx="3931444" cy="3931444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76961" y="412832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INDICATIONS</a:t>
            </a:r>
            <a:endParaRPr sz="1800" dirty="0">
              <a:latin typeface="Montserrat" panose="020B0604020202020204" charset="0"/>
            </a:endParaRPr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2316" y="831726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11150" indent="-171450" algn="l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Réduit le risque de troubles de mémoire et de concentration</a:t>
            </a:r>
          </a:p>
          <a:p>
            <a:pPr marL="311150" indent="-171450" algn="l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Améliore  la fonction </a:t>
            </a:r>
            <a:r>
              <a:rPr lang="fr-FR" sz="1200" dirty="0" err="1">
                <a:latin typeface="Montserrat" panose="020B0604020202020204" charset="0"/>
              </a:rPr>
              <a:t>congnétive</a:t>
            </a:r>
            <a:r>
              <a:rPr lang="fr-FR" sz="1200" dirty="0">
                <a:latin typeface="Montserrat" panose="020B0604020202020204" charset="0"/>
              </a:rPr>
              <a:t> et le </a:t>
            </a:r>
            <a:r>
              <a:rPr lang="fr-FR" sz="1200" dirty="0" err="1">
                <a:latin typeface="Montserrat" panose="020B0604020202020204" charset="0"/>
              </a:rPr>
              <a:t>dévéloppement</a:t>
            </a:r>
            <a:r>
              <a:rPr lang="fr-FR" sz="1200" dirty="0">
                <a:latin typeface="Montserrat" panose="020B0604020202020204" charset="0"/>
              </a:rPr>
              <a:t> cérébral</a:t>
            </a:r>
          </a:p>
          <a:p>
            <a:pPr marL="311150" indent="-171450" algn="l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Assure une Prévention cardiovasculaire primaire et secondaire</a:t>
            </a:r>
          </a:p>
          <a:p>
            <a:pPr marL="311150" indent="-171450" algn="l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Indiqué en cas de dyslipidémies</a:t>
            </a:r>
          </a:p>
          <a:p>
            <a:pPr marL="311150" indent="-171450" algn="l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Réduit l’intensité et la fréquence  des inflammations chroniques</a:t>
            </a:r>
          </a:p>
          <a:p>
            <a:pPr marL="311150" indent="-171450" algn="l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Maintient une bonne vision</a:t>
            </a:r>
          </a:p>
          <a:p>
            <a:pPr marL="0" lvl="0" indent="0" algn="l"/>
            <a:endParaRPr lang="fr-FR"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154748" y="2750693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COMPOSITION PAR CAPSULE </a:t>
            </a:r>
            <a:endParaRPr sz="1800" dirty="0">
              <a:latin typeface="Montserrat" panose="020B0604020202020204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4212316" y="3132302"/>
            <a:ext cx="38103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500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d'Oméga 3 (36 % EPA, 24% DHA)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12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E</a:t>
            </a: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98044" y="3627420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>
                <a:latin typeface="Montserrat" panose="020B0604020202020204" charset="0"/>
              </a:rPr>
              <a:t>POSOLOGIE</a:t>
            </a:r>
            <a:endParaRPr sz="1800" dirty="0">
              <a:latin typeface="Montserrat" panose="020B0604020202020204" charset="0"/>
            </a:endParaRPr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9731694"/>
              </p:ext>
            </p:extLst>
          </p:nvPr>
        </p:nvGraphicFramePr>
        <p:xfrm>
          <a:off x="4286004" y="4175550"/>
          <a:ext cx="3737340" cy="55048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934335"/>
                <a:gridCol w="934335"/>
                <a:gridCol w="93433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MATIN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MIDI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SOIR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05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 smtClean="0">
                          <a:latin typeface="Montserrat" panose="020B0604020202020204" charset="0"/>
                        </a:rPr>
                        <a:t>1 capsule 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 smtClean="0">
                          <a:latin typeface="Montserrat" panose="020B0604020202020204" charset="0"/>
                        </a:rPr>
                        <a:t>-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 smtClean="0">
                          <a:latin typeface="Montserrat" panose="020B0604020202020204" charset="0"/>
                        </a:rPr>
                        <a:t>-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ZoneTexte 13"/>
          <p:cNvSpPr txBox="1"/>
          <p:nvPr/>
        </p:nvSpPr>
        <p:spPr>
          <a:xfrm>
            <a:off x="3297131" y="3349339"/>
            <a:ext cx="5291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>
                <a:solidFill>
                  <a:srgbClr val="35535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30</a:t>
            </a:r>
            <a:endParaRPr lang="fr-FR" sz="1800" b="1" dirty="0">
              <a:solidFill>
                <a:srgbClr val="35535B"/>
              </a:solidFill>
              <a:latin typeface="Montserrat Medium" panose="00000600000000000000" pitchFamily="50" charset="0"/>
              <a:cs typeface="Poppins" panose="00000500000000000000" pitchFamily="2" charset="0"/>
            </a:endParaRPr>
          </a:p>
        </p:txBody>
      </p:sp>
      <p:sp>
        <p:nvSpPr>
          <p:cNvPr id="20" name="Arrondir un rectangle avec un coin diagonal 19"/>
          <p:cNvSpPr/>
          <p:nvPr/>
        </p:nvSpPr>
        <p:spPr>
          <a:xfrm>
            <a:off x="3057916" y="3016470"/>
            <a:ext cx="1038838" cy="272516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>
              <a:latin typeface="Montserrat" panose="020B0604020202020204" charset="0"/>
            </a:endParaRPr>
          </a:p>
        </p:txBody>
      </p:sp>
      <p:sp>
        <p:nvSpPr>
          <p:cNvPr id="22" name="ZoneTexte 21"/>
          <p:cNvSpPr txBox="1"/>
          <p:nvPr/>
        </p:nvSpPr>
        <p:spPr>
          <a:xfrm>
            <a:off x="3057915" y="2987023"/>
            <a:ext cx="11254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chemeClr val="bg1"/>
                </a:solidFill>
                <a:latin typeface="Montserrat" panose="020B0604020202020204" charset="0"/>
              </a:rPr>
              <a:t> </a:t>
            </a:r>
            <a:r>
              <a:rPr lang="fr-FR" sz="1200" b="1" dirty="0" smtClean="0">
                <a:solidFill>
                  <a:schemeClr val="bg1"/>
                </a:solidFill>
                <a:latin typeface="Montserrat" panose="020B0604020202020204" charset="0"/>
              </a:rPr>
              <a:t>Capsule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191494" y="474726"/>
            <a:ext cx="4107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anose="020B0604020202020204" charset="0"/>
              </a:rPr>
              <a:t>OMEVIE OMEGA 3 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2200" y="4642423"/>
            <a:ext cx="1266058" cy="392221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4443" y="2851456"/>
            <a:ext cx="2014538" cy="2014538"/>
          </a:xfrm>
          <a:prstGeom prst="rect">
            <a:avLst/>
          </a:prstGeom>
        </p:spPr>
      </p:pic>
      <p:sp>
        <p:nvSpPr>
          <p:cNvPr id="23" name="Arrondir un rectangle avec un coin diagonal 22"/>
          <p:cNvSpPr/>
          <p:nvPr/>
        </p:nvSpPr>
        <p:spPr>
          <a:xfrm>
            <a:off x="3057916" y="1781849"/>
            <a:ext cx="945177" cy="244981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>
              <a:latin typeface="Montserrat" panose="020B0604020202020204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3053825" y="1722662"/>
            <a:ext cx="13354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 smtClean="0">
                <a:solidFill>
                  <a:schemeClr val="bg1"/>
                </a:solidFill>
                <a:latin typeface="Montserrat" panose="020B0604020202020204" charset="0"/>
              </a:rPr>
              <a:t>500</a:t>
            </a:r>
            <a:r>
              <a:rPr lang="fr-FR" sz="1200" dirty="0" smtClean="0">
                <a:solidFill>
                  <a:schemeClr val="bg1"/>
                </a:solidFill>
                <a:latin typeface="Montserrat" panose="020B0604020202020204" charset="0"/>
              </a:rPr>
              <a:t> </a:t>
            </a:r>
            <a:r>
              <a:rPr lang="fr-FR" sz="1200" b="1" dirty="0">
                <a:solidFill>
                  <a:schemeClr val="bg1"/>
                </a:solidFill>
                <a:latin typeface="Montserrat" panose="020B0604020202020204" charset="0"/>
              </a:rPr>
              <a:t>MG </a:t>
            </a:r>
          </a:p>
        </p:txBody>
      </p:sp>
    </p:spTree>
    <p:extLst>
      <p:ext uri="{BB962C8B-B14F-4D97-AF65-F5344CB8AC3E}">
        <p14:creationId xmlns:p14="http://schemas.microsoft.com/office/powerpoint/2010/main" val="1197694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6121" y="997946"/>
            <a:ext cx="3924300" cy="3924300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4003093" y="210812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6231" y="706214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Assure une prévention cardiovasculaire primaire et secondaire</a:t>
            </a:r>
            <a:endParaRPr lang="fr-FR" sz="1200" dirty="0">
              <a:latin typeface="Montserrat" panose="020B0604020202020204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Contribue </a:t>
            </a:r>
            <a:r>
              <a:rPr lang="fr-FR" sz="1200" dirty="0">
                <a:latin typeface="Montserrat" panose="020B0604020202020204" charset="0"/>
              </a:rPr>
              <a:t>au fonctionnement normal du système cardio-vasculaire 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Réduit </a:t>
            </a:r>
            <a:r>
              <a:rPr lang="fr-FR" sz="1200" dirty="0">
                <a:latin typeface="Montserrat" panose="020B0604020202020204" charset="0"/>
              </a:rPr>
              <a:t>le taux des lipides et des LDL- cholestérol</a:t>
            </a: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183599" y="1891262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COMPOSITION PAR CAPSULE </a:t>
            </a:r>
            <a:endParaRPr sz="1800" dirty="0"/>
          </a:p>
        </p:txBody>
      </p:sp>
      <p:sp>
        <p:nvSpPr>
          <p:cNvPr id="9" name="ZoneTexte 8"/>
          <p:cNvSpPr txBox="1"/>
          <p:nvPr/>
        </p:nvSpPr>
        <p:spPr>
          <a:xfrm>
            <a:off x="4213005" y="2339735"/>
            <a:ext cx="38103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900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d'Oméga 3 (36 % EPA, 24% DHA)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20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Huile essentielle de Lavande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20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Huile essentielle de Citron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12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E</a:t>
            </a: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228280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POSOLOGIE</a:t>
            </a:r>
            <a:endParaRPr sz="1800" dirty="0"/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9355768"/>
              </p:ext>
            </p:extLst>
          </p:nvPr>
        </p:nvGraphicFramePr>
        <p:xfrm>
          <a:off x="4364705" y="3681564"/>
          <a:ext cx="3737340" cy="55048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934335"/>
                <a:gridCol w="934335"/>
                <a:gridCol w="93433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MATIN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MIDI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SOIR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05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 smtClean="0">
                          <a:latin typeface="Montserrat" panose="020B0604020202020204" charset="0"/>
                        </a:rPr>
                        <a:t>1 capsule 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 smtClean="0">
                          <a:latin typeface="Montserrat" panose="020B0604020202020204" charset="0"/>
                        </a:rPr>
                        <a:t>-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 smtClean="0">
                          <a:latin typeface="Montserrat" panose="020B0604020202020204" charset="0"/>
                        </a:rPr>
                        <a:t>-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ZoneTexte 13"/>
          <p:cNvSpPr txBox="1"/>
          <p:nvPr/>
        </p:nvSpPr>
        <p:spPr>
          <a:xfrm>
            <a:off x="3247798" y="3434009"/>
            <a:ext cx="5291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rgbClr val="35535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30</a:t>
            </a:r>
            <a:endParaRPr lang="fr-FR" sz="1800" b="1" dirty="0">
              <a:solidFill>
                <a:srgbClr val="35535B"/>
              </a:solidFill>
              <a:latin typeface="Montserrat Medium" panose="00000600000000000000" pitchFamily="50" charset="0"/>
              <a:cs typeface="Poppins" panose="00000500000000000000" pitchFamily="2" charset="0"/>
            </a:endParaRPr>
          </a:p>
        </p:txBody>
      </p:sp>
      <p:sp>
        <p:nvSpPr>
          <p:cNvPr id="20" name="Arrondir un rectangle avec un coin diagonal 19"/>
          <p:cNvSpPr/>
          <p:nvPr/>
        </p:nvSpPr>
        <p:spPr>
          <a:xfrm>
            <a:off x="3057916" y="3044004"/>
            <a:ext cx="945177" cy="244981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ZoneTexte 21"/>
          <p:cNvSpPr txBox="1"/>
          <p:nvPr/>
        </p:nvSpPr>
        <p:spPr>
          <a:xfrm>
            <a:off x="3030561" y="3027994"/>
            <a:ext cx="963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chemeClr val="bg1"/>
                </a:solidFill>
                <a:latin typeface="Montserrat" panose="020B0604020202020204" charset="0"/>
              </a:rPr>
              <a:t> </a:t>
            </a:r>
            <a:r>
              <a:rPr lang="fr-FR" sz="1200" b="1" dirty="0" smtClean="0">
                <a:solidFill>
                  <a:schemeClr val="bg1"/>
                </a:solidFill>
                <a:latin typeface="Montserrat" panose="020B0604020202020204" charset="0"/>
              </a:rPr>
              <a:t>Capsule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191494" y="474726"/>
            <a:ext cx="4107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anose="020B0604020202020204" charset="0"/>
              </a:rPr>
              <a:t>OMEVIE CARDIO 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2200" y="4642423"/>
            <a:ext cx="1266058" cy="392221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5110" y="2914359"/>
            <a:ext cx="2014538" cy="2053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355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9318" y="1094855"/>
            <a:ext cx="4167187" cy="4167187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559388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870668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Assure un confort articulaire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Diminue la fréquence et l’intensité des </a:t>
            </a:r>
            <a:r>
              <a:rPr lang="fr-FR" sz="1200" dirty="0" err="1" smtClean="0">
                <a:latin typeface="Montserrat" panose="020B0604020202020204" charset="0"/>
              </a:rPr>
              <a:t>douleures</a:t>
            </a:r>
            <a:r>
              <a:rPr lang="fr-FR" sz="1200" dirty="0" smtClean="0">
                <a:latin typeface="Montserrat" panose="020B0604020202020204" charset="0"/>
              </a:rPr>
              <a:t> articulaires </a:t>
            </a:r>
            <a:endParaRPr lang="fr-FR" sz="1200" dirty="0">
              <a:latin typeface="Montserrat" panose="020B0604020202020204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Soulage l’inflammation articulaire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Réduit la raideur matinale </a:t>
            </a:r>
            <a:endParaRPr lang="fr-FR"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183599" y="1798390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 smtClean="0"/>
              <a:t>COMPOSITION </a:t>
            </a:r>
            <a:r>
              <a:rPr lang="fr-FR" sz="1800" dirty="0"/>
              <a:t>PAR CAPSULE </a:t>
            </a:r>
            <a:endParaRPr sz="1800" dirty="0"/>
          </a:p>
        </p:txBody>
      </p:sp>
      <p:sp>
        <p:nvSpPr>
          <p:cNvPr id="9" name="ZoneTexte 8"/>
          <p:cNvSpPr txBox="1"/>
          <p:nvPr/>
        </p:nvSpPr>
        <p:spPr>
          <a:xfrm>
            <a:off x="4213005" y="2246863"/>
            <a:ext cx="38103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900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d'Oméga 3 (36 % EPA, 24% DHA)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20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Huile essentielle de Lavande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12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Huile essentielle de Curcuma</a:t>
            </a: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228280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POSOLOGIE</a:t>
            </a:r>
            <a:endParaRPr sz="1800" dirty="0"/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6494332"/>
              </p:ext>
            </p:extLst>
          </p:nvPr>
        </p:nvGraphicFramePr>
        <p:xfrm>
          <a:off x="4364705" y="3681564"/>
          <a:ext cx="3737340" cy="55048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934335"/>
                <a:gridCol w="934335"/>
                <a:gridCol w="93433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MATIN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MIDI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SOIR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1 capsule 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-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-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ZoneTexte 13"/>
          <p:cNvSpPr txBox="1"/>
          <p:nvPr/>
        </p:nvSpPr>
        <p:spPr>
          <a:xfrm>
            <a:off x="3271638" y="3217143"/>
            <a:ext cx="5291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rgbClr val="35535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30</a:t>
            </a:r>
            <a:endParaRPr lang="fr-FR" sz="1800" b="1" dirty="0">
              <a:solidFill>
                <a:srgbClr val="35535B"/>
              </a:solidFill>
              <a:latin typeface="Montserrat Medium" panose="00000600000000000000" pitchFamily="50" charset="0"/>
              <a:cs typeface="Poppins" panose="00000500000000000000" pitchFamily="2" charset="0"/>
            </a:endParaRPr>
          </a:p>
        </p:txBody>
      </p:sp>
      <p:sp>
        <p:nvSpPr>
          <p:cNvPr id="20" name="Arrondir un rectangle avec un coin diagonal 19"/>
          <p:cNvSpPr/>
          <p:nvPr/>
        </p:nvSpPr>
        <p:spPr>
          <a:xfrm>
            <a:off x="3050115" y="2869535"/>
            <a:ext cx="930399" cy="278054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ZoneTexte 21"/>
          <p:cNvSpPr txBox="1"/>
          <p:nvPr/>
        </p:nvSpPr>
        <p:spPr>
          <a:xfrm>
            <a:off x="3023581" y="2854429"/>
            <a:ext cx="9268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chemeClr val="bg1"/>
                </a:solidFill>
                <a:latin typeface="Montserrat" panose="020B0604020202020204" charset="0"/>
              </a:rPr>
              <a:t> </a:t>
            </a:r>
            <a:r>
              <a:rPr lang="fr-FR" sz="1200" b="1" dirty="0" smtClean="0">
                <a:solidFill>
                  <a:schemeClr val="bg1"/>
                </a:solidFill>
                <a:latin typeface="Montserrat" panose="020B0604020202020204" charset="0"/>
              </a:rPr>
              <a:t>Capsule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-326647" y="496425"/>
            <a:ext cx="46091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anose="020B0604020202020204" charset="0"/>
              </a:rPr>
              <a:t>OMEVIE ARTICULATION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2200" y="4642423"/>
            <a:ext cx="1266058" cy="392221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8950" y="2768864"/>
            <a:ext cx="2014538" cy="1932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550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8113" y="1177203"/>
            <a:ext cx="3928557" cy="3928557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573675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850677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Favorise </a:t>
            </a:r>
            <a:r>
              <a:rPr lang="fr-FR" sz="1200" dirty="0">
                <a:latin typeface="Montserrat" panose="020B0604020202020204" charset="0"/>
              </a:rPr>
              <a:t>le développement et la croissance du </a:t>
            </a:r>
            <a:r>
              <a:rPr lang="fr-FR" sz="1200" dirty="0" smtClean="0">
                <a:latin typeface="Montserrat" panose="020B0604020202020204" charset="0"/>
              </a:rPr>
              <a:t>fœtus</a:t>
            </a:r>
            <a:endParaRPr lang="fr-FR" sz="1200" dirty="0">
              <a:latin typeface="Montserrat" panose="020B0604020202020204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Assure </a:t>
            </a:r>
            <a:r>
              <a:rPr lang="fr-FR" sz="1200" dirty="0">
                <a:latin typeface="Montserrat" panose="020B0604020202020204" charset="0"/>
              </a:rPr>
              <a:t>le bon fonctionnement du système immunitaire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Assure </a:t>
            </a:r>
            <a:r>
              <a:rPr lang="fr-FR" sz="1200" dirty="0">
                <a:latin typeface="Montserrat" panose="020B0604020202020204" charset="0"/>
              </a:rPr>
              <a:t>le bon fonctionnement cognitif et l'apprentissage au début de la </a:t>
            </a:r>
            <a:r>
              <a:rPr lang="fr-FR" sz="1200" dirty="0" smtClean="0">
                <a:latin typeface="Montserrat" panose="020B0604020202020204" charset="0"/>
              </a:rPr>
              <a:t>vie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Réduit le risque de prématurité et dépression postpartum</a:t>
            </a:r>
            <a:endParaRPr lang="fr-FR"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158641" y="2367055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COMPOSITION PAR CAPSULE </a:t>
            </a:r>
            <a:endParaRPr sz="1800" dirty="0"/>
          </a:p>
        </p:txBody>
      </p:sp>
      <p:sp>
        <p:nvSpPr>
          <p:cNvPr id="9" name="ZoneTexte 8"/>
          <p:cNvSpPr txBox="1"/>
          <p:nvPr/>
        </p:nvSpPr>
        <p:spPr>
          <a:xfrm>
            <a:off x="4295507" y="2766615"/>
            <a:ext cx="38103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rgbClr val="6D6D6D"/>
                </a:solidFill>
                <a:latin typeface="Montserrat" panose="020B0604020202020204" charset="0"/>
              </a:rPr>
              <a:t>1000 </a:t>
            </a:r>
            <a:r>
              <a:rPr lang="pt-BR" sz="1200" dirty="0">
                <a:solidFill>
                  <a:srgbClr val="6D6D6D"/>
                </a:solidFill>
                <a:latin typeface="Montserrat" panose="020B0604020202020204" charset="0"/>
              </a:rPr>
              <a:t>mg d'Oméga 3 TG(S % EPA, 25% DHA)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rgbClr val="6D6D6D"/>
                </a:solidFill>
                <a:latin typeface="Montserrat" panose="020B0604020202020204" charset="0"/>
              </a:rPr>
              <a:t>8,82 </a:t>
            </a:r>
            <a:r>
              <a:rPr lang="pt-BR" sz="1200" dirty="0">
                <a:solidFill>
                  <a:srgbClr val="6D6D6D"/>
                </a:solidFill>
                <a:latin typeface="Montserrat" panose="020B0604020202020204" charset="0"/>
              </a:rPr>
              <a:t>mg de Vitamine E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228280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POSOLOGIE</a:t>
            </a:r>
            <a:endParaRPr sz="1800" dirty="0"/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8809622"/>
              </p:ext>
            </p:extLst>
          </p:nvPr>
        </p:nvGraphicFramePr>
        <p:xfrm>
          <a:off x="4364705" y="3681564"/>
          <a:ext cx="3737340" cy="55048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934335"/>
                <a:gridCol w="934335"/>
                <a:gridCol w="93433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MATIN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MIDI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SOIR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1 capsule 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-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-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ZoneTexte 13"/>
          <p:cNvSpPr txBox="1"/>
          <p:nvPr/>
        </p:nvSpPr>
        <p:spPr>
          <a:xfrm>
            <a:off x="3247605" y="3321003"/>
            <a:ext cx="5291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rgbClr val="35535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30</a:t>
            </a:r>
            <a:endParaRPr lang="fr-FR" sz="1800" b="1" dirty="0">
              <a:solidFill>
                <a:srgbClr val="35535B"/>
              </a:solidFill>
              <a:latin typeface="Montserrat Medium" panose="00000600000000000000" pitchFamily="50" charset="0"/>
              <a:cs typeface="Poppins" panose="00000500000000000000" pitchFamily="2" charset="0"/>
            </a:endParaRPr>
          </a:p>
        </p:txBody>
      </p:sp>
      <p:sp>
        <p:nvSpPr>
          <p:cNvPr id="20" name="Arrondir un rectangle avec un coin diagonal 19"/>
          <p:cNvSpPr/>
          <p:nvPr/>
        </p:nvSpPr>
        <p:spPr>
          <a:xfrm>
            <a:off x="3057916" y="3044004"/>
            <a:ext cx="945177" cy="244981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ZoneTexte 21"/>
          <p:cNvSpPr txBox="1"/>
          <p:nvPr/>
        </p:nvSpPr>
        <p:spPr>
          <a:xfrm>
            <a:off x="3048686" y="3020106"/>
            <a:ext cx="963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chemeClr val="bg1"/>
                </a:solidFill>
                <a:latin typeface="Montserrat" panose="020B0604020202020204" charset="0"/>
              </a:rPr>
              <a:t> </a:t>
            </a:r>
            <a:r>
              <a:rPr lang="fr-FR" sz="1200" b="1" dirty="0" smtClean="0">
                <a:solidFill>
                  <a:schemeClr val="bg1"/>
                </a:solidFill>
                <a:latin typeface="Montserrat" panose="020B0604020202020204" charset="0"/>
              </a:rPr>
              <a:t>Capsule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-216493" y="477115"/>
            <a:ext cx="46091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anose="020B0604020202020204" charset="0"/>
              </a:rPr>
              <a:t>OMEVIE GROSSESSE 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2200" y="4642423"/>
            <a:ext cx="1266058" cy="392221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4917" y="2900849"/>
            <a:ext cx="2014538" cy="2014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752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8439" y="1111022"/>
            <a:ext cx="3986594" cy="3986594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76961" y="186430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22074" y="621591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err="1" smtClean="0">
                <a:latin typeface="Montserrat" panose="020B0604020202020204" charset="0"/>
              </a:rPr>
              <a:t>Fovorise</a:t>
            </a:r>
            <a:r>
              <a:rPr lang="fr-FR" sz="1200" dirty="0" smtClean="0">
                <a:latin typeface="Montserrat" panose="020B0604020202020204" charset="0"/>
              </a:rPr>
              <a:t> </a:t>
            </a:r>
            <a:r>
              <a:rPr lang="fr-FR" sz="1200" dirty="0">
                <a:latin typeface="Montserrat" panose="020B0604020202020204" charset="0"/>
              </a:rPr>
              <a:t>une humeur équilibrée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Aide </a:t>
            </a:r>
            <a:r>
              <a:rPr lang="fr-FR" sz="1200" dirty="0">
                <a:latin typeface="Montserrat" panose="020B0604020202020204" charset="0"/>
              </a:rPr>
              <a:t>à maintenir un équilibre émotionnel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Indiqué en cas de démence </a:t>
            </a:r>
            <a:r>
              <a:rPr lang="fr-FR" sz="1200" dirty="0">
                <a:latin typeface="Montserrat" panose="020B0604020202020204" charset="0"/>
              </a:rPr>
              <a:t>et déclin </a:t>
            </a:r>
            <a:r>
              <a:rPr lang="fr-FR" sz="1200" dirty="0" smtClean="0">
                <a:latin typeface="Montserrat" panose="020B0604020202020204" charset="0"/>
              </a:rPr>
              <a:t>cognitif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Réduit le risque de troubles </a:t>
            </a:r>
            <a:r>
              <a:rPr lang="fr-FR" sz="1200" dirty="0" err="1" smtClean="0">
                <a:latin typeface="Montserrat" panose="020B0604020202020204" charset="0"/>
              </a:rPr>
              <a:t>congitifs</a:t>
            </a:r>
            <a:r>
              <a:rPr lang="fr-FR" sz="1200" dirty="0" smtClean="0">
                <a:latin typeface="Montserrat" panose="020B0604020202020204" charset="0"/>
              </a:rPr>
              <a:t> chez les personnes 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Indiqué en cas de dépression </a:t>
            </a:r>
            <a:r>
              <a:rPr lang="fr-FR" sz="1200" dirty="0" err="1" smtClean="0">
                <a:latin typeface="Montserrat" panose="020B0604020202020204" charset="0"/>
              </a:rPr>
              <a:t>sévére</a:t>
            </a:r>
            <a:r>
              <a:rPr lang="fr-FR" sz="1200" dirty="0" smtClean="0">
                <a:latin typeface="Montserrat" panose="020B0604020202020204" charset="0"/>
              </a:rPr>
              <a:t> </a:t>
            </a:r>
            <a:endParaRPr lang="fr-FR"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106940" y="1903550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COMPOSITION PAR CAPSULE </a:t>
            </a:r>
            <a:endParaRPr sz="1800" dirty="0"/>
          </a:p>
        </p:txBody>
      </p:sp>
      <p:sp>
        <p:nvSpPr>
          <p:cNvPr id="9" name="ZoneTexte 8"/>
          <p:cNvSpPr txBox="1"/>
          <p:nvPr/>
        </p:nvSpPr>
        <p:spPr>
          <a:xfrm>
            <a:off x="4222074" y="2273322"/>
            <a:ext cx="38103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rgbClr val="6D6D6D"/>
                </a:solidFill>
                <a:latin typeface="Montserrat" panose="020B0604020202020204" charset="0"/>
              </a:rPr>
              <a:t>900 </a:t>
            </a:r>
            <a:r>
              <a:rPr lang="pt-BR" sz="1200" dirty="0">
                <a:solidFill>
                  <a:srgbClr val="6D6D6D"/>
                </a:solidFill>
                <a:latin typeface="Montserrat" panose="020B0604020202020204" charset="0"/>
              </a:rPr>
              <a:t>mg d'Oméga 3 EE(70 % EPA, 10% DHA)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rgbClr val="6D6D6D"/>
                </a:solidFill>
                <a:latin typeface="Montserrat" panose="020B0604020202020204" charset="0"/>
              </a:rPr>
              <a:t>20 </a:t>
            </a:r>
            <a:r>
              <a:rPr lang="pt-BR" sz="1200" dirty="0">
                <a:solidFill>
                  <a:srgbClr val="6D6D6D"/>
                </a:solidFill>
                <a:latin typeface="Montserrat" panose="020B0604020202020204" charset="0"/>
              </a:rPr>
              <a:t>mg de Huile essentielle de Lavande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rgbClr val="6D6D6D"/>
                </a:solidFill>
                <a:latin typeface="Montserrat" panose="020B0604020202020204" charset="0"/>
              </a:rPr>
              <a:t>12 </a:t>
            </a:r>
            <a:r>
              <a:rPr lang="pt-BR" sz="1200" dirty="0">
                <a:solidFill>
                  <a:srgbClr val="6D6D6D"/>
                </a:solidFill>
                <a:latin typeface="Montserrat" panose="020B0604020202020204" charset="0"/>
              </a:rPr>
              <a:t>mg de Vitamine 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1200" dirty="0" smtClean="0">
                <a:solidFill>
                  <a:srgbClr val="6D6D6D"/>
                </a:solidFill>
                <a:latin typeface="Montserrat" panose="020B0604020202020204" charset="0"/>
              </a:rPr>
              <a:t>10 </a:t>
            </a:r>
            <a:r>
              <a:rPr lang="pt-BR" sz="1200" dirty="0">
                <a:solidFill>
                  <a:srgbClr val="6D6D6D"/>
                </a:solidFill>
                <a:latin typeface="Montserrat" panose="020B0604020202020204" charset="0"/>
              </a:rPr>
              <a:t>mg de Huile essentielle de MillepertuisE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228280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POSOLOGIE</a:t>
            </a:r>
            <a:endParaRPr sz="1800" dirty="0"/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324167"/>
              </p:ext>
            </p:extLst>
          </p:nvPr>
        </p:nvGraphicFramePr>
        <p:xfrm>
          <a:off x="4364705" y="3681564"/>
          <a:ext cx="3737340" cy="55048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934335"/>
                <a:gridCol w="934335"/>
                <a:gridCol w="93433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MATIN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MIDI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SOIR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1 capsule 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-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-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ZoneTexte 13"/>
          <p:cNvSpPr txBox="1"/>
          <p:nvPr/>
        </p:nvSpPr>
        <p:spPr>
          <a:xfrm>
            <a:off x="3247798" y="3434009"/>
            <a:ext cx="5291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rgbClr val="35535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30</a:t>
            </a:r>
            <a:endParaRPr lang="fr-FR" sz="1800" b="1" dirty="0">
              <a:solidFill>
                <a:srgbClr val="35535B"/>
              </a:solidFill>
              <a:latin typeface="Montserrat Medium" panose="00000600000000000000" pitchFamily="50" charset="0"/>
              <a:cs typeface="Poppins" panose="00000500000000000000" pitchFamily="2" charset="0"/>
            </a:endParaRPr>
          </a:p>
        </p:txBody>
      </p:sp>
      <p:sp>
        <p:nvSpPr>
          <p:cNvPr id="20" name="Arrondir un rectangle avec un coin diagonal 19"/>
          <p:cNvSpPr/>
          <p:nvPr/>
        </p:nvSpPr>
        <p:spPr>
          <a:xfrm>
            <a:off x="3057916" y="3044004"/>
            <a:ext cx="945177" cy="244981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ZoneTexte 21"/>
          <p:cNvSpPr txBox="1"/>
          <p:nvPr/>
        </p:nvSpPr>
        <p:spPr>
          <a:xfrm>
            <a:off x="3056337" y="3027994"/>
            <a:ext cx="963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chemeClr val="bg1"/>
                </a:solidFill>
                <a:latin typeface="Montserrat Medium" panose="00000600000000000000" pitchFamily="50" charset="0"/>
              </a:rPr>
              <a:t> </a:t>
            </a:r>
            <a:r>
              <a:rPr lang="fr-FR" sz="1200" b="1" dirty="0" smtClean="0">
                <a:solidFill>
                  <a:schemeClr val="bg1"/>
                </a:solidFill>
                <a:latin typeface="Montserrat" panose="020B0604020202020204" charset="0"/>
              </a:rPr>
              <a:t>Capsule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-59287" y="477134"/>
            <a:ext cx="46091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Montserrat" panose="020B0604020202020204" charset="0"/>
              </a:rPr>
              <a:t>OMEVIE EMOTION 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2200" y="4642423"/>
            <a:ext cx="1266058" cy="392221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9646" y="2911655"/>
            <a:ext cx="2014538" cy="2231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125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inimalist SEO Strategy by Slidesgo">
  <a:themeElements>
    <a:clrScheme name="Simple Light">
      <a:dk1>
        <a:srgbClr val="35535B"/>
      </a:dk1>
      <a:lt1>
        <a:srgbClr val="FFFFFF"/>
      </a:lt1>
      <a:dk2>
        <a:srgbClr val="666666"/>
      </a:dk2>
      <a:lt2>
        <a:srgbClr val="FFFFFF"/>
      </a:lt2>
      <a:accent1>
        <a:srgbClr val="E14D4D"/>
      </a:accent1>
      <a:accent2>
        <a:srgbClr val="35535B"/>
      </a:accent2>
      <a:accent3>
        <a:srgbClr val="8ED9DC"/>
      </a:accent3>
      <a:accent4>
        <a:srgbClr val="999999"/>
      </a:accent4>
      <a:accent5>
        <a:srgbClr val="35535B"/>
      </a:accent5>
      <a:accent6>
        <a:srgbClr val="E14D4D"/>
      </a:accent6>
      <a:hlink>
        <a:srgbClr val="99999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7001</TotalTime>
  <Words>400</Words>
  <Application>Microsoft Office PowerPoint</Application>
  <PresentationFormat>Affichage à l'écran (16:9)</PresentationFormat>
  <Paragraphs>134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4" baseType="lpstr">
      <vt:lpstr>Montserrat Medium</vt:lpstr>
      <vt:lpstr>Poppins</vt:lpstr>
      <vt:lpstr>Montserrat</vt:lpstr>
      <vt:lpstr>Oswald Medium</vt:lpstr>
      <vt:lpstr>Raleway</vt:lpstr>
      <vt:lpstr>Arial</vt:lpstr>
      <vt:lpstr>Minimalist SEO Strategy by Slidesgo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Gammes des  Laboratoires Vital</dc:title>
  <dc:creator>MED SAFOUANE MEDIOUN</dc:creator>
  <cp:lastModifiedBy>a</cp:lastModifiedBy>
  <cp:revision>182</cp:revision>
  <dcterms:modified xsi:type="dcterms:W3CDTF">2026-03-10T09:41:40Z</dcterms:modified>
</cp:coreProperties>
</file>