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9"/>
  </p:notesMasterIdLst>
  <p:sldIdLst>
    <p:sldId id="307" r:id="rId2"/>
    <p:sldId id="258" r:id="rId3"/>
    <p:sldId id="431" r:id="rId4"/>
    <p:sldId id="427" r:id="rId5"/>
    <p:sldId id="432" r:id="rId6"/>
    <p:sldId id="433" r:id="rId7"/>
    <p:sldId id="434" r:id="rId8"/>
  </p:sldIdLst>
  <p:sldSz cx="9144000" cy="5143500" type="screen16x9"/>
  <p:notesSz cx="6858000" cy="9144000"/>
  <p:embeddedFontLst>
    <p:embeddedFont>
      <p:font typeface="Montserrat" panose="020B0604020202020204" charset="0"/>
      <p:regular r:id="rId10"/>
      <p:bold r:id="rId11"/>
      <p:italic r:id="rId12"/>
      <p:boldItalic r:id="rId13"/>
    </p:embeddedFont>
    <p:embeddedFont>
      <p:font typeface="Oswald Medium" panose="020B0604020202020204" charset="0"/>
      <p:regular r:id="rId14"/>
      <p:bold r:id="rId15"/>
    </p:embeddedFont>
    <p:embeddedFont>
      <p:font typeface="Poppins" panose="020B0604020202020204" charset="0"/>
      <p:regular r:id="rId16"/>
      <p:bold r:id="rId17"/>
      <p:italic r:id="rId18"/>
      <p:boldItalic r:id="rId19"/>
    </p:embeddedFont>
    <p:embeddedFont>
      <p:font typeface="Raleway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54" userDrawn="1">
          <p15:clr>
            <a:srgbClr val="9AA0A6"/>
          </p15:clr>
        </p15:guide>
        <p15:guide id="2" orient="horz" pos="2719">
          <p15:clr>
            <a:srgbClr val="9AA0A6"/>
          </p15:clr>
        </p15:guide>
        <p15:guide id="3" pos="27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D4D"/>
    <a:srgbClr val="35535B"/>
    <a:srgbClr val="6D6D6D"/>
    <a:srgbClr val="1E75BA"/>
    <a:srgbClr val="FCD232"/>
    <a:srgbClr val="F7BC3B"/>
    <a:srgbClr val="B71818"/>
    <a:srgbClr val="868786"/>
    <a:srgbClr val="54A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11C431-235F-4305-BE99-AC0004E7AA60}">
  <a:tblStyle styleId="{1011C431-235F-4305-BE99-AC0004E7AA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4" y="156"/>
      </p:cViewPr>
      <p:guideLst>
        <p:guide orient="horz" pos="554"/>
        <p:guide orient="horz" pos="2719"/>
        <p:guide pos="27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16032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7577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574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692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506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214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6228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734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681300" y="2325538"/>
            <a:ext cx="3503400" cy="6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4681300" y="2819280"/>
            <a:ext cx="2818800" cy="84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540000" y="2447350"/>
            <a:ext cx="1063850" cy="3239750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63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63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7440475" y="2721975"/>
            <a:ext cx="1063850" cy="3239750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1618500" y="-1514725"/>
            <a:ext cx="473400" cy="4492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540000" y="445025"/>
            <a:ext cx="353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31786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339402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31370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529150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3178575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339402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31370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529100" y="398490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6043550" y="192305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6258875" y="2280050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6043550" y="362787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300"/>
              <a:buFont typeface="Oswald Medium"/>
              <a:buNone/>
              <a:defRPr sz="23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6258875" y="3984875"/>
            <a:ext cx="23559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207300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2073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4072138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4072200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6937025" y="12715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6937025" y="2976450"/>
            <a:ext cx="999600" cy="74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36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8159719" y="-1297776"/>
            <a:ext cx="670525" cy="2644575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35900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8" r:id="rId3"/>
    <p:sldLayoutId id="2147483659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340">
          <p15:clr>
            <a:srgbClr val="EA4335"/>
          </p15:clr>
        </p15:guide>
        <p15:guide id="4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1784421" y="333829"/>
            <a:ext cx="6037985" cy="104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5400" cap="all" dirty="0" smtClean="0">
                <a:solidFill>
                  <a:srgbClr val="E14D4D"/>
                </a:solidFill>
              </a:rPr>
              <a:t>MINCILIGNE </a:t>
            </a:r>
            <a:endParaRPr lang="fr-FR" sz="540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392795" y="333829"/>
            <a:ext cx="1303749" cy="1055361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E14D4D"/>
              </a:solidFill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249392" y="539750"/>
            <a:ext cx="1310164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2400" dirty="0">
              <a:solidFill>
                <a:schemeClr val="bg1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30" y="-159657"/>
            <a:ext cx="2039257" cy="203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6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501" y="984499"/>
            <a:ext cx="4265862" cy="4265862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137914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51969" y="497916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Soutien de drainage métabolique dans la prise en </a:t>
            </a:r>
            <a:r>
              <a:rPr lang="fr-FR" sz="1200" dirty="0" err="1" smtClean="0">
                <a:latin typeface="Montserrat" panose="020B0604020202020204" charset="0"/>
              </a:rPr>
              <a:t>chage</a:t>
            </a:r>
            <a:r>
              <a:rPr lang="fr-FR" sz="1200" dirty="0" smtClean="0">
                <a:latin typeface="Montserrat" panose="020B0604020202020204" charset="0"/>
              </a:rPr>
              <a:t> de surpoids et de l’obésité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Adjuvant </a:t>
            </a:r>
            <a:r>
              <a:rPr lang="fr-FR" sz="1200" dirty="0">
                <a:latin typeface="Montserrat" panose="020B0604020202020204" charset="0"/>
              </a:rPr>
              <a:t>de </a:t>
            </a:r>
            <a:r>
              <a:rPr lang="fr-FR" sz="1200" dirty="0" smtClean="0">
                <a:latin typeface="Montserrat" panose="020B0604020202020204" charset="0"/>
              </a:rPr>
              <a:t>régime </a:t>
            </a:r>
            <a:r>
              <a:rPr lang="fr-FR" sz="1200" dirty="0" err="1" smtClean="0">
                <a:latin typeface="Montserrat" panose="020B0604020202020204" charset="0"/>
              </a:rPr>
              <a:t>amaicissant</a:t>
            </a:r>
            <a:endParaRPr lang="fr-FR" sz="1200" dirty="0" smtClean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00361" y="134649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</a:t>
            </a:r>
            <a:r>
              <a:rPr lang="fr-FR" sz="1800" dirty="0" smtClean="0"/>
              <a:t>POUR 30 ML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22834"/>
            <a:ext cx="4949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MINCILIGNE 9 PLANTES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82459" y="1724604"/>
            <a:ext cx="418090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260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Fenouil (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Foeniculum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100" dirty="0" err="1" smtClean="0">
                <a:solidFill>
                  <a:srgbClr val="6D6D6D"/>
                </a:solidFill>
                <a:latin typeface="Montserrat" panose="020B0604020202020204" charset="0"/>
              </a:rPr>
              <a:t>vulgare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260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d'Artichaut (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Cynara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scolymus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260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Chiendent (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Agropyron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 repens)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260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Thé vert (Came/lia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Maté (//ex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paraguariensis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33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d'Ananas (Ananas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comosus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26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Piloselle (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Hieracium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pilosella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26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d'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 (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aristatus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8,33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mg d'Extrait sec de Guarana (Pau/lino </a:t>
            </a:r>
            <a:r>
              <a:rPr lang="fr-FR" sz="1100" dirty="0" err="1">
                <a:solidFill>
                  <a:srgbClr val="6D6D6D"/>
                </a:solidFill>
                <a:latin typeface="Montserrat" panose="020B0604020202020204" charset="0"/>
              </a:rPr>
              <a:t>cupana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926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786675"/>
              </p:ext>
            </p:extLst>
          </p:nvPr>
        </p:nvGraphicFramePr>
        <p:xfrm>
          <a:off x="4364705" y="3845884"/>
          <a:ext cx="3737340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280300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Diluer une dose de 20 ml dans 1,5 L d'eau, les boire le long de la journée, loin des repas.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275 ml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134" y="2779490"/>
            <a:ext cx="1327347" cy="132734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249" y="4645896"/>
            <a:ext cx="1000738" cy="407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2" y="985471"/>
            <a:ext cx="4024851" cy="4024851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237930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52143" y="32301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endParaRPr lang="fr-FR" sz="1200" dirty="0" smtClean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Soutien de drainage métabolique dans la prise en </a:t>
            </a:r>
            <a:r>
              <a:rPr lang="fr-FR" sz="1200" dirty="0" err="1">
                <a:latin typeface="Montserrat" panose="020B0604020202020204" charset="0"/>
              </a:rPr>
              <a:t>chage</a:t>
            </a:r>
            <a:r>
              <a:rPr lang="fr-FR" sz="1200" dirty="0">
                <a:latin typeface="Montserrat" panose="020B0604020202020204" charset="0"/>
              </a:rPr>
              <a:t> de surpoids et de l’obésité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20B0604020202020204" charset="0"/>
              </a:rPr>
              <a:t>Adjuvant de régime </a:t>
            </a:r>
            <a:r>
              <a:rPr lang="fr-FR" sz="1200" dirty="0" err="1">
                <a:latin typeface="Montserrat" panose="020B0604020202020204" charset="0"/>
              </a:rPr>
              <a:t>amaicissant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20133" y="1241546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</a:t>
            </a:r>
            <a:r>
              <a:rPr lang="fr-FR" sz="1800" dirty="0" smtClean="0"/>
              <a:t>POUR 30 ML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22834"/>
            <a:ext cx="4949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  <a:latin typeface="Montserrat" panose="020B0604020202020204" charset="0"/>
              </a:rPr>
              <a:t>MINCI LIGNE JEUNE &amp; ADO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170498" y="1718437"/>
            <a:ext cx="479681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Fenouil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Foeniculum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 smtClean="0">
                <a:solidFill>
                  <a:srgbClr val="6D6D6D"/>
                </a:solidFill>
                <a:latin typeface="Montserrat" panose="020B0604020202020204" charset="0"/>
              </a:rPr>
              <a:t>vugare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Fumeterre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Fumaria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Frêne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Fraxinus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excelsior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d'Artichaut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Cynara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scolymus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Thé vert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Camelia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sinensis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Pissenlit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Taraxacum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officinale)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60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aristatus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 smtClean="0">
                <a:solidFill>
                  <a:srgbClr val="6D6D6D"/>
                </a:solidFill>
                <a:latin typeface="Montserrat Medium" panose="00000600000000000000" pitchFamily="50" charset="0"/>
              </a:rPr>
              <a:t>60 </a:t>
            </a:r>
            <a:r>
              <a:rPr lang="fr-FR" sz="1100" dirty="0">
                <a:solidFill>
                  <a:srgbClr val="6D6D6D"/>
                </a:solidFill>
                <a:latin typeface="Montserrat Medium" panose="00000600000000000000" pitchFamily="50" charset="0"/>
              </a:rPr>
              <a:t>mg d'Extrait sec de Bouleau (</a:t>
            </a:r>
            <a:r>
              <a:rPr lang="fr-FR" sz="1100" dirty="0" err="1">
                <a:solidFill>
                  <a:srgbClr val="6D6D6D"/>
                </a:solidFill>
                <a:latin typeface="Montserrat Medium" panose="00000600000000000000" pitchFamily="50" charset="0"/>
              </a:rPr>
              <a:t>Betula</a:t>
            </a:r>
            <a:r>
              <a:rPr lang="fr-FR" sz="1100" dirty="0">
                <a:solidFill>
                  <a:srgbClr val="6D6D6D"/>
                </a:solidFill>
                <a:latin typeface="Montserrat Medium" panose="00000600000000000000" pitchFamily="50" charset="0"/>
              </a:rPr>
              <a:t> alba)</a:t>
            </a:r>
          </a:p>
        </p:txBody>
      </p:sp>
      <p:sp>
        <p:nvSpPr>
          <p:cNvPr id="17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39260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CONSEILS D'UTILISATION </a:t>
            </a:r>
            <a:endParaRPr sz="1800" dirty="0"/>
          </a:p>
        </p:txBody>
      </p:sp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320065"/>
              </p:ext>
            </p:extLst>
          </p:nvPr>
        </p:nvGraphicFramePr>
        <p:xfrm>
          <a:off x="4237520" y="3826283"/>
          <a:ext cx="3876767" cy="109825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69192"/>
                <a:gridCol w="290757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Jeune</a:t>
                      </a:r>
                      <a:r>
                        <a:rPr lang="fr-FR" sz="1200" baseline="0" dirty="0" smtClean="0">
                          <a:latin typeface="Montserrat" panose="020B0604020202020204" charset="0"/>
                        </a:rPr>
                        <a:t> et adolescents à partir de 12 ans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Diluer une dose de 30 ml dans 1,5 L d'eau, les boire le long de la journée, loin des repas.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ZoneTexte 19"/>
          <p:cNvSpPr txBox="1"/>
          <p:nvPr/>
        </p:nvSpPr>
        <p:spPr>
          <a:xfrm>
            <a:off x="2841162" y="3706727"/>
            <a:ext cx="1126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275 ml</a:t>
            </a:r>
            <a:endParaRPr lang="fr-FR" sz="1800" b="1" dirty="0">
              <a:solidFill>
                <a:srgbClr val="35535B"/>
              </a:solidFill>
              <a:latin typeface="Montserrat Medium" panose="00000600000000000000" pitchFamily="50" charset="0"/>
              <a:cs typeface="Poppins" panose="00000500000000000000" pitchFamily="2" charset="0"/>
            </a:endParaRP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134" y="2779490"/>
            <a:ext cx="1327347" cy="132734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249" y="4645896"/>
            <a:ext cx="1000738" cy="40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9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61" y="1033073"/>
            <a:ext cx="4138613" cy="4138613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880673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Effet coupe </a:t>
            </a:r>
            <a:r>
              <a:rPr lang="fr-FR" sz="1200" dirty="0" err="1" smtClean="0">
                <a:latin typeface="Montserrat" panose="020B0604020202020204" charset="0"/>
              </a:rPr>
              <a:t>faim,il</a:t>
            </a:r>
            <a:r>
              <a:rPr lang="fr-FR" sz="1200" dirty="0" smtClean="0">
                <a:latin typeface="Montserrat" panose="020B0604020202020204" charset="0"/>
              </a:rPr>
              <a:t> favorise la sensation </a:t>
            </a:r>
            <a:r>
              <a:rPr lang="fr-FR" sz="1200" dirty="0">
                <a:latin typeface="Montserrat" panose="020B0604020202020204" charset="0"/>
              </a:rPr>
              <a:t>de </a:t>
            </a:r>
            <a:r>
              <a:rPr lang="fr-FR" sz="1200" dirty="0" smtClean="0">
                <a:latin typeface="Montserrat" panose="020B0604020202020204" charset="0"/>
              </a:rPr>
              <a:t>satiété et contribue au contrôle de l’appétit</a:t>
            </a:r>
            <a:endParaRPr lang="fr-FR" sz="1200" dirty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Aide à </a:t>
            </a:r>
            <a:r>
              <a:rPr lang="fr-FR" sz="1200" dirty="0" err="1" smtClean="0">
                <a:latin typeface="Montserrat" panose="020B0604020202020204" charset="0"/>
              </a:rPr>
              <a:t>améliorerr</a:t>
            </a:r>
            <a:r>
              <a:rPr lang="fr-FR" sz="1200" dirty="0" smtClean="0">
                <a:latin typeface="Montserrat" panose="020B0604020202020204" charset="0"/>
              </a:rPr>
              <a:t> le confort digestif en cas de digestion </a:t>
            </a:r>
            <a:r>
              <a:rPr lang="fr-FR" sz="1200" dirty="0">
                <a:latin typeface="Montserrat" panose="020B0604020202020204" charset="0"/>
              </a:rPr>
              <a:t>facile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à limiter l’absorption des sucres et des graisses au niveau intestinale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166776" y="2197295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 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11734"/>
            <a:ext cx="50271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solidFill>
                  <a:schemeClr val="bg1"/>
                </a:solidFill>
                <a:latin typeface="Montserrat" panose="020B0604020202020204" charset="0"/>
              </a:rPr>
              <a:t>MINCILIGNE COUPE FAIM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524629"/>
            <a:ext cx="4309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Fucus (Fucus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vesiculosus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Maté (//ex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paraguariensis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90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Konjac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Amorphopha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/lus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konjac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15" y="3102380"/>
            <a:ext cx="1929747" cy="1929747"/>
          </a:xfrm>
          <a:prstGeom prst="rect">
            <a:avLst/>
          </a:prstGeom>
        </p:spPr>
      </p:pic>
      <p:sp>
        <p:nvSpPr>
          <p:cNvPr id="15" name="ZoneTexte 3"/>
          <p:cNvSpPr txBox="1"/>
          <p:nvPr/>
        </p:nvSpPr>
        <p:spPr>
          <a:xfrm>
            <a:off x="2996957" y="3402529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ZoneTexte 4"/>
          <p:cNvSpPr txBox="1"/>
          <p:nvPr/>
        </p:nvSpPr>
        <p:spPr>
          <a:xfrm>
            <a:off x="2927505" y="3733389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8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39762" y="351819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252050"/>
              </p:ext>
            </p:extLst>
          </p:nvPr>
        </p:nvGraphicFramePr>
        <p:xfrm>
          <a:off x="4368506" y="3994999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249" y="4645896"/>
            <a:ext cx="1000738" cy="40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75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6946" y="978695"/>
            <a:ext cx="3950704" cy="3950704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573681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925811"/>
            <a:ext cx="4596382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Fvorise</a:t>
            </a:r>
            <a:r>
              <a:rPr lang="fr-FR" sz="1200" dirty="0" smtClean="0">
                <a:latin typeface="Montserrat" panose="020B0604020202020204" charset="0"/>
              </a:rPr>
              <a:t> la perte du poids dans le cadre de la prise en charge nutritionnelle adaptée au régime </a:t>
            </a:r>
            <a:r>
              <a:rPr lang="fr-FR" sz="1200" dirty="0" err="1" smtClean="0">
                <a:latin typeface="Montserrat" panose="020B0604020202020204" charset="0"/>
              </a:rPr>
              <a:t>amaincissant</a:t>
            </a:r>
            <a:endParaRPr lang="fr-FR" sz="1200" dirty="0" smtClean="0">
              <a:latin typeface="Montserrat" panose="020B0604020202020204" charset="0"/>
            </a:endParaRP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à stimuler la thermogenèse et augmenter les dépenses énergétiques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l’élimination et la mobilisation des graisses stockées par </a:t>
            </a:r>
            <a:r>
              <a:rPr lang="fr-FR" sz="1200" dirty="0" err="1" smtClean="0">
                <a:latin typeface="Montserrat" panose="020B0604020202020204" charset="0"/>
              </a:rPr>
              <a:t>phénoméne</a:t>
            </a:r>
            <a:r>
              <a:rPr lang="fr-FR" sz="1200" dirty="0" smtClean="0">
                <a:latin typeface="Montserrat" panose="020B0604020202020204" charset="0"/>
              </a:rPr>
              <a:t> de lipolyse</a:t>
            </a:r>
            <a:endParaRPr lang="fr-FR"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76850" y="205002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 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-467054" y="493023"/>
            <a:ext cx="502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MINCILIGNE BRÛLE GRAISSE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2493254"/>
            <a:ext cx="43094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d'Ananas (Ananas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comosus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142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Pissenlit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Taraxacum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officinale)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Guarana (Pau/lino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cupana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15" y="3102380"/>
            <a:ext cx="1929747" cy="1929747"/>
          </a:xfrm>
          <a:prstGeom prst="rect">
            <a:avLst/>
          </a:prstGeom>
        </p:spPr>
      </p:pic>
      <p:sp>
        <p:nvSpPr>
          <p:cNvPr id="15" name="ZoneTexte 3"/>
          <p:cNvSpPr txBox="1"/>
          <p:nvPr/>
        </p:nvSpPr>
        <p:spPr>
          <a:xfrm>
            <a:off x="2996957" y="3402529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ZoneTexte 4"/>
          <p:cNvSpPr txBox="1"/>
          <p:nvPr/>
        </p:nvSpPr>
        <p:spPr>
          <a:xfrm>
            <a:off x="2927505" y="3733389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8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299720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218564"/>
              </p:ext>
            </p:extLst>
          </p:nvPr>
        </p:nvGraphicFramePr>
        <p:xfrm>
          <a:off x="4364705" y="3753004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249" y="4645896"/>
            <a:ext cx="1000738" cy="40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45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3481" y="980700"/>
            <a:ext cx="4052887" cy="4052887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633831" y="-47305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600" dirty="0"/>
              <a:t>INDICATIONS</a:t>
            </a:r>
            <a:endParaRPr sz="1600" dirty="0"/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3984602" y="1616993"/>
            <a:ext cx="4703229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600" dirty="0"/>
              <a:t>COMPOSITION POUR 10 ML (SACHET) </a:t>
            </a:r>
            <a:endParaRPr sz="16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519035"/>
            <a:ext cx="502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MINCILIGNE VITAMINE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224" y="1921034"/>
            <a:ext cx="25807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80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L -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carnitine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Thé vert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Fenouil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Chiendent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d'Ananas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Fer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10 mg d'Extrait sec de Maté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sp>
        <p:nvSpPr>
          <p:cNvPr id="15" name="ZoneTexte 3"/>
          <p:cNvSpPr txBox="1"/>
          <p:nvPr/>
        </p:nvSpPr>
        <p:spPr>
          <a:xfrm>
            <a:off x="2996957" y="3402529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ZoneTexte 4"/>
          <p:cNvSpPr txBox="1"/>
          <p:nvPr/>
        </p:nvSpPr>
        <p:spPr>
          <a:xfrm>
            <a:off x="2927505" y="3733389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Sachets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537" y="4645896"/>
            <a:ext cx="1000738" cy="407290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6774427" y="1966456"/>
            <a:ext cx="2444944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10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</a:t>
            </a: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Piloselle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rgbClr val="6D6D6D"/>
                </a:solidFill>
                <a:latin typeface="Montserrat" panose="020B0604020202020204" charset="0"/>
              </a:rPr>
              <a:t>10 mg d'Extrait sec </a:t>
            </a:r>
            <a:r>
              <a:rPr lang="fr-FR" sz="1100" dirty="0" smtClean="0">
                <a:solidFill>
                  <a:srgbClr val="6D6D6D"/>
                </a:solidFill>
                <a:latin typeface="Montserrat" panose="020B0604020202020204" charset="0"/>
              </a:rPr>
              <a:t>d'</a:t>
            </a:r>
            <a:r>
              <a:rPr lang="fr-FR" sz="1100" dirty="0" err="1" smtClean="0">
                <a:solidFill>
                  <a:srgbClr val="6D6D6D"/>
                </a:solidFill>
                <a:latin typeface="Montserrat" panose="020B0604020202020204" charset="0"/>
              </a:rPr>
              <a:t>Orthosiphon</a:t>
            </a:r>
            <a:endParaRPr lang="fr-FR" sz="1200" dirty="0" smtClean="0">
              <a:solidFill>
                <a:srgbClr val="6D6D6D"/>
              </a:solidFill>
              <a:latin typeface="Montserrat" panose="020B060402020202020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Guarana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1,4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1,1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de Vitamine B1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Sélénium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2,5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µg de Vitamine </a:t>
            </a: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B12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Vitamine A</a:t>
            </a:r>
            <a:endParaRPr lang="fr-FR" sz="1200" dirty="0">
              <a:solidFill>
                <a:srgbClr val="6D6D6D"/>
              </a:solidFill>
              <a:latin typeface="Montserrat" panose="020B0604020202020204" charset="0"/>
            </a:endParaRPr>
          </a:p>
        </p:txBody>
      </p:sp>
      <p:graphicFrame>
        <p:nvGraphicFramePr>
          <p:cNvPr id="25" name="Tableau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7867961"/>
              </p:ext>
            </p:extLst>
          </p:nvPr>
        </p:nvGraphicFramePr>
        <p:xfrm>
          <a:off x="4460652" y="4228121"/>
          <a:ext cx="3521995" cy="91537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80499"/>
                <a:gridCol w="2641496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200" dirty="0" smtClean="0">
                          <a:latin typeface="Montserrat" panose="020B0604020202020204" charset="0"/>
                        </a:rPr>
                        <a:t>1 sachet par jour pur ou dilué dans 1,5 L d'eau, à boire le long de la journée, loin des repas 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57794" y="3871614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600" dirty="0"/>
              <a:t>POSOLOGIE</a:t>
            </a:r>
            <a:endParaRPr sz="1600" dirty="0"/>
          </a:p>
        </p:txBody>
      </p:sp>
      <p:sp>
        <p:nvSpPr>
          <p:cNvPr id="14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068915" y="309695"/>
            <a:ext cx="4703229" cy="15458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>
              <a:buFont typeface="Arial" panose="020B0604020202020204" pitchFamily="34" charset="0"/>
              <a:buChar char="•"/>
            </a:pPr>
            <a:r>
              <a:rPr lang="fr-FR" sz="1200" dirty="0" err="1" smtClean="0">
                <a:latin typeface="Montserrat" panose="020B0604020202020204" charset="0"/>
              </a:rPr>
              <a:t>Fvorise</a:t>
            </a:r>
            <a:r>
              <a:rPr lang="fr-FR" sz="1200" dirty="0" smtClean="0">
                <a:latin typeface="Montserrat" panose="020B0604020202020204" charset="0"/>
              </a:rPr>
              <a:t> la perte du poids dans le cadre de la prise en charge nutritionnelle adaptée au régime</a:t>
            </a:r>
          </a:p>
          <a:p>
            <a:pPr marL="228600" lvl="0" indent="-22860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     </a:t>
            </a:r>
            <a:r>
              <a:rPr lang="fr-FR" sz="1200" dirty="0" err="1" smtClean="0">
                <a:latin typeface="Montserrat" panose="020B0604020202020204" charset="0"/>
              </a:rPr>
              <a:t>amaincissant</a:t>
            </a:r>
            <a:endParaRPr lang="fr-FR" sz="1200" dirty="0" smtClean="0">
              <a:latin typeface="Montserrat" panose="020B0604020202020204" charset="0"/>
            </a:endParaRPr>
          </a:p>
          <a:p>
            <a:pPr marL="228600" lvl="0" indent="-22860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Contribue à stimuler la lipolyse et augmenter les dépenses énergétiques</a:t>
            </a:r>
          </a:p>
          <a:p>
            <a:pPr marL="228600" lvl="0" indent="-22860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Apport rn vitamine essentiels pour maintenir le </a:t>
            </a:r>
            <a:r>
              <a:rPr lang="fr-FR" sz="1200" dirty="0" err="1" smtClean="0">
                <a:latin typeface="Montserrat" panose="020B0604020202020204" charset="0"/>
              </a:rPr>
              <a:t>métaboliseme</a:t>
            </a:r>
            <a:r>
              <a:rPr lang="fr-FR" sz="1200" dirty="0" smtClean="0">
                <a:latin typeface="Montserrat" panose="020B0604020202020204" charset="0"/>
              </a:rPr>
              <a:t> et le tonus lors du régime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endParaRPr lang="fr-FR" sz="1200" dirty="0">
              <a:latin typeface="Montserra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25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148" y="1035346"/>
            <a:ext cx="4188619" cy="4188619"/>
          </a:xfrm>
          <a:prstGeom prst="rect">
            <a:avLst/>
          </a:prstGeom>
        </p:spPr>
      </p:pic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3782206" y="380797"/>
            <a:ext cx="2786700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INDICATIONS</a:t>
            </a:r>
            <a:endParaRPr sz="18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4213005" y="772404"/>
            <a:ext cx="3892841" cy="1440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Détoxification </a:t>
            </a:r>
            <a:r>
              <a:rPr lang="fr-FR" sz="1200" dirty="0">
                <a:latin typeface="Montserrat" panose="020B0604020202020204" charset="0"/>
              </a:rPr>
              <a:t>du foie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Favorise </a:t>
            </a:r>
            <a:r>
              <a:rPr lang="fr-FR" sz="1200" dirty="0">
                <a:latin typeface="Montserrat" panose="020B0604020202020204" charset="0"/>
              </a:rPr>
              <a:t>l'élimination rénale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fr-FR" sz="1200" dirty="0" smtClean="0">
                <a:latin typeface="Montserrat" panose="020B0604020202020204" charset="0"/>
              </a:rPr>
              <a:t>Stimule </a:t>
            </a:r>
            <a:r>
              <a:rPr lang="fr-FR" sz="1200" dirty="0">
                <a:latin typeface="Montserrat" panose="020B0604020202020204" charset="0"/>
              </a:rPr>
              <a:t>la combustion des graisses</a:t>
            </a:r>
            <a:endParaRPr sz="12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097871" y="1384053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fr-FR" sz="1800" dirty="0"/>
              <a:t>COMPOSITION PAR GÉLULE </a:t>
            </a:r>
            <a:endParaRPr sz="1800" dirty="0"/>
          </a:p>
        </p:txBody>
      </p:sp>
      <p:sp>
        <p:nvSpPr>
          <p:cNvPr id="21" name="ZoneTexte 20"/>
          <p:cNvSpPr txBox="1"/>
          <p:nvPr/>
        </p:nvSpPr>
        <p:spPr>
          <a:xfrm>
            <a:off x="0" y="496345"/>
            <a:ext cx="502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  <a:latin typeface="Montserrat" panose="020B0604020202020204" charset="0"/>
              </a:rPr>
              <a:t>MINCILIGNE DRAINEUR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213005" y="1739654"/>
            <a:ext cx="43094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57,6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Chiendent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Agropyron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repens)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57,6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Romarin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Rosmarinus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officinalis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57,6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Pissenlit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Taraxacum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officinale)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57,6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Piloselle (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Hieracium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pilosella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fr-FR" sz="1200" dirty="0" smtClean="0">
                <a:solidFill>
                  <a:srgbClr val="6D6D6D"/>
                </a:solidFill>
                <a:latin typeface="Montserrat" panose="020B0604020202020204" charset="0"/>
              </a:rPr>
              <a:t>57,6 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mg d'Extrait sec de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Konjac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 (Amorphophallus </a:t>
            </a:r>
            <a:r>
              <a:rPr lang="fr-FR" sz="1200" dirty="0" err="1">
                <a:solidFill>
                  <a:srgbClr val="6D6D6D"/>
                </a:solidFill>
                <a:latin typeface="Montserrat" panose="020B0604020202020204" charset="0"/>
              </a:rPr>
              <a:t>konjac</a:t>
            </a:r>
            <a:r>
              <a:rPr lang="fr-FR" sz="1200" dirty="0">
                <a:solidFill>
                  <a:srgbClr val="6D6D6D"/>
                </a:solidFill>
                <a:latin typeface="Montserrat" panose="020B0604020202020204" charset="0"/>
              </a:rPr>
              <a:t>}</a:t>
            </a: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015" y="3102380"/>
            <a:ext cx="1929747" cy="1929747"/>
          </a:xfrm>
          <a:prstGeom prst="rect">
            <a:avLst/>
          </a:prstGeom>
        </p:spPr>
      </p:pic>
      <p:sp>
        <p:nvSpPr>
          <p:cNvPr id="15" name="ZoneTexte 3"/>
          <p:cNvSpPr txBox="1"/>
          <p:nvPr/>
        </p:nvSpPr>
        <p:spPr>
          <a:xfrm>
            <a:off x="2996957" y="3402529"/>
            <a:ext cx="7852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400" b="1" dirty="0" smtClean="0">
                <a:solidFill>
                  <a:srgbClr val="35535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30</a:t>
            </a:r>
            <a:endParaRPr lang="fr-FR" sz="2400" b="1" dirty="0">
              <a:solidFill>
                <a:srgbClr val="35535B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ZoneTexte 4"/>
          <p:cNvSpPr txBox="1"/>
          <p:nvPr/>
        </p:nvSpPr>
        <p:spPr>
          <a:xfrm>
            <a:off x="2927505" y="3733389"/>
            <a:ext cx="924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100" dirty="0" smtClean="0">
                <a:solidFill>
                  <a:srgbClr val="35535B"/>
                </a:solidFill>
                <a:latin typeface="Montserrat Medium" panose="00000600000000000000" pitchFamily="50" charset="0"/>
              </a:rPr>
              <a:t>Gélules</a:t>
            </a:r>
            <a:endParaRPr lang="fr-FR" sz="1100" dirty="0">
              <a:solidFill>
                <a:srgbClr val="35535B"/>
              </a:solidFill>
              <a:latin typeface="Montserrat Medium" panose="00000600000000000000" pitchFamily="50" charset="0"/>
            </a:endParaRPr>
          </a:p>
        </p:txBody>
      </p:sp>
      <p:sp>
        <p:nvSpPr>
          <p:cNvPr id="18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282459" y="3671198"/>
            <a:ext cx="3925473" cy="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600"/>
              </a:spcAft>
            </a:pPr>
            <a:r>
              <a:rPr lang="fr-FR" sz="1800" dirty="0"/>
              <a:t>POSOLOGIE</a:t>
            </a:r>
            <a:endParaRPr sz="1800" dirty="0"/>
          </a:p>
        </p:txBody>
      </p:sp>
      <p:graphicFrame>
        <p:nvGraphicFramePr>
          <p:cNvPr id="19" name="Tableau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923291"/>
              </p:ext>
            </p:extLst>
          </p:nvPr>
        </p:nvGraphicFramePr>
        <p:xfrm>
          <a:off x="4364705" y="4124482"/>
          <a:ext cx="3737340" cy="55048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4335"/>
                <a:gridCol w="934335"/>
                <a:gridCol w="934335"/>
                <a:gridCol w="934335"/>
              </a:tblGrid>
              <a:tr h="275299">
                <a:tc>
                  <a:txBody>
                    <a:bodyPr/>
                    <a:lstStyle/>
                    <a:p>
                      <a:r>
                        <a:rPr lang="fr-FR" sz="12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200" cap="all" baseline="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MATIN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MIDI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Montserrat" panose="020B0604020202020204" charset="0"/>
                        </a:rPr>
                        <a:t>SOIR</a:t>
                      </a:r>
                      <a:endParaRPr lang="fr-FR" sz="12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  <a:tr h="275187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05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-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 smtClean="0">
                          <a:latin typeface="Montserrat" panose="020B0604020202020204" charset="0"/>
                        </a:rPr>
                        <a:t>1 gélule</a:t>
                      </a:r>
                      <a:endParaRPr lang="fr-FR" sz="1000" dirty="0">
                        <a:latin typeface="Montserrat" panose="020B06040202020202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Imag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249" y="4645896"/>
            <a:ext cx="1000738" cy="40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0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10737</TotalTime>
  <Words>715</Words>
  <Application>Microsoft Office PowerPoint</Application>
  <PresentationFormat>Affichage à l'écran (16:9)</PresentationFormat>
  <Paragraphs>136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Montserrat</vt:lpstr>
      <vt:lpstr>Oswald Medium</vt:lpstr>
      <vt:lpstr>Poppins</vt:lpstr>
      <vt:lpstr>Raleway</vt:lpstr>
      <vt:lpstr>Montserrat Medium</vt:lpstr>
      <vt:lpstr>Arial</vt:lpstr>
      <vt:lpstr>Minimalist SEO Strategy by Slidesgo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Gammes des  Laboratoires Vital</dc:title>
  <dc:creator>MED SAFOUANE MEDIOUN</dc:creator>
  <cp:lastModifiedBy>a</cp:lastModifiedBy>
  <cp:revision>194</cp:revision>
  <dcterms:modified xsi:type="dcterms:W3CDTF">2026-03-10T09:39:44Z</dcterms:modified>
</cp:coreProperties>
</file>