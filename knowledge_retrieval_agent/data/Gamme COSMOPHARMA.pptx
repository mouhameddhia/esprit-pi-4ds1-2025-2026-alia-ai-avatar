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28"/>
  </p:notesMasterIdLst>
  <p:sldIdLst>
    <p:sldId id="307" r:id="rId2"/>
    <p:sldId id="258" r:id="rId3"/>
    <p:sldId id="431" r:id="rId4"/>
    <p:sldId id="432" r:id="rId5"/>
    <p:sldId id="433" r:id="rId6"/>
    <p:sldId id="434" r:id="rId7"/>
    <p:sldId id="435" r:id="rId8"/>
    <p:sldId id="436" r:id="rId9"/>
    <p:sldId id="437" r:id="rId10"/>
    <p:sldId id="438" r:id="rId11"/>
    <p:sldId id="439" r:id="rId12"/>
    <p:sldId id="440" r:id="rId13"/>
    <p:sldId id="441" r:id="rId14"/>
    <p:sldId id="442" r:id="rId15"/>
    <p:sldId id="443" r:id="rId16"/>
    <p:sldId id="444" r:id="rId17"/>
    <p:sldId id="445" r:id="rId18"/>
    <p:sldId id="446" r:id="rId19"/>
    <p:sldId id="447" r:id="rId20"/>
    <p:sldId id="448" r:id="rId21"/>
    <p:sldId id="449" r:id="rId22"/>
    <p:sldId id="454" r:id="rId23"/>
    <p:sldId id="450" r:id="rId24"/>
    <p:sldId id="452" r:id="rId25"/>
    <p:sldId id="451" r:id="rId26"/>
    <p:sldId id="453" r:id="rId27"/>
  </p:sldIdLst>
  <p:sldSz cx="9144000" cy="5143500" type="screen16x9"/>
  <p:notesSz cx="6858000" cy="9144000"/>
  <p:embeddedFontLst>
    <p:embeddedFont>
      <p:font typeface="Raleway" panose="020B0604020202020204" charset="0"/>
      <p:regular r:id="rId29"/>
      <p:bold r:id="rId30"/>
      <p:italic r:id="rId31"/>
      <p:boldItalic r:id="rId32"/>
    </p:embeddedFont>
    <p:embeddedFont>
      <p:font typeface="Futura" panose="020B0604020202020204" charset="0"/>
      <p:regular r:id="rId33"/>
    </p:embeddedFont>
    <p:embeddedFont>
      <p:font typeface="Poppins" panose="020B0604020202020204" charset="0"/>
      <p:regular r:id="rId34"/>
      <p:bold r:id="rId35"/>
      <p:italic r:id="rId36"/>
      <p:boldItalic r:id="rId37"/>
    </p:embeddedFont>
    <p:embeddedFont>
      <p:font typeface="Oswald Medium" panose="020B0604020202020204" charset="0"/>
      <p:regular r:id="rId38"/>
      <p:bold r:id="rId39"/>
    </p:embeddedFont>
    <p:embeddedFont>
      <p:font typeface="Montserrat" panose="020B060402020202020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54" userDrawn="1">
          <p15:clr>
            <a:srgbClr val="9AA0A6"/>
          </p15:clr>
        </p15:guide>
        <p15:guide id="2" orient="horz" pos="2719">
          <p15:clr>
            <a:srgbClr val="9AA0A6"/>
          </p15:clr>
        </p15:guide>
        <p15:guide id="3" pos="27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4D4D"/>
    <a:srgbClr val="35535B"/>
    <a:srgbClr val="6D6D6D"/>
    <a:srgbClr val="1E75BA"/>
    <a:srgbClr val="FCD232"/>
    <a:srgbClr val="F7BC3B"/>
    <a:srgbClr val="B71818"/>
    <a:srgbClr val="868786"/>
    <a:srgbClr val="54A3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11C431-235F-4305-BE99-AC0004E7AA60}">
  <a:tblStyle styleId="{1011C431-235F-4305-BE99-AC0004E7AA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552" autoAdjust="0"/>
  </p:normalViewPr>
  <p:slideViewPr>
    <p:cSldViewPr snapToGrid="0">
      <p:cViewPr varScale="1">
        <p:scale>
          <a:sx n="91" d="100"/>
          <a:sy n="91" d="100"/>
        </p:scale>
        <p:origin x="684" y="108"/>
      </p:cViewPr>
      <p:guideLst>
        <p:guide orient="horz" pos="554"/>
        <p:guide orient="horz" pos="2719"/>
        <p:guide pos="27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16032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ac1b75c0d8_3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ac1b75c0d8_3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7577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2574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79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3691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4373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6268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86842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99098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88170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3057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44704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1270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79566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7660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70388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49145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56478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30756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82590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42548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82802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33685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77406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32132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63406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6587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4681300" y="2325538"/>
            <a:ext cx="3503400" cy="6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1"/>
          </p:nvPr>
        </p:nvSpPr>
        <p:spPr>
          <a:xfrm>
            <a:off x="4681300" y="2819280"/>
            <a:ext cx="2818800" cy="8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 flipH="1">
            <a:off x="540000" y="2447350"/>
            <a:ext cx="1063850" cy="3239750"/>
            <a:chOff x="146675" y="378750"/>
            <a:chExt cx="1063850" cy="3239750"/>
          </a:xfrm>
        </p:grpSpPr>
        <p:sp>
          <p:nvSpPr>
            <p:cNvPr id="56" name="Google Shape;56;p7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763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763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73" name="Google Shape;73;p9"/>
          <p:cNvGrpSpPr/>
          <p:nvPr/>
        </p:nvGrpSpPr>
        <p:grpSpPr>
          <a:xfrm rot="5400000">
            <a:off x="7440475" y="2721975"/>
            <a:ext cx="1063850" cy="3239750"/>
            <a:chOff x="146675" y="378750"/>
            <a:chExt cx="1063850" cy="3239750"/>
          </a:xfrm>
        </p:grpSpPr>
        <p:sp>
          <p:nvSpPr>
            <p:cNvPr id="74" name="Google Shape;74;p9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rot="5400000">
            <a:off x="1618500" y="-1514725"/>
            <a:ext cx="473400" cy="4492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353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"/>
          </p:nvPr>
        </p:nvSpPr>
        <p:spPr>
          <a:xfrm>
            <a:off x="317865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2"/>
          </p:nvPr>
        </p:nvSpPr>
        <p:spPr>
          <a:xfrm>
            <a:off x="3394025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3"/>
          </p:nvPr>
        </p:nvSpPr>
        <p:spPr>
          <a:xfrm>
            <a:off x="31370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4"/>
          </p:nvPr>
        </p:nvSpPr>
        <p:spPr>
          <a:xfrm>
            <a:off x="529150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5"/>
          </p:nvPr>
        </p:nvSpPr>
        <p:spPr>
          <a:xfrm>
            <a:off x="3178575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6"/>
          </p:nvPr>
        </p:nvSpPr>
        <p:spPr>
          <a:xfrm>
            <a:off x="3394025" y="3984875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7"/>
          </p:nvPr>
        </p:nvSpPr>
        <p:spPr>
          <a:xfrm>
            <a:off x="313700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8"/>
          </p:nvPr>
        </p:nvSpPr>
        <p:spPr>
          <a:xfrm>
            <a:off x="529100" y="398490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9"/>
          </p:nvPr>
        </p:nvSpPr>
        <p:spPr>
          <a:xfrm>
            <a:off x="604355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3"/>
          </p:nvPr>
        </p:nvSpPr>
        <p:spPr>
          <a:xfrm>
            <a:off x="6258875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4"/>
          </p:nvPr>
        </p:nvSpPr>
        <p:spPr>
          <a:xfrm>
            <a:off x="6043550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5"/>
          </p:nvPr>
        </p:nvSpPr>
        <p:spPr>
          <a:xfrm>
            <a:off x="6258875" y="3984875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6" hasCustomPrompt="1"/>
          </p:nvPr>
        </p:nvSpPr>
        <p:spPr>
          <a:xfrm>
            <a:off x="1207300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7" hasCustomPrompt="1"/>
          </p:nvPr>
        </p:nvSpPr>
        <p:spPr>
          <a:xfrm>
            <a:off x="1207300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8" hasCustomPrompt="1"/>
          </p:nvPr>
        </p:nvSpPr>
        <p:spPr>
          <a:xfrm>
            <a:off x="4072138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9" hasCustomPrompt="1"/>
          </p:nvPr>
        </p:nvSpPr>
        <p:spPr>
          <a:xfrm>
            <a:off x="4072200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20" hasCustomPrompt="1"/>
          </p:nvPr>
        </p:nvSpPr>
        <p:spPr>
          <a:xfrm>
            <a:off x="6937025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21" hasCustomPrompt="1"/>
          </p:nvPr>
        </p:nvSpPr>
        <p:spPr>
          <a:xfrm>
            <a:off x="6937025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grpSp>
        <p:nvGrpSpPr>
          <p:cNvPr id="117" name="Google Shape;117;p13"/>
          <p:cNvGrpSpPr/>
          <p:nvPr/>
        </p:nvGrpSpPr>
        <p:grpSpPr>
          <a:xfrm flipH="1">
            <a:off x="8159719" y="-1297776"/>
            <a:ext cx="670525" cy="2644575"/>
            <a:chOff x="540000" y="973925"/>
            <a:chExt cx="670525" cy="2644575"/>
          </a:xfrm>
        </p:grpSpPr>
        <p:sp>
          <p:nvSpPr>
            <p:cNvPr id="118" name="Google Shape;118;p13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0000" y="435900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8" r:id="rId3"/>
    <p:sldLayoutId id="214748365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orient="horz" pos="2900">
          <p15:clr>
            <a:srgbClr val="EA4335"/>
          </p15:clr>
        </p15:guide>
        <p15:guide id="3" pos="340">
          <p15:clr>
            <a:srgbClr val="EA4335"/>
          </p15:clr>
        </p15:guide>
        <p15:guide id="4" pos="54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5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28;p25"/>
          <p:cNvSpPr txBox="1">
            <a:spLocks/>
          </p:cNvSpPr>
          <p:nvPr/>
        </p:nvSpPr>
        <p:spPr>
          <a:xfrm>
            <a:off x="1784421" y="333829"/>
            <a:ext cx="6037985" cy="1047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4800" cap="all" dirty="0" smtClean="0">
                <a:solidFill>
                  <a:srgbClr val="E14D4D"/>
                </a:solidFill>
              </a:rPr>
              <a:t/>
            </a:r>
            <a:br>
              <a:rPr lang="fr-FR" sz="4800" cap="all" dirty="0" smtClean="0">
                <a:solidFill>
                  <a:srgbClr val="E14D4D"/>
                </a:solidFill>
              </a:rPr>
            </a:br>
            <a:r>
              <a:rPr lang="fr-FR" sz="4800" cap="all" dirty="0" err="1" smtClean="0">
                <a:solidFill>
                  <a:srgbClr val="E14D4D"/>
                </a:solidFill>
              </a:rPr>
              <a:t>COSMOPHARMa</a:t>
            </a:r>
            <a:endParaRPr lang="fr-FR" sz="4800" cap="all" dirty="0">
              <a:solidFill>
                <a:srgbClr val="E14D4D"/>
              </a:solidFill>
            </a:endParaRPr>
          </a:p>
        </p:txBody>
      </p:sp>
      <p:sp>
        <p:nvSpPr>
          <p:cNvPr id="7" name="Google Shape;810;p35"/>
          <p:cNvSpPr/>
          <p:nvPr/>
        </p:nvSpPr>
        <p:spPr>
          <a:xfrm>
            <a:off x="392795" y="333829"/>
            <a:ext cx="1303749" cy="1055361"/>
          </a:xfrm>
          <a:prstGeom prst="homePlate">
            <a:avLst>
              <a:gd name="adj" fmla="val 31917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E14D4D"/>
              </a:solidFill>
            </a:endParaRPr>
          </a:p>
        </p:txBody>
      </p:sp>
      <p:sp>
        <p:nvSpPr>
          <p:cNvPr id="8" name="Google Shape;820;p35"/>
          <p:cNvSpPr txBox="1">
            <a:spLocks/>
          </p:cNvSpPr>
          <p:nvPr/>
        </p:nvSpPr>
        <p:spPr>
          <a:xfrm>
            <a:off x="249392" y="539750"/>
            <a:ext cx="1310164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" sz="2400" dirty="0">
              <a:solidFill>
                <a:schemeClr val="bg1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230" y="-159657"/>
            <a:ext cx="2039257" cy="203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6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61" y="1088726"/>
            <a:ext cx="3877535" cy="3877535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32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331581"/>
            <a:ext cx="4703752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Assainie </a:t>
            </a:r>
            <a:r>
              <a:rPr lang="fr-FR" sz="1200" dirty="0">
                <a:latin typeface="Montserrat" panose="020B0604020202020204" charset="0"/>
              </a:rPr>
              <a:t>et purifier la peau en profondeur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Elimine </a:t>
            </a:r>
            <a:r>
              <a:rPr lang="fr-FR" sz="1200" dirty="0">
                <a:latin typeface="Montserrat" panose="020B0604020202020204" charset="0"/>
              </a:rPr>
              <a:t>les imperfections cutanées </a:t>
            </a:r>
            <a:r>
              <a:rPr lang="fr-FR" sz="1200" dirty="0" err="1">
                <a:latin typeface="Montserrat" panose="020B0604020202020204" charset="0"/>
              </a:rPr>
              <a:t>dûes</a:t>
            </a:r>
            <a:r>
              <a:rPr lang="fr-FR" sz="1200" dirty="0">
                <a:latin typeface="Montserrat" panose="020B0604020202020204" charset="0"/>
              </a:rPr>
              <a:t> à </a:t>
            </a:r>
            <a:r>
              <a:rPr lang="fr-FR" sz="1200" dirty="0" smtClean="0">
                <a:latin typeface="Montserrat" panose="020B0604020202020204" charset="0"/>
              </a:rPr>
              <a:t>l'acné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Réduit l’</a:t>
            </a:r>
            <a:r>
              <a:rPr lang="fr-FR" sz="1200" dirty="0" err="1" smtClean="0">
                <a:latin typeface="Montserrat" panose="020B0604020202020204" charset="0"/>
              </a:rPr>
              <a:t>excés</a:t>
            </a:r>
            <a:r>
              <a:rPr lang="fr-FR" sz="1200" dirty="0" smtClean="0">
                <a:latin typeface="Montserrat" panose="020B0604020202020204" charset="0"/>
              </a:rPr>
              <a:t> de sécrétion du sébum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Apaise l’intensité de  l’inflammation des lésions acnéiques 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Favorise la cicatrisation et la </a:t>
            </a:r>
            <a:r>
              <a:rPr lang="fr-FR" sz="1200" dirty="0" err="1" smtClean="0">
                <a:latin typeface="Montserrat" panose="020B0604020202020204" charset="0"/>
              </a:rPr>
              <a:t>répation</a:t>
            </a:r>
            <a:r>
              <a:rPr lang="fr-FR" sz="1200" dirty="0" smtClean="0">
                <a:latin typeface="Montserrat" panose="020B0604020202020204" charset="0"/>
              </a:rPr>
              <a:t> dermique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123473" y="1533912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PAR GÉLULE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-52537" y="474429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DERMACNÉ GÉLULE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2050016"/>
            <a:ext cx="43094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Extrait sec de Bardane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Arctium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lappa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Extrait sec de Pensée sauvage (Viola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tricolor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74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Levure de bière (Saccharomyces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cerevisae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66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Sulfate de Zinc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800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A</a:t>
            </a: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015" y="3102380"/>
            <a:ext cx="1929747" cy="1929747"/>
          </a:xfrm>
          <a:prstGeom prst="rect">
            <a:avLst/>
          </a:prstGeom>
        </p:spPr>
      </p:pic>
      <p:sp>
        <p:nvSpPr>
          <p:cNvPr id="15" name="ZoneTexte 3"/>
          <p:cNvSpPr txBox="1"/>
          <p:nvPr/>
        </p:nvSpPr>
        <p:spPr>
          <a:xfrm>
            <a:off x="2996957" y="3402529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</a:t>
            </a:r>
            <a:endParaRPr lang="fr-FR" sz="2400" b="1" dirty="0">
              <a:solidFill>
                <a:srgbClr val="35535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ZoneTexte 4"/>
          <p:cNvSpPr txBox="1"/>
          <p:nvPr/>
        </p:nvSpPr>
        <p:spPr>
          <a:xfrm>
            <a:off x="2927505" y="3733389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18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606903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19" name="Tableau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789711"/>
              </p:ext>
            </p:extLst>
          </p:nvPr>
        </p:nvGraphicFramePr>
        <p:xfrm>
          <a:off x="4364705" y="4060187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080" y="997649"/>
            <a:ext cx="3881437" cy="3881437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84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80676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0000600000000000000" pitchFamily="50" charset="0"/>
              </a:rPr>
              <a:t>Purifier </a:t>
            </a:r>
            <a:r>
              <a:rPr lang="fr-FR" sz="1200" dirty="0">
                <a:latin typeface="Montserrat Medium" panose="00000600000000000000" pitchFamily="50" charset="0"/>
              </a:rPr>
              <a:t>et hydrater la peau en profondeur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0000600000000000000" pitchFamily="50" charset="0"/>
              </a:rPr>
              <a:t>Réduire </a:t>
            </a:r>
            <a:r>
              <a:rPr lang="fr-FR" sz="1200" dirty="0">
                <a:latin typeface="Montserrat Medium" panose="00000600000000000000" pitchFamily="50" charset="0"/>
              </a:rPr>
              <a:t>les imperfections cutanées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0000600000000000000" pitchFamily="50" charset="0"/>
              </a:rPr>
              <a:t>Soigner </a:t>
            </a:r>
            <a:r>
              <a:rPr lang="fr-FR" sz="1200" dirty="0">
                <a:latin typeface="Montserrat Medium" panose="00000600000000000000" pitchFamily="50" charset="0"/>
              </a:rPr>
              <a:t>la peau acnéique</a:t>
            </a:r>
            <a:endParaRPr sz="1200" dirty="0">
              <a:latin typeface="Montserrat Medium" panose="00000600000000000000" pitchFamily="50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67803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-52537" y="474429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 ExtraBold" panose="00000900000000000000" pitchFamily="50" charset="0"/>
              </a:rPr>
              <a:t>DERMACNÉ </a:t>
            </a:r>
            <a:r>
              <a:rPr lang="fr-FR" sz="2800" dirty="0">
                <a:solidFill>
                  <a:schemeClr val="bg1"/>
                </a:solidFill>
                <a:latin typeface="Montserrat Medium" panose="00000600000000000000" pitchFamily="50" charset="0"/>
              </a:rPr>
              <a:t>CRÈME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2096857"/>
            <a:ext cx="43094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0000600000000000000" pitchFamily="50" charset="0"/>
              </a:rPr>
              <a:t>Beurre </a:t>
            </a:r>
            <a:r>
              <a:rPr lang="fr-FR" sz="1200" dirty="0">
                <a:solidFill>
                  <a:srgbClr val="6D6D6D"/>
                </a:solidFill>
                <a:latin typeface="Montserrat Medium" panose="00000600000000000000" pitchFamily="50" charset="0"/>
              </a:rPr>
              <a:t>de Karité (</a:t>
            </a:r>
            <a:r>
              <a:rPr lang="fr-FR" sz="1200" dirty="0" err="1">
                <a:solidFill>
                  <a:srgbClr val="6D6D6D"/>
                </a:solidFill>
                <a:latin typeface="Montserrat Medium" panose="00000600000000000000" pitchFamily="50" charset="0"/>
              </a:rPr>
              <a:t>Butyrospermum</a:t>
            </a:r>
            <a:r>
              <a:rPr lang="fr-FR" sz="1200" dirty="0">
                <a:solidFill>
                  <a:srgbClr val="6D6D6D"/>
                </a:solidFill>
                <a:latin typeface="Montserrat Medium" panose="00000600000000000000" pitchFamily="50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 Medium" panose="00000600000000000000" pitchFamily="50" charset="0"/>
              </a:rPr>
              <a:t>parkii</a:t>
            </a:r>
            <a:r>
              <a:rPr lang="fr-FR" sz="1200" dirty="0">
                <a:solidFill>
                  <a:srgbClr val="6D6D6D"/>
                </a:solidFill>
                <a:latin typeface="Montserrat Medium" panose="00000600000000000000" pitchFamily="50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0000600000000000000" pitchFamily="50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 Medium" panose="00000600000000000000" pitchFamily="50" charset="0"/>
              </a:rPr>
              <a:t>d'amande douce (</a:t>
            </a:r>
            <a:r>
              <a:rPr lang="fr-FR" sz="1200" dirty="0" err="1">
                <a:solidFill>
                  <a:srgbClr val="6D6D6D"/>
                </a:solidFill>
                <a:latin typeface="Montserrat Medium" panose="00000600000000000000" pitchFamily="50" charset="0"/>
              </a:rPr>
              <a:t>Prumus</a:t>
            </a:r>
            <a:r>
              <a:rPr lang="fr-FR" sz="1200" dirty="0">
                <a:solidFill>
                  <a:srgbClr val="6D6D6D"/>
                </a:solidFill>
                <a:latin typeface="Montserrat Medium" panose="00000600000000000000" pitchFamily="50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 Medium" panose="00000600000000000000" pitchFamily="50" charset="0"/>
              </a:rPr>
              <a:t>amygdalus</a:t>
            </a:r>
            <a:r>
              <a:rPr lang="fr-FR" sz="1200" dirty="0">
                <a:solidFill>
                  <a:srgbClr val="6D6D6D"/>
                </a:solidFill>
                <a:latin typeface="Montserrat Medium" panose="00000600000000000000" pitchFamily="50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0000600000000000000" pitchFamily="50" charset="0"/>
              </a:rPr>
              <a:t>Vitamine </a:t>
            </a:r>
            <a:r>
              <a:rPr lang="fr-FR" sz="1200" dirty="0">
                <a:solidFill>
                  <a:srgbClr val="6D6D6D"/>
                </a:solidFill>
                <a:latin typeface="Montserrat Medium" panose="00000600000000000000" pitchFamily="50" charset="0"/>
              </a:rPr>
              <a:t>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0000600000000000000" pitchFamily="50" charset="0"/>
              </a:rPr>
              <a:t>Acide </a:t>
            </a:r>
            <a:r>
              <a:rPr lang="fr-FR" sz="1200" dirty="0">
                <a:solidFill>
                  <a:srgbClr val="6D6D6D"/>
                </a:solidFill>
                <a:latin typeface="Montserrat Medium" panose="00000600000000000000" pitchFamily="50" charset="0"/>
              </a:rPr>
              <a:t>salicylique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0000600000000000000" pitchFamily="50" charset="0"/>
              </a:rPr>
              <a:t>Sulfate </a:t>
            </a:r>
            <a:r>
              <a:rPr lang="fr-FR" sz="1200" dirty="0">
                <a:solidFill>
                  <a:srgbClr val="6D6D6D"/>
                </a:solidFill>
                <a:latin typeface="Montserrat Medium" panose="00000600000000000000" pitchFamily="50" charset="0"/>
              </a:rPr>
              <a:t>de zinc</a:t>
            </a: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2748294" y="3498979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2691470" y="3507148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45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45689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16894"/>
              </p:ext>
            </p:extLst>
          </p:nvPr>
        </p:nvGraphicFramePr>
        <p:xfrm>
          <a:off x="4364705" y="3910175"/>
          <a:ext cx="3737340" cy="8239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 Medium" panose="00000600000000000000" pitchFamily="50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 Medium" panose="00000600000000000000" pitchFamily="50" charset="0"/>
                        </a:rPr>
                        <a:t>UTILISATION</a:t>
                      </a:r>
                      <a:endParaRPr lang="fr-FR" sz="12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 Medium" panose="00000600000000000000" pitchFamily="50" charset="0"/>
                        </a:rPr>
                        <a:t>Adulte</a:t>
                      </a:r>
                      <a:endParaRPr lang="fr-FR" sz="105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dirty="0" smtClean="0">
                          <a:latin typeface="Montserrat Medium" panose="00000600000000000000" pitchFamily="50" charset="0"/>
                        </a:rPr>
                        <a:t>Appliquer une noisette de crème sur une peau préalablement nettoyée. </a:t>
                      </a:r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2" name="Imag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67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69" y="965937"/>
            <a:ext cx="3967162" cy="3967162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930464" y="102893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5586" y="446756"/>
            <a:ext cx="490377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Assainie et purifie la </a:t>
            </a:r>
            <a:r>
              <a:rPr lang="fr-FR" sz="1200" dirty="0">
                <a:latin typeface="Montserrat" panose="020B0604020202020204" charset="0"/>
              </a:rPr>
              <a:t>peau en profondeur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Elimine </a:t>
            </a:r>
            <a:r>
              <a:rPr lang="fr-FR" sz="1200" dirty="0">
                <a:latin typeface="Montserrat" panose="020B0604020202020204" charset="0"/>
              </a:rPr>
              <a:t>les imperfections cutanées des peaux </a:t>
            </a:r>
            <a:endParaRPr lang="fr-FR" sz="1200" dirty="0" smtClean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grasses </a:t>
            </a:r>
            <a:r>
              <a:rPr lang="fr-FR" sz="1200" dirty="0">
                <a:latin typeface="Montserrat" panose="020B0604020202020204" charset="0"/>
              </a:rPr>
              <a:t>à tendance </a:t>
            </a:r>
            <a:r>
              <a:rPr lang="fr-FR" sz="1200" dirty="0" smtClean="0">
                <a:latin typeface="Montserrat" panose="020B0604020202020204" charset="0"/>
              </a:rPr>
              <a:t>acnéique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Nettoie </a:t>
            </a:r>
            <a:r>
              <a:rPr lang="fr-FR" sz="1200" dirty="0">
                <a:latin typeface="Montserrat" panose="020B0604020202020204" charset="0"/>
              </a:rPr>
              <a:t>en profondeur la peau tout en respectant son équilibre </a:t>
            </a:r>
            <a:r>
              <a:rPr lang="fr-FR" sz="1200" dirty="0" smtClean="0">
                <a:latin typeface="Montserrat" panose="020B0604020202020204" charset="0"/>
              </a:rPr>
              <a:t>naturel.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Élimine </a:t>
            </a:r>
            <a:r>
              <a:rPr lang="fr-FR" sz="1200" dirty="0">
                <a:latin typeface="Montserrat" panose="020B0604020202020204" charset="0"/>
              </a:rPr>
              <a:t>l’excès de </a:t>
            </a:r>
            <a:r>
              <a:rPr lang="fr-FR" sz="1200" dirty="0" smtClean="0">
                <a:latin typeface="Montserrat" panose="020B0604020202020204" charset="0"/>
              </a:rPr>
              <a:t>sébum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Contribue </a:t>
            </a:r>
            <a:r>
              <a:rPr lang="fr-FR" sz="1200" dirty="0">
                <a:latin typeface="Montserrat" panose="020B0604020202020204" charset="0"/>
              </a:rPr>
              <a:t>à réduire les irritations et les rougeurs grâce à ses actifs </a:t>
            </a:r>
            <a:r>
              <a:rPr lang="fr-FR" sz="1200" dirty="0" smtClean="0">
                <a:latin typeface="Montserrat" panose="020B0604020202020204" charset="0"/>
              </a:rPr>
              <a:t>apaisants.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Prépare </a:t>
            </a:r>
            <a:r>
              <a:rPr lang="fr-FR" sz="1200" dirty="0">
                <a:latin typeface="Montserrat" panose="020B0604020202020204" charset="0"/>
              </a:rPr>
              <a:t>la peau aux soins suivants tout en maintenant son hydratation et sa barrière cutanée.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2334245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-87212" y="446756"/>
            <a:ext cx="5188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714375" algn="l"/>
              </a:tabLst>
            </a:pPr>
            <a:r>
              <a:rPr lang="fr-FR" sz="2200" dirty="0">
                <a:solidFill>
                  <a:schemeClr val="bg1"/>
                </a:solidFill>
                <a:latin typeface="Montserrat" panose="020B0604020202020204" charset="0"/>
              </a:rPr>
              <a:t>DERMACNÉ</a:t>
            </a:r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r>
              <a:rPr lang="fr-FR" sz="1800" dirty="0" smtClean="0">
                <a:solidFill>
                  <a:schemeClr val="bg1"/>
                </a:solidFill>
                <a:latin typeface="Montserrat" panose="020B0604020202020204" charset="0"/>
              </a:rPr>
              <a:t>GEL NETTOYANT</a:t>
            </a:r>
            <a:endParaRPr lang="fr-FR" sz="1800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82459" y="2617996"/>
            <a:ext cx="43094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Gel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d'aloès Vera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Aloes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vera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Acide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salicylique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d'argon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Argania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spinosa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Sulfate de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zinc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essentielle arbre à thé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Mélaleuca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alternifolia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96816" y="3608154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352492"/>
              </p:ext>
            </p:extLst>
          </p:nvPr>
        </p:nvGraphicFramePr>
        <p:xfrm>
          <a:off x="4376525" y="4030407"/>
          <a:ext cx="3737340" cy="109825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Faire mousser avec un peu d'eau et appliquer sur le visage en massant doucement Rincer abondamment.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ZoneTexte 12"/>
          <p:cNvSpPr txBox="1"/>
          <p:nvPr/>
        </p:nvSpPr>
        <p:spPr>
          <a:xfrm>
            <a:off x="2841162" y="3706727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200 </a:t>
            </a:r>
            <a:r>
              <a:rPr lang="fr-FR" sz="1600" b="1" dirty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ml</a:t>
            </a:r>
            <a:endParaRPr lang="fr-FR" sz="1600" b="1" dirty="0">
              <a:solidFill>
                <a:srgbClr val="35535B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603" y="2935697"/>
            <a:ext cx="1155145" cy="1155145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497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0824"/>
            <a:ext cx="3882676" cy="3882676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84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80676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Soins apaisants anti inflammatoires exfoliants  </a:t>
            </a:r>
            <a:r>
              <a:rPr lang="fr-FR" sz="1200" dirty="0">
                <a:latin typeface="Montserrat" panose="020B0604020202020204" charset="0"/>
              </a:rPr>
              <a:t>des peaux acnéiques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67803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-52537" y="474429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DERMACNÉ </a:t>
            </a:r>
            <a:r>
              <a:rPr lang="fr-FR" sz="2400" dirty="0" smtClean="0">
                <a:solidFill>
                  <a:schemeClr val="bg1"/>
                </a:solidFill>
                <a:latin typeface="Montserrat" panose="020B0604020202020204" charset="0"/>
              </a:rPr>
              <a:t>SAVON</a:t>
            </a:r>
            <a:endParaRPr lang="fr-FR" sz="24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2096857"/>
            <a:ext cx="4309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Extrait sec de romarin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Rosmarinus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officinalis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Huile essentielle d'arbre à thé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Mélaleuca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alternifolia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Acide salicylique</a:t>
            </a: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45689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412394"/>
              </p:ext>
            </p:extLst>
          </p:nvPr>
        </p:nvGraphicFramePr>
        <p:xfrm>
          <a:off x="4364705" y="3910175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dirty="0" smtClean="0">
                          <a:latin typeface="Montserrat" panose="020B0604020202020204" charset="0"/>
                        </a:rPr>
                        <a:t>Usage quotidien </a:t>
                      </a:r>
                      <a:endParaRPr lang="fr-FR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2" name="Imag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32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6391" y="1160752"/>
            <a:ext cx="3982748" cy="3982748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84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80676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Apaise </a:t>
            </a:r>
            <a:r>
              <a:rPr lang="fr-FR" sz="1200" dirty="0">
                <a:latin typeface="Montserrat" panose="020B0604020202020204" charset="0"/>
              </a:rPr>
              <a:t>et accélère la réparation de la peau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Hygiène </a:t>
            </a:r>
            <a:r>
              <a:rPr lang="fr-FR" sz="1200" dirty="0">
                <a:latin typeface="Montserrat" panose="020B0604020202020204" charset="0"/>
              </a:rPr>
              <a:t>et soin des peaux grasses à tendance acnéiques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985222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285069" y="475173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DERMASOUFRE</a:t>
            </a: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285439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1443"/>
              </p:ext>
            </p:extLst>
          </p:nvPr>
        </p:nvGraphicFramePr>
        <p:xfrm>
          <a:off x="4364705" y="3738723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dirty="0" smtClean="0">
                          <a:latin typeface="Montserrat" panose="020B0604020202020204" charset="0"/>
                        </a:rPr>
                        <a:t>Usage quotidien </a:t>
                      </a:r>
                      <a:endParaRPr lang="fr-FR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ZoneTexte 12"/>
          <p:cNvSpPr txBox="1"/>
          <p:nvPr/>
        </p:nvSpPr>
        <p:spPr>
          <a:xfrm>
            <a:off x="4213005" y="2404042"/>
            <a:ext cx="43094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Soufre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33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71" y="1169195"/>
            <a:ext cx="3974305" cy="3974305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84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80676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Apaise </a:t>
            </a:r>
            <a:r>
              <a:rPr lang="fr-FR" sz="1200" dirty="0">
                <a:latin typeface="Montserrat" panose="020B0604020202020204" charset="0"/>
              </a:rPr>
              <a:t>et accélère la réparation de la peau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Soin </a:t>
            </a:r>
            <a:r>
              <a:rPr lang="fr-FR" sz="1200" dirty="0">
                <a:latin typeface="Montserrat" panose="020B0604020202020204" charset="0"/>
              </a:rPr>
              <a:t>purifiant, antiseptique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985222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899431" y="465570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DERMALO</a:t>
            </a: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285439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245376"/>
              </p:ext>
            </p:extLst>
          </p:nvPr>
        </p:nvGraphicFramePr>
        <p:xfrm>
          <a:off x="4364705" y="3738723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dirty="0" smtClean="0">
                          <a:latin typeface="Montserrat" panose="020B0604020202020204" charset="0"/>
                        </a:rPr>
                        <a:t>Usage quotidien </a:t>
                      </a:r>
                      <a:endParaRPr lang="fr-FR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ZoneTexte 12"/>
          <p:cNvSpPr txBox="1"/>
          <p:nvPr/>
        </p:nvSpPr>
        <p:spPr>
          <a:xfrm>
            <a:off x="4213005" y="2404042"/>
            <a:ext cx="4309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Acide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salicylique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cade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0988" y="1096904"/>
            <a:ext cx="4102894" cy="4102894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84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6" y="880676"/>
            <a:ext cx="3302220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Soin et traitement des peaux très sensibles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985222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899431" y="465570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ARGIDERM</a:t>
            </a: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285439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104435"/>
              </p:ext>
            </p:extLst>
          </p:nvPr>
        </p:nvGraphicFramePr>
        <p:xfrm>
          <a:off x="4364705" y="3738723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dirty="0" smtClean="0">
                          <a:latin typeface="Montserrat" panose="020B0604020202020204" charset="0"/>
                        </a:rPr>
                        <a:t>Usage quotidien </a:t>
                      </a:r>
                      <a:endParaRPr lang="fr-FR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ZoneTexte 12"/>
          <p:cNvSpPr txBox="1"/>
          <p:nvPr/>
        </p:nvSpPr>
        <p:spPr>
          <a:xfrm>
            <a:off x="4213005" y="2404042"/>
            <a:ext cx="4309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Argile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d'olive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Miel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27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0387" y="1120870"/>
            <a:ext cx="4022630" cy="4022630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245066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552058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Savon antifongique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935082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899431" y="465570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FONGIDERM</a:t>
            </a: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295682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639252"/>
              </p:ext>
            </p:extLst>
          </p:nvPr>
        </p:nvGraphicFramePr>
        <p:xfrm>
          <a:off x="4364705" y="3410105"/>
          <a:ext cx="3737340" cy="9763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dirty="0" smtClean="0">
                          <a:latin typeface="Montserrat" panose="020B0604020202020204" charset="0"/>
                        </a:rPr>
                        <a:t>Usage quotidien : appliquer sur la peau humide et frotter doucement puis rincer abondement à l'eau et sécher les mains avec une serviette </a:t>
                      </a:r>
                      <a:endParaRPr lang="fr-FR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ZoneTexte 12"/>
          <p:cNvSpPr txBox="1"/>
          <p:nvPr/>
        </p:nvSpPr>
        <p:spPr>
          <a:xfrm>
            <a:off x="4213005" y="1353902"/>
            <a:ext cx="43094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noix de coco (Cocos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nucifera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Gel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d'aloès Vera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essentielle d'arbre à thé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Mélaleuca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alternifolia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essentielle de lavande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Lavandula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angustifolia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Chlorure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Benzalkonium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nigelle (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Nigella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sativa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416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9629" y="1113582"/>
            <a:ext cx="3911872" cy="3911872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80826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87818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Soin et hygiène des peaux sèches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685183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525462" y="444154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DERMADOUCE</a:t>
            </a: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2956821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058295"/>
              </p:ext>
            </p:extLst>
          </p:nvPr>
        </p:nvGraphicFramePr>
        <p:xfrm>
          <a:off x="4364705" y="3410105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dirty="0" smtClean="0">
                          <a:latin typeface="Montserrat" panose="020B0604020202020204" charset="0"/>
                        </a:rPr>
                        <a:t>Usage quotidien </a:t>
                      </a:r>
                      <a:endParaRPr lang="fr-FR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ZoneTexte 12"/>
          <p:cNvSpPr txBox="1"/>
          <p:nvPr/>
        </p:nvSpPr>
        <p:spPr>
          <a:xfrm>
            <a:off x="4213005" y="2104003"/>
            <a:ext cx="43094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Huile d'amande douce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593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74" y="995932"/>
            <a:ext cx="3643031" cy="3643031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230781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537773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Hydratation </a:t>
            </a:r>
            <a:r>
              <a:rPr lang="fr-FR" sz="1200" dirty="0">
                <a:latin typeface="Montserrat" panose="020B0604020202020204" charset="0"/>
              </a:rPr>
              <a:t>en profondeur de la peau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Nutrition </a:t>
            </a:r>
            <a:r>
              <a:rPr lang="fr-FR" sz="1200" dirty="0">
                <a:latin typeface="Montserrat" panose="020B0604020202020204" charset="0"/>
              </a:rPr>
              <a:t>de la peau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Adoucissement </a:t>
            </a:r>
            <a:r>
              <a:rPr lang="fr-FR" sz="1200" dirty="0">
                <a:latin typeface="Montserrat" panose="020B0604020202020204" charset="0"/>
              </a:rPr>
              <a:t>de la peau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Assouplissement </a:t>
            </a:r>
            <a:r>
              <a:rPr lang="fr-FR" sz="1200" dirty="0">
                <a:latin typeface="Montserrat" panose="020B0604020202020204" charset="0"/>
              </a:rPr>
              <a:t>de la peau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Régénération </a:t>
            </a:r>
            <a:r>
              <a:rPr lang="fr-FR" sz="1200" dirty="0">
                <a:latin typeface="Montserrat" panose="020B0604020202020204" charset="0"/>
              </a:rPr>
              <a:t>et cicatrisation cutanée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985222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854074" y="472712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Montserrat" panose="020B0604020202020204" charset="0"/>
              </a:rPr>
              <a:t>HYDRA</a:t>
            </a:r>
            <a:endParaRPr lang="fr-FR" sz="28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285436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724105"/>
              </p:ext>
            </p:extLst>
          </p:nvPr>
        </p:nvGraphicFramePr>
        <p:xfrm>
          <a:off x="4364705" y="3738720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dirty="0" smtClean="0">
                          <a:latin typeface="Montserrat" panose="020B0604020202020204" charset="0"/>
                        </a:rPr>
                        <a:t>Usage quotidien </a:t>
                      </a:r>
                      <a:endParaRPr lang="fr-FR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ZoneTexte 12"/>
          <p:cNvSpPr txBox="1"/>
          <p:nvPr/>
        </p:nvSpPr>
        <p:spPr>
          <a:xfrm>
            <a:off x="4213005" y="2404042"/>
            <a:ext cx="4309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Beurre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karité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d'amande douce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essentielle de lavande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803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143" y="998393"/>
            <a:ext cx="3950494" cy="3950494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84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80676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Répulsif </a:t>
            </a:r>
            <a:r>
              <a:rPr lang="fr-FR" sz="1200" dirty="0">
                <a:latin typeface="Montserrat" panose="020B0604020202020204" charset="0"/>
              </a:rPr>
              <a:t>&amp; protège contre les piqûres d'insectes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Soulage </a:t>
            </a:r>
            <a:r>
              <a:rPr lang="fr-FR" sz="1200" dirty="0">
                <a:latin typeface="Montserrat" panose="020B0604020202020204" charset="0"/>
              </a:rPr>
              <a:t>et apaise les piqûres d'insectes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67803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105461" y="475173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Montserrat" panose="020B0604020202020204" charset="0"/>
              </a:rPr>
              <a:t>MOUSTIK SAVON</a:t>
            </a:r>
            <a:endParaRPr lang="fr-FR" sz="28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2096857"/>
            <a:ext cx="3787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Essence de citronnelle(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Cymbopogon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winterianu</a:t>
            </a:r>
            <a:r>
              <a:rPr lang="fr-FR" sz="1200" dirty="0">
                <a:solidFill>
                  <a:srgbClr val="6D6D6D"/>
                </a:solidFill>
                <a:latin typeface="Montserrat Medium" panose="00000600000000000000" pitchFamily="50" charset="0"/>
              </a:rPr>
              <a:t>)</a:t>
            </a: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13541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763388"/>
              </p:ext>
            </p:extLst>
          </p:nvPr>
        </p:nvGraphicFramePr>
        <p:xfrm>
          <a:off x="4364705" y="3588702"/>
          <a:ext cx="3737340" cy="6867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 et enfant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dirty="0" smtClean="0">
                          <a:latin typeface="Montserrat" panose="020B0604020202020204" charset="0"/>
                        </a:rPr>
                        <a:t>Appliquer sur la peau et frotter doucement </a:t>
                      </a:r>
                      <a:endParaRPr lang="fr-FR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2" name="Imag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68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6" y="998393"/>
            <a:ext cx="3888581" cy="3888581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84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80676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Répulsif &amp; protège contre les piqûres d'insectes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Soulage et apaise les piqûres d'insectes</a:t>
            </a: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81377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105461" y="475173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Montserrat" panose="020B0604020202020204" charset="0"/>
              </a:rPr>
              <a:t>MOUSTIK GEL</a:t>
            </a:r>
            <a:endParaRPr lang="fr-FR" sz="28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2232590"/>
            <a:ext cx="37879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Essence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Citronnelle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Cymbopogon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winterianu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Extrait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glycolique de Calendula (Calendula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oflïcinalis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55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13541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052457"/>
              </p:ext>
            </p:extLst>
          </p:nvPr>
        </p:nvGraphicFramePr>
        <p:xfrm>
          <a:off x="4364705" y="3588702"/>
          <a:ext cx="3737340" cy="73249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 et enfant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Appliquer sur la peau et frotter doucement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2" name="Imag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028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84" y="987836"/>
            <a:ext cx="3838575" cy="3838575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84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80676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Essence </a:t>
            </a:r>
            <a:r>
              <a:rPr lang="fr-FR" sz="1200" dirty="0">
                <a:latin typeface="Montserrat" panose="020B0604020202020204" charset="0"/>
              </a:rPr>
              <a:t>de Citronnelle (</a:t>
            </a:r>
            <a:r>
              <a:rPr lang="fr-FR" sz="1200" dirty="0" err="1">
                <a:latin typeface="Montserrat" panose="020B0604020202020204" charset="0"/>
              </a:rPr>
              <a:t>Cymbopogon</a:t>
            </a:r>
            <a:r>
              <a:rPr lang="fr-FR" sz="1200" dirty="0">
                <a:latin typeface="Montserrat" panose="020B0604020202020204" charset="0"/>
              </a:rPr>
              <a:t> </a:t>
            </a:r>
            <a:r>
              <a:rPr lang="fr-FR" sz="1200" dirty="0" err="1">
                <a:latin typeface="Montserrat" panose="020B0604020202020204" charset="0"/>
              </a:rPr>
              <a:t>winterianu</a:t>
            </a:r>
            <a:r>
              <a:rPr lang="fr-FR" sz="1200" dirty="0">
                <a:latin typeface="Montserrat" panose="020B0604020202020204" charset="0"/>
              </a:rPr>
              <a:t>)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Extrait </a:t>
            </a:r>
            <a:r>
              <a:rPr lang="fr-FR" sz="1200" dirty="0">
                <a:latin typeface="Montserrat" panose="020B0604020202020204" charset="0"/>
              </a:rPr>
              <a:t>glycolique de Calendula (Calendula </a:t>
            </a:r>
            <a:r>
              <a:rPr lang="fr-FR" sz="1200" dirty="0" err="1">
                <a:latin typeface="Montserrat" panose="020B0604020202020204" charset="0"/>
              </a:rPr>
              <a:t>oflïcinalis</a:t>
            </a:r>
            <a:r>
              <a:rPr lang="fr-FR" sz="1200" dirty="0">
                <a:latin typeface="Montserrat" panose="020B0604020202020204" charset="0"/>
              </a:rPr>
              <a:t>)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81377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105461" y="475173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Montserrat ExtraBold" panose="00000900000000000000" pitchFamily="50" charset="0"/>
              </a:rPr>
              <a:t>MOUSTIK </a:t>
            </a:r>
            <a:r>
              <a:rPr lang="fr-FR" sz="2800" dirty="0" smtClean="0">
                <a:solidFill>
                  <a:schemeClr val="bg1"/>
                </a:solidFill>
                <a:latin typeface="Montserrat Medium" panose="00000600000000000000" pitchFamily="50" charset="0"/>
              </a:rPr>
              <a:t>LOTION</a:t>
            </a:r>
            <a:endParaRPr lang="fr-FR" sz="2800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2232590"/>
            <a:ext cx="37879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Gel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d'Aloès Vera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Essence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Citronnelle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Cymbopogon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winterianu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Extrait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sec d'Arnica (Arnica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montana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13541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154756"/>
              </p:ext>
            </p:extLst>
          </p:nvPr>
        </p:nvGraphicFramePr>
        <p:xfrm>
          <a:off x="4364705" y="3588702"/>
          <a:ext cx="3737340" cy="6867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050" dirty="0" smtClean="0">
                          <a:latin typeface="Montserrat" panose="020B0604020202020204" charset="0"/>
                        </a:rPr>
                        <a:t>Adulte et enfant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dirty="0" smtClean="0">
                          <a:latin typeface="Montserrat" panose="020B0604020202020204" charset="0"/>
                        </a:rPr>
                        <a:t>Appliquer sur la peau et frotter doucement </a:t>
                      </a:r>
                      <a:endParaRPr lang="fr-FR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ZoneTexte 12"/>
          <p:cNvSpPr txBox="1"/>
          <p:nvPr/>
        </p:nvSpPr>
        <p:spPr>
          <a:xfrm>
            <a:off x="2841162" y="3706727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125 </a:t>
            </a:r>
            <a:r>
              <a:rPr lang="fr-FR" sz="1600" b="1" dirty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ml</a:t>
            </a:r>
            <a:endParaRPr lang="fr-FR" sz="1600" b="1" dirty="0">
              <a:solidFill>
                <a:srgbClr val="35535B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862" y="2914845"/>
            <a:ext cx="1155145" cy="1155145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297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441" y="994123"/>
            <a:ext cx="4017169" cy="4017169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237924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544916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Protège </a:t>
            </a:r>
            <a:r>
              <a:rPr lang="fr-FR" sz="1200" dirty="0">
                <a:latin typeface="Montserrat" panose="020B0604020202020204" charset="0"/>
              </a:rPr>
              <a:t>et apaise l'irritation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Hygiène </a:t>
            </a:r>
            <a:r>
              <a:rPr lang="fr-FR" sz="1200" dirty="0">
                <a:latin typeface="Montserrat" panose="020B0604020202020204" charset="0"/>
              </a:rPr>
              <a:t>intime au quotidien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Procure </a:t>
            </a:r>
            <a:r>
              <a:rPr lang="fr-FR" sz="1200" dirty="0">
                <a:latin typeface="Montserrat" panose="020B0604020202020204" charset="0"/>
              </a:rPr>
              <a:t>fraicheur et confort tout au long de la journée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PH </a:t>
            </a:r>
            <a:r>
              <a:rPr lang="fr-FR" sz="1200" dirty="0">
                <a:latin typeface="Montserrat" panose="020B0604020202020204" charset="0"/>
              </a:rPr>
              <a:t>adapté à la </a:t>
            </a:r>
            <a:r>
              <a:rPr lang="fr-FR" sz="1200" dirty="0" smtClean="0">
                <a:latin typeface="Montserrat" panose="020B0604020202020204" charset="0"/>
              </a:rPr>
              <a:t>flore </a:t>
            </a:r>
            <a:r>
              <a:rPr lang="fr-FR" sz="1200" dirty="0">
                <a:latin typeface="Montserrat" panose="020B0604020202020204" charset="0"/>
              </a:rPr>
              <a:t>vaginale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563734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91172" y="510245"/>
            <a:ext cx="382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Montserrat ExtraBold" panose="00000900000000000000" pitchFamily="50" charset="0"/>
              </a:rPr>
              <a:t>DERMAGYN </a:t>
            </a:r>
            <a:r>
              <a:rPr lang="fr-FR" sz="2400" dirty="0" smtClean="0">
                <a:solidFill>
                  <a:schemeClr val="bg1"/>
                </a:solidFill>
                <a:latin typeface="Montserrat Medium" panose="00000600000000000000" pitchFamily="50" charset="0"/>
              </a:rPr>
              <a:t>SAVON</a:t>
            </a:r>
            <a:endParaRPr lang="fr-FR" sz="2400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1982554"/>
            <a:ext cx="37879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Aloès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Vera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Glycérine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essentielle de Lavande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Lavandula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angustifolia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Extrait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sec de Bardane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Arctium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lappa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d'Argan</a:t>
            </a: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13541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4591"/>
              </p:ext>
            </p:extLst>
          </p:nvPr>
        </p:nvGraphicFramePr>
        <p:xfrm>
          <a:off x="4364705" y="3588702"/>
          <a:ext cx="3737340" cy="9153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Lavage quotidien : appliquer sur la peau humide, laisser quelques minutes, rincer soigneusement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2" name="Imag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179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25" y="985730"/>
            <a:ext cx="3330683" cy="3330683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237924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544916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Protège </a:t>
            </a:r>
            <a:r>
              <a:rPr lang="fr-FR" sz="1200" dirty="0">
                <a:latin typeface="Montserrat" panose="020B0604020202020204" charset="0"/>
              </a:rPr>
              <a:t>et apaise l'irritation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Hygiène </a:t>
            </a:r>
            <a:r>
              <a:rPr lang="fr-FR" sz="1200" dirty="0">
                <a:latin typeface="Montserrat" panose="020B0604020202020204" charset="0"/>
              </a:rPr>
              <a:t>intime au quotidien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Procure </a:t>
            </a:r>
            <a:r>
              <a:rPr lang="fr-FR" sz="1200" dirty="0">
                <a:latin typeface="Montserrat" panose="020B0604020202020204" charset="0"/>
              </a:rPr>
              <a:t>fraicheur et confort tout au long de la journée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PH </a:t>
            </a:r>
            <a:r>
              <a:rPr lang="fr-FR" sz="1200" dirty="0">
                <a:latin typeface="Montserrat" panose="020B0604020202020204" charset="0"/>
              </a:rPr>
              <a:t>adapté à la </a:t>
            </a:r>
            <a:r>
              <a:rPr lang="fr-FR" sz="1200" dirty="0" smtClean="0">
                <a:latin typeface="Montserrat" panose="020B0604020202020204" charset="0"/>
              </a:rPr>
              <a:t>flore </a:t>
            </a:r>
            <a:r>
              <a:rPr lang="fr-FR" sz="1200" dirty="0">
                <a:latin typeface="Montserrat" panose="020B0604020202020204" charset="0"/>
              </a:rPr>
              <a:t>vaginale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563734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389402" y="495868"/>
            <a:ext cx="382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Montserrat ExtraBold" panose="00000900000000000000" pitchFamily="50" charset="0"/>
              </a:rPr>
              <a:t>DERMAGYN </a:t>
            </a:r>
            <a:r>
              <a:rPr lang="fr-FR" sz="2400" dirty="0" smtClean="0">
                <a:solidFill>
                  <a:schemeClr val="bg1"/>
                </a:solidFill>
                <a:latin typeface="Montserrat Medium" panose="00000600000000000000" pitchFamily="50" charset="0"/>
              </a:rPr>
              <a:t>GEL</a:t>
            </a:r>
            <a:endParaRPr lang="fr-FR" sz="2400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1982554"/>
            <a:ext cx="37879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Eau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rose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essentielle de Lavande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Aloès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Vera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Extrait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sec de Bardane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Arctium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lappa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L.)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d'Argan</a:t>
            </a: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13541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000358"/>
              </p:ext>
            </p:extLst>
          </p:nvPr>
        </p:nvGraphicFramePr>
        <p:xfrm>
          <a:off x="4364705" y="3588702"/>
          <a:ext cx="3737340" cy="9153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Lavage quotidien : appliquer sur la peau humide, laisser quelques minutes, rincer soigneusement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Arrondir un rectangle avec un coin diagonal 16"/>
          <p:cNvSpPr/>
          <p:nvPr/>
        </p:nvSpPr>
        <p:spPr>
          <a:xfrm>
            <a:off x="1514473" y="3492418"/>
            <a:ext cx="450281" cy="313354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1471607" y="3510595"/>
            <a:ext cx="646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90gr</a:t>
            </a:r>
            <a:endParaRPr lang="fr-FR" sz="12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0482" y="1038841"/>
            <a:ext cx="3344823" cy="3344823"/>
          </a:xfrm>
          <a:prstGeom prst="rect">
            <a:avLst/>
          </a:prstGeom>
        </p:spPr>
      </p:pic>
      <p:sp>
        <p:nvSpPr>
          <p:cNvPr id="16" name="ZoneTexte 15"/>
          <p:cNvSpPr txBox="1"/>
          <p:nvPr/>
        </p:nvSpPr>
        <p:spPr>
          <a:xfrm>
            <a:off x="3182691" y="3500878"/>
            <a:ext cx="11263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200 </a:t>
            </a:r>
            <a:r>
              <a:rPr lang="fr-FR" b="1" dirty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ml</a:t>
            </a:r>
            <a:endParaRPr lang="fr-FR" b="1" dirty="0">
              <a:solidFill>
                <a:srgbClr val="35535B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784" y="2736345"/>
            <a:ext cx="1155145" cy="1155145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721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4" y="1089758"/>
            <a:ext cx="3733742" cy="3733742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66538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73530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Soulage le lésion d’irritation et les sècheresse cutanés des adultes et enfants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sz="1200" dirty="0">
              <a:latin typeface="Montserrat Medium" panose="00000600000000000000" pitchFamily="50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69946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539750" y="478905"/>
            <a:ext cx="38236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Montserrat" panose="020B0604020202020204" charset="0"/>
              </a:rPr>
              <a:t>Vaseline</a:t>
            </a:r>
            <a:endParaRPr lang="fr-FR" sz="28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2118287"/>
            <a:ext cx="3787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100% Vaseline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40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13541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981433"/>
              </p:ext>
            </p:extLst>
          </p:nvPr>
        </p:nvGraphicFramePr>
        <p:xfrm>
          <a:off x="4364705" y="3588702"/>
          <a:ext cx="3737340" cy="9153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 et enfant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Appliquer une noisette de crème sur une peau préalablement nettoyée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Imag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783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58" y="1240221"/>
            <a:ext cx="3456148" cy="3551126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66538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73530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Assure une hydratation incontournable de la peau grâce à sa richesse en agents émollients et occlusifs  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sz="1200" dirty="0">
              <a:latin typeface="Montserrat Medium" panose="00000600000000000000" pitchFamily="50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69946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220061" y="501166"/>
            <a:ext cx="382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bg1"/>
                </a:solidFill>
                <a:latin typeface="Montserrat" panose="020B0604020202020204" charset="0"/>
              </a:rPr>
              <a:t>Vaseline Glycérinée</a:t>
            </a:r>
            <a:endParaRPr lang="fr-FR" sz="24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2118287"/>
            <a:ext cx="3787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Vaseline blanche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Glycérine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Huile de paraffine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45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13541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851701"/>
              </p:ext>
            </p:extLst>
          </p:nvPr>
        </p:nvGraphicFramePr>
        <p:xfrm>
          <a:off x="4364705" y="3588702"/>
          <a:ext cx="3737340" cy="73249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 et enfant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Appliquer la pommade sur toute peau sèche du corps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Imag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163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47" y="1195660"/>
            <a:ext cx="3595687" cy="3595687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66538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73530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Atténue les fins squames, les callosités des pieds et des mains, hydrate la peau sèche et la régénère 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sz="1200" dirty="0">
              <a:latin typeface="Montserrat Medium" panose="00000600000000000000" pitchFamily="50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69946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220061" y="501166"/>
            <a:ext cx="382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bg1"/>
                </a:solidFill>
                <a:latin typeface="Montserrat" panose="020B0604020202020204" charset="0"/>
              </a:rPr>
              <a:t>Vaseline Salicylée </a:t>
            </a:r>
            <a:endParaRPr lang="fr-FR" sz="24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2118287"/>
            <a:ext cx="3787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Vaseline blanche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Acide salicylée </a:t>
            </a: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40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13541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643015"/>
              </p:ext>
            </p:extLst>
          </p:nvPr>
        </p:nvGraphicFramePr>
        <p:xfrm>
          <a:off x="4364705" y="3588702"/>
          <a:ext cx="3737340" cy="109825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Appliquer la pommade sur</a:t>
                      </a:r>
                      <a:r>
                        <a:rPr lang="fr-FR" sz="1200" baseline="0" dirty="0" smtClean="0">
                          <a:latin typeface="Montserrat" panose="020B0604020202020204" charset="0"/>
                        </a:rPr>
                        <a:t> les pieds et les mains présentant des callosités, sur la peau sèche et la peau présentant des squames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Imag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162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70330" y="343913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136077" y="806721"/>
            <a:ext cx="5007923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 err="1" smtClean="0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Fongiderm</a:t>
            </a:r>
            <a:r>
              <a:rPr lang="en-US" sz="1200" dirty="0" smtClean="0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est</a:t>
            </a:r>
            <a:r>
              <a:rPr lang="en-US" sz="1200" dirty="0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 un gel </a:t>
            </a:r>
            <a:r>
              <a:rPr lang="en-US" sz="1200" dirty="0" err="1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nettoyant</a:t>
            </a:r>
            <a:r>
              <a:rPr lang="en-US" sz="1200" dirty="0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antifongique</a:t>
            </a:r>
            <a:r>
              <a:rPr lang="en-US" sz="1200" dirty="0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 </a:t>
            </a:r>
            <a:r>
              <a:rPr lang="en-US" sz="1200" dirty="0" smtClean="0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pour</a:t>
            </a:r>
          </a:p>
          <a:p>
            <a:pPr marL="0" indent="0" algn="l"/>
            <a:r>
              <a:rPr lang="en-US" sz="1200" dirty="0" err="1" smtClean="0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cheveux</a:t>
            </a:r>
            <a:r>
              <a:rPr lang="en-US" sz="1200" dirty="0" smtClean="0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et corps, </a:t>
            </a:r>
            <a:r>
              <a:rPr lang="en-US" sz="1200" dirty="0" err="1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conçu</a:t>
            </a:r>
            <a:r>
              <a:rPr lang="en-US" sz="1200" dirty="0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 pour </a:t>
            </a:r>
            <a:r>
              <a:rPr lang="en-US" sz="1200" dirty="0" err="1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offrir</a:t>
            </a:r>
            <a:r>
              <a:rPr lang="en-US" sz="1200" dirty="0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une</a:t>
            </a:r>
            <a:r>
              <a:rPr lang="en-US" sz="1200" dirty="0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hygiène</a:t>
            </a:r>
            <a:r>
              <a:rPr lang="en-US" sz="1200" dirty="0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optimale</a:t>
            </a:r>
            <a:endParaRPr lang="en-US" sz="1200" dirty="0" smtClean="0">
              <a:solidFill>
                <a:srgbClr val="000000"/>
              </a:solidFill>
              <a:latin typeface="Montserrat" panose="020B0604020202020204" charset="0"/>
              <a:ea typeface="Futura"/>
              <a:cs typeface="Futura"/>
              <a:sym typeface="Futura"/>
            </a:endParaRPr>
          </a:p>
          <a:p>
            <a:pPr marL="0" indent="0" algn="l"/>
            <a:r>
              <a:rPr lang="en-US" sz="1200" dirty="0" smtClean="0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tout en </a:t>
            </a:r>
            <a:r>
              <a:rPr lang="en-US" sz="1200" dirty="0" err="1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prenant</a:t>
            </a:r>
            <a:r>
              <a:rPr lang="en-US" sz="1200" dirty="0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soin</a:t>
            </a:r>
            <a:r>
              <a:rPr lang="en-US" sz="1200" dirty="0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 de la </a:t>
            </a:r>
            <a:r>
              <a:rPr lang="en-US" sz="1200" dirty="0" err="1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peau</a:t>
            </a:r>
            <a:r>
              <a:rPr lang="en-US" sz="1200" dirty="0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 et du </a:t>
            </a:r>
            <a:r>
              <a:rPr lang="en-US" sz="1200" dirty="0" err="1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cuir</a:t>
            </a:r>
            <a:r>
              <a:rPr lang="en-US" sz="1200" dirty="0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chevelu</a:t>
            </a:r>
            <a:r>
              <a:rPr lang="en-US" sz="1200" dirty="0">
                <a:solidFill>
                  <a:srgbClr val="000000"/>
                </a:solidFill>
                <a:latin typeface="Montserrat" panose="020B0604020202020204" charset="0"/>
                <a:ea typeface="Futura"/>
                <a:cs typeface="Futura"/>
                <a:sym typeface="Futura"/>
              </a:rPr>
              <a:t>.</a:t>
            </a:r>
          </a:p>
          <a:p>
            <a:pPr marL="0" lvl="0" indent="0" algn="l"/>
            <a:endParaRPr lang="fr-FR" sz="1200" dirty="0" smtClean="0"/>
          </a:p>
          <a:p>
            <a:pPr marL="0" lvl="0" indent="0" algn="l"/>
            <a:endParaRPr sz="1200" dirty="0">
              <a:latin typeface="Montserrat Medium" panose="00000600000000000000" pitchFamily="50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292954" y="149096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-116981" y="498434"/>
            <a:ext cx="4399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bg1"/>
                </a:solidFill>
                <a:latin typeface="Montserrat" panose="020B0604020202020204" charset="0"/>
              </a:rPr>
              <a:t>FONGIDERM GEL LAVANT </a:t>
            </a:r>
            <a:endParaRPr lang="fr-FR" sz="24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2118287"/>
            <a:ext cx="3787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090175" y="3936103"/>
            <a:ext cx="813046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086686" y="3975396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200ML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96816" y="333094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909565"/>
              </p:ext>
            </p:extLst>
          </p:nvPr>
        </p:nvGraphicFramePr>
        <p:xfrm>
          <a:off x="4282459" y="3816224"/>
          <a:ext cx="3737340" cy="109825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 à</a:t>
                      </a:r>
                      <a:r>
                        <a:rPr lang="fr-FR" sz="1200" baseline="0" dirty="0" smtClean="0">
                          <a:latin typeface="Montserrat" panose="020B0604020202020204" charset="0"/>
                        </a:rPr>
                        <a:t> partir de 12 ans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Laver délicatement les cheveux et le corps préalablement mouillés puis rincer soigneusement.</a:t>
                      </a:r>
                    </a:p>
                    <a:p>
                      <a:r>
                        <a:rPr lang="fr-FR" sz="12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 utiliser 1 à 2 fois par semaine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213005" y="1854007"/>
            <a:ext cx="500792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nn-NO" sz="1200" dirty="0">
                <a:latin typeface="Montserrat" panose="020B0604020202020204" charset="0"/>
              </a:rPr>
              <a:t>Gel d’aloes vera 11.25 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Huile de noix de </a:t>
            </a:r>
            <a:r>
              <a:rPr lang="fr-FR" sz="1200" dirty="0" smtClean="0">
                <a:latin typeface="Montserrat" panose="020B0604020202020204" charset="0"/>
              </a:rPr>
              <a:t>coco(Cocos Nucifera:2.25 g)</a:t>
            </a:r>
            <a:endParaRPr lang="fr-FR" sz="1200" dirty="0">
              <a:latin typeface="Montserrat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Huile essentielle de </a:t>
            </a:r>
            <a:r>
              <a:rPr lang="fr-FR" sz="1200" dirty="0" smtClean="0">
                <a:latin typeface="Montserrat" panose="020B0604020202020204" charset="0"/>
              </a:rPr>
              <a:t>romarin(</a:t>
            </a:r>
            <a:r>
              <a:rPr lang="fr-FR" sz="1200" dirty="0" err="1" smtClean="0">
                <a:latin typeface="Montserrat" panose="020B0604020202020204" charset="0"/>
              </a:rPr>
              <a:t>Rosmarinus</a:t>
            </a:r>
            <a:r>
              <a:rPr lang="fr-FR" sz="1200" dirty="0" smtClean="0">
                <a:latin typeface="Montserrat" panose="020B0604020202020204" charset="0"/>
              </a:rPr>
              <a:t> Officinalis:1.13 g)</a:t>
            </a:r>
            <a:endParaRPr lang="fr-FR" sz="1200" dirty="0">
              <a:latin typeface="Montserrat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Huile essentielle d’arbre à </a:t>
            </a:r>
            <a:r>
              <a:rPr lang="fr-FR" sz="1200" dirty="0" err="1" smtClean="0">
                <a:latin typeface="Montserrat" panose="020B0604020202020204" charset="0"/>
              </a:rPr>
              <a:t>thè</a:t>
            </a:r>
            <a:r>
              <a:rPr lang="fr-FR" sz="1200" dirty="0" smtClean="0">
                <a:latin typeface="Montserrat" panose="020B0604020202020204" charset="0"/>
              </a:rPr>
              <a:t>(</a:t>
            </a:r>
            <a:r>
              <a:rPr lang="fr-FR" sz="1200" dirty="0" err="1" smtClean="0">
                <a:latin typeface="Montserrat" panose="020B0604020202020204" charset="0"/>
              </a:rPr>
              <a:t>Melaleuca</a:t>
            </a:r>
            <a:r>
              <a:rPr lang="fr-FR" sz="1200" dirty="0" smtClean="0">
                <a:latin typeface="Montserrat" panose="020B0604020202020204" charset="0"/>
              </a:rPr>
              <a:t> Alternifolia:0.45 g)</a:t>
            </a:r>
            <a:endParaRPr lang="fr-FR" sz="1200" dirty="0">
              <a:latin typeface="Montserrat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Huile essentielle de </a:t>
            </a:r>
            <a:r>
              <a:rPr lang="fr-FR" sz="1200" dirty="0" smtClean="0">
                <a:latin typeface="Montserrat" panose="020B0604020202020204" charset="0"/>
              </a:rPr>
              <a:t>menthe(</a:t>
            </a:r>
            <a:r>
              <a:rPr lang="fr-FR" sz="1200" dirty="0" err="1" smtClean="0">
                <a:latin typeface="Montserrat" panose="020B0604020202020204" charset="0"/>
              </a:rPr>
              <a:t>Mentha</a:t>
            </a:r>
            <a:r>
              <a:rPr lang="fr-FR" sz="1200" dirty="0" smtClean="0">
                <a:latin typeface="Montserrat" panose="020B0604020202020204" charset="0"/>
              </a:rPr>
              <a:t> piperita:0.45 g)</a:t>
            </a:r>
            <a:endParaRPr lang="fr-FR" sz="1200" dirty="0">
              <a:latin typeface="Montserrat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Huile essentielle de </a:t>
            </a:r>
            <a:r>
              <a:rPr lang="fr-FR" sz="1200" dirty="0" err="1" smtClean="0">
                <a:latin typeface="Montserrat" panose="020B0604020202020204" charset="0"/>
              </a:rPr>
              <a:t>tym</a:t>
            </a:r>
            <a:r>
              <a:rPr lang="fr-FR" sz="1200" dirty="0" smtClean="0">
                <a:latin typeface="Montserrat" panose="020B0604020202020204" charset="0"/>
              </a:rPr>
              <a:t>(</a:t>
            </a:r>
            <a:r>
              <a:rPr lang="en-US" sz="1200" dirty="0" smtClean="0">
                <a:latin typeface="Montserrat" panose="020B0604020202020204" charset="0"/>
              </a:rPr>
              <a:t>Thymus </a:t>
            </a:r>
            <a:r>
              <a:rPr lang="en-US" sz="1200" dirty="0">
                <a:latin typeface="Montserrat" panose="020B0604020202020204" charset="0"/>
              </a:rPr>
              <a:t>Vulgaris flower leaf </a:t>
            </a:r>
            <a:r>
              <a:rPr lang="en-US" sz="1200" dirty="0" smtClean="0">
                <a:latin typeface="Montserrat" panose="020B0604020202020204" charset="0"/>
              </a:rPr>
              <a:t>oil:</a:t>
            </a:r>
            <a:r>
              <a:rPr lang="fr-FR" sz="1200" dirty="0" smtClean="0">
                <a:latin typeface="Montserrat" panose="020B0604020202020204" charset="0"/>
              </a:rPr>
              <a:t>0.23 g)</a:t>
            </a:r>
            <a:endParaRPr lang="fr-FR" sz="1200" dirty="0">
              <a:latin typeface="Montserrat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Huile de Nigelle 0.11 </a:t>
            </a:r>
            <a:r>
              <a:rPr lang="fr-FR" sz="1200" dirty="0" smtClean="0">
                <a:latin typeface="Montserrat" panose="020B0604020202020204" charset="0"/>
              </a:rPr>
              <a:t>g(Nigelle </a:t>
            </a:r>
            <a:r>
              <a:rPr lang="fr-FR" sz="1200" dirty="0" err="1">
                <a:latin typeface="Montserrat" panose="020B0604020202020204" charset="0"/>
              </a:rPr>
              <a:t>Sativa</a:t>
            </a:r>
            <a:r>
              <a:rPr lang="fr-FR" sz="1200" dirty="0">
                <a:latin typeface="Montserrat" panose="020B0604020202020204" charset="0"/>
              </a:rPr>
              <a:t> </a:t>
            </a:r>
            <a:r>
              <a:rPr lang="fr-FR" sz="1200" dirty="0" err="1">
                <a:latin typeface="Montserrat" panose="020B0604020202020204" charset="0"/>
              </a:rPr>
              <a:t>seed</a:t>
            </a:r>
            <a:r>
              <a:rPr lang="fr-FR" sz="1200" dirty="0">
                <a:latin typeface="Montserrat" panose="020B0604020202020204" charset="0"/>
              </a:rPr>
              <a:t> </a:t>
            </a:r>
            <a:r>
              <a:rPr lang="fr-FR" sz="1200" dirty="0" smtClean="0">
                <a:latin typeface="Montserrat" panose="020B0604020202020204" charset="0"/>
              </a:rPr>
              <a:t>oil:011g)</a:t>
            </a:r>
            <a:endParaRPr lang="fr-FR" sz="1200" dirty="0">
              <a:latin typeface="Montserrat" panose="020B0604020202020204" charset="0"/>
            </a:endParaRPr>
          </a:p>
        </p:txBody>
      </p:sp>
      <p:pic>
        <p:nvPicPr>
          <p:cNvPr id="1026" name="Picture 2" descr="https://vital.com.tn/wp-content/uploads/2024/07/Fongiderm-Antifongiqu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30418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096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54977" y="99289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73530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fr-FR" sz="1200" dirty="0" smtClean="0">
                <a:latin typeface="Montserrat" panose="020B0604020202020204" charset="0"/>
              </a:rPr>
              <a:t> 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sz="1200" dirty="0">
              <a:latin typeface="Montserrat Medium" panose="00000600000000000000" pitchFamily="50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220061" y="501166"/>
            <a:ext cx="382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bg1"/>
                </a:solidFill>
                <a:latin typeface="Montserrat" panose="020B0604020202020204" charset="0"/>
              </a:rPr>
              <a:t>FONGIDERM CREME </a:t>
            </a:r>
            <a:endParaRPr lang="fr-FR" sz="24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2199929"/>
            <a:ext cx="3787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fr-FR" sz="1200" dirty="0" smtClean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2418"/>
            <a:ext cx="831027" cy="343357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56140" y="349722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45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  <p:pic>
        <p:nvPicPr>
          <p:cNvPr id="2052" name="Picture 4" descr="https://vital.com.tn/wp-content/uploads/2025/07/Fongiderm-crem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3717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255677" y="1702796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>
                <a:latin typeface="Raleway" panose="020B0604020202020204" charset="0"/>
              </a:rPr>
              <a:t>• Lutte contre les atteintes </a:t>
            </a:r>
            <a:r>
              <a:rPr lang="fr-FR" dirty="0" smtClean="0">
                <a:latin typeface="Raleway" panose="020B0604020202020204" charset="0"/>
              </a:rPr>
              <a:t>fongiques superficielles localisées</a:t>
            </a:r>
            <a:r>
              <a:rPr lang="fr-FR" dirty="0"/>
              <a:t/>
            </a:r>
            <a:br>
              <a:rPr lang="fr-FR" dirty="0"/>
            </a:br>
            <a:r>
              <a:rPr lang="fr-FR" dirty="0">
                <a:latin typeface="Raleway" panose="020B0604020202020204" charset="0"/>
              </a:rPr>
              <a:t>• Renforce l’action </a:t>
            </a:r>
            <a:r>
              <a:rPr lang="fr-FR" dirty="0" smtClean="0">
                <a:latin typeface="Raleway" panose="020B0604020202020204" charset="0"/>
              </a:rPr>
              <a:t>antiseptique antiinflammatoire et antifongique</a:t>
            </a:r>
            <a:r>
              <a:rPr lang="fr-FR" dirty="0"/>
              <a:t/>
            </a:r>
            <a:br>
              <a:rPr lang="fr-FR" dirty="0"/>
            </a:br>
            <a:r>
              <a:rPr lang="fr-FR" dirty="0">
                <a:latin typeface="Raleway" panose="020B0604020202020204" charset="0"/>
              </a:rPr>
              <a:t>• Nettoie en douceur et protège le cuir chevelu &amp; cheveux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98720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73530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fr-FR" sz="1200" dirty="0" smtClean="0">
                <a:latin typeface="Montserrat" panose="020B0604020202020204" charset="0"/>
              </a:rPr>
              <a:t> 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sz="1200" dirty="0">
              <a:latin typeface="Montserrat Medium" panose="00000600000000000000" pitchFamily="50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436432" y="53720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220061" y="501166"/>
            <a:ext cx="382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bg1"/>
                </a:solidFill>
                <a:latin typeface="Montserrat" panose="020B0604020202020204" charset="0"/>
              </a:rPr>
              <a:t>FONGIDERM CREME </a:t>
            </a:r>
            <a:endParaRPr lang="fr-FR" sz="24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2199929"/>
            <a:ext cx="3787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fr-FR" sz="1200" dirty="0" smtClean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2418"/>
            <a:ext cx="831027" cy="343357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56140" y="349722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45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495199" y="326961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779150"/>
              </p:ext>
            </p:extLst>
          </p:nvPr>
        </p:nvGraphicFramePr>
        <p:xfrm>
          <a:off x="4368506" y="3750487"/>
          <a:ext cx="3737340" cy="128113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3 applications par jour après un lavage et séchage soigneux</a:t>
                      </a:r>
                    </a:p>
                    <a:p>
                      <a:r>
                        <a:rPr lang="fr-FR" sz="12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de la zone à traiter, Masser jusqu’à pénétration complète</a:t>
                      </a:r>
                    </a:p>
                    <a:p>
                      <a:r>
                        <a:rPr lang="fr-FR" sz="12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de la crème.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  <p:pic>
        <p:nvPicPr>
          <p:cNvPr id="2052" name="Picture 4" descr="https://vital.com.tn/wp-content/uploads/2025/07/Fongiderm-crem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3717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282459" y="1145952"/>
            <a:ext cx="4572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Aloès Véra liquide (</a:t>
            </a:r>
            <a:r>
              <a:rPr lang="fr-FR" sz="1200" dirty="0" err="1">
                <a:solidFill>
                  <a:schemeClr val="tx1"/>
                </a:solidFill>
                <a:latin typeface="Montserrat" panose="020B0604020202020204" charset="0"/>
              </a:rPr>
              <a:t>Aloe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chemeClr val="tx1"/>
                </a:solidFill>
                <a:latin typeface="Montserrat" panose="020B0604020202020204" charset="0"/>
              </a:rPr>
              <a:t>barbadensis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chemeClr val="tx1"/>
                </a:solidFill>
                <a:latin typeface="Montserrat" panose="020B0604020202020204" charset="0"/>
              </a:rPr>
              <a:t> 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Huile de Noix de coco (Cocos </a:t>
            </a:r>
            <a:r>
              <a:rPr lang="fr-FR" sz="1200" dirty="0" err="1">
                <a:solidFill>
                  <a:schemeClr val="tx1"/>
                </a:solidFill>
                <a:latin typeface="Montserrat" panose="020B0604020202020204" charset="0"/>
              </a:rPr>
              <a:t>nucifera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chemeClr val="tx1"/>
                </a:solidFill>
                <a:latin typeface="Montserrat" panose="020B0604020202020204" charset="0"/>
              </a:rPr>
              <a:t> 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Huile essentielle d’Arbre à thé (</a:t>
            </a:r>
            <a:r>
              <a:rPr lang="fr-FR" sz="1200" dirty="0" err="1">
                <a:solidFill>
                  <a:schemeClr val="tx1"/>
                </a:solidFill>
                <a:latin typeface="Montserrat" panose="020B0604020202020204" charset="0"/>
              </a:rPr>
              <a:t>melaleuca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chemeClr val="tx1"/>
                </a:solidFill>
                <a:latin typeface="Montserrat" panose="020B0604020202020204" charset="0"/>
              </a:rPr>
              <a:t>alternifolia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chemeClr val="tx1"/>
                </a:solidFill>
                <a:latin typeface="Montserrat" panose="020B0604020202020204" charset="0"/>
              </a:rPr>
              <a:t>Extrait 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sec de Romarin (</a:t>
            </a:r>
            <a:r>
              <a:rPr lang="fr-FR" sz="1200" dirty="0" err="1">
                <a:solidFill>
                  <a:schemeClr val="tx1"/>
                </a:solidFill>
                <a:latin typeface="Montserrat" panose="020B0604020202020204" charset="0"/>
              </a:rPr>
              <a:t>rosmarinus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chemeClr val="tx1"/>
                </a:solidFill>
                <a:latin typeface="Montserrat" panose="020B0604020202020204" charset="0"/>
              </a:rPr>
              <a:t>officinalis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chemeClr val="tx1"/>
                </a:solidFill>
                <a:latin typeface="Montserrat" panose="020B0604020202020204" charset="0"/>
              </a:rPr>
              <a:t> 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Huile </a:t>
            </a:r>
            <a:r>
              <a:rPr lang="fr-FR" sz="1200" dirty="0" err="1">
                <a:solidFill>
                  <a:schemeClr val="tx1"/>
                </a:solidFill>
                <a:latin typeface="Montserrat" panose="020B0604020202020204" charset="0"/>
              </a:rPr>
              <a:t>essentilelle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 d’Eucalyptus (Eucalyptus </a:t>
            </a:r>
            <a:r>
              <a:rPr lang="fr-FR" sz="1200" dirty="0" err="1">
                <a:solidFill>
                  <a:schemeClr val="tx1"/>
                </a:solidFill>
                <a:latin typeface="Montserrat" panose="020B0604020202020204" charset="0"/>
              </a:rPr>
              <a:t>globulus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chemeClr val="tx1"/>
                </a:solidFill>
                <a:latin typeface="Montserrat" panose="020B0604020202020204" charset="0"/>
              </a:rPr>
              <a:t> 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Huile essentielle de Gingembre (ZINGIBER OFFICINALIS)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chemeClr val="tx1"/>
                </a:solidFill>
                <a:latin typeface="Montserrat" panose="020B0604020202020204" charset="0"/>
              </a:rPr>
              <a:t>▪Extrait 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sec de Thé Vert (Camellia </a:t>
            </a:r>
            <a:r>
              <a:rPr lang="fr-FR" sz="1200" dirty="0" err="1">
                <a:solidFill>
                  <a:schemeClr val="tx1"/>
                </a:solidFill>
                <a:latin typeface="Montserrat" panose="020B0604020202020204" charset="0"/>
              </a:rPr>
              <a:t>sinensis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chemeClr val="tx1"/>
                </a:solidFill>
                <a:latin typeface="Montserrat" panose="020B0604020202020204" charset="0"/>
              </a:rPr>
              <a:t>▪Extrait 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sec de Propolis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chemeClr val="tx1"/>
                </a:solidFill>
                <a:latin typeface="Montserrat" panose="020B0604020202020204" charset="0"/>
              </a:rPr>
              <a:t> 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Extrait sec d’Olivier (</a:t>
            </a:r>
            <a:r>
              <a:rPr lang="fr-FR" sz="1200" dirty="0" err="1">
                <a:solidFill>
                  <a:schemeClr val="tx1"/>
                </a:solidFill>
                <a:latin typeface="Montserrat" panose="020B0604020202020204" charset="0"/>
              </a:rPr>
              <a:t>olea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chemeClr val="tx1"/>
                </a:solidFill>
                <a:latin typeface="Montserrat" panose="020B0604020202020204" charset="0"/>
              </a:rPr>
              <a:t>europaea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chemeClr val="tx1"/>
                </a:solidFill>
                <a:latin typeface="Montserrat" panose="020B0604020202020204" charset="0"/>
              </a:rPr>
              <a:t>▪Extrait 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sec d’Ail (allium </a:t>
            </a:r>
            <a:r>
              <a:rPr lang="fr-FR" sz="1200" dirty="0" err="1">
                <a:solidFill>
                  <a:schemeClr val="tx1"/>
                </a:solidFill>
                <a:latin typeface="Montserrat" panose="020B0604020202020204" charset="0"/>
              </a:rPr>
              <a:t>sativum</a:t>
            </a:r>
            <a:r>
              <a:rPr lang="fr-FR" sz="1200" dirty="0">
                <a:solidFill>
                  <a:schemeClr val="tx1"/>
                </a:solidFill>
                <a:latin typeface="Montserrat" panose="020B060402020202020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34041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821906" y="-19366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079576" y="279952"/>
            <a:ext cx="5064424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FONGIDERM est un spray topique </a:t>
            </a:r>
            <a:r>
              <a:rPr lang="fr-FR" sz="1200" dirty="0" smtClean="0">
                <a:latin typeface="Montserrat" panose="020B0604020202020204" charset="0"/>
              </a:rPr>
              <a:t>naturel</a:t>
            </a:r>
          </a:p>
          <a:p>
            <a:pPr marL="139700" indent="0" algn="l"/>
            <a:r>
              <a:rPr lang="fr-FR" sz="1200" dirty="0" smtClean="0">
                <a:latin typeface="Montserrat" panose="020B0604020202020204" charset="0"/>
              </a:rPr>
              <a:t>formulé </a:t>
            </a:r>
            <a:r>
              <a:rPr lang="fr-FR" sz="1200" dirty="0">
                <a:latin typeface="Montserrat" panose="020B0604020202020204" charset="0"/>
              </a:rPr>
              <a:t>pour soulager, prévenir et traiter les </a:t>
            </a:r>
            <a:endParaRPr lang="fr-FR" sz="1200" dirty="0" smtClean="0">
              <a:latin typeface="Montserrat" panose="020B0604020202020204" charset="0"/>
            </a:endParaRPr>
          </a:p>
          <a:p>
            <a:pPr marL="139700" indent="0" algn="l"/>
            <a:r>
              <a:rPr lang="fr-FR" sz="1200" dirty="0" smtClean="0">
                <a:latin typeface="Montserrat" panose="020B0604020202020204" charset="0"/>
              </a:rPr>
              <a:t>atteintes </a:t>
            </a:r>
            <a:r>
              <a:rPr lang="fr-FR" sz="1200" dirty="0">
                <a:latin typeface="Montserrat" panose="020B0604020202020204" charset="0"/>
              </a:rPr>
              <a:t>fongiques cutanées superficielles</a:t>
            </a:r>
          </a:p>
          <a:p>
            <a:pPr marL="139700" indent="0" algn="l"/>
            <a:r>
              <a:rPr lang="fr-FR" sz="1200" dirty="0" smtClean="0">
                <a:latin typeface="Montserrat" panose="020B0604020202020204" charset="0"/>
              </a:rPr>
              <a:t>Sa </a:t>
            </a:r>
            <a:r>
              <a:rPr lang="fr-FR" sz="1200" dirty="0">
                <a:latin typeface="Montserrat" panose="020B0604020202020204" charset="0"/>
              </a:rPr>
              <a:t>formule synergique 100% naturelle </a:t>
            </a:r>
            <a:r>
              <a:rPr lang="fr-FR" sz="1200" dirty="0" smtClean="0">
                <a:latin typeface="Montserrat" panose="020B0604020202020204" charset="0"/>
              </a:rPr>
              <a:t>associe</a:t>
            </a:r>
          </a:p>
          <a:p>
            <a:pPr marL="139700" indent="0" algn="l"/>
            <a:r>
              <a:rPr lang="fr-FR" sz="1200" dirty="0" smtClean="0">
                <a:latin typeface="Montserrat" panose="020B0604020202020204" charset="0"/>
              </a:rPr>
              <a:t>des </a:t>
            </a:r>
            <a:r>
              <a:rPr lang="fr-FR" sz="1200" dirty="0">
                <a:latin typeface="Montserrat" panose="020B0604020202020204" charset="0"/>
              </a:rPr>
              <a:t>agents antifongiques, </a:t>
            </a:r>
            <a:r>
              <a:rPr lang="fr-FR" sz="1200" dirty="0" smtClean="0">
                <a:latin typeface="Montserrat" panose="020B0604020202020204" charset="0"/>
              </a:rPr>
              <a:t>antiseptiques,</a:t>
            </a:r>
          </a:p>
          <a:p>
            <a:pPr marL="139700" indent="0" algn="l"/>
            <a:r>
              <a:rPr lang="fr-FR" sz="1200" dirty="0" smtClean="0">
                <a:latin typeface="Montserrat" panose="020B0604020202020204" charset="0"/>
              </a:rPr>
              <a:t>antiinflammatoires </a:t>
            </a:r>
            <a:r>
              <a:rPr lang="fr-FR" sz="1200" dirty="0">
                <a:latin typeface="Montserrat" panose="020B0604020202020204" charset="0"/>
              </a:rPr>
              <a:t>et cicatrisants, offrant </a:t>
            </a:r>
            <a:r>
              <a:rPr lang="fr-FR" sz="1200" dirty="0" smtClean="0">
                <a:latin typeface="Montserrat" panose="020B0604020202020204" charset="0"/>
              </a:rPr>
              <a:t>une</a:t>
            </a:r>
          </a:p>
          <a:p>
            <a:pPr marL="139700" indent="0" algn="l"/>
            <a:r>
              <a:rPr lang="fr-FR" sz="1200" dirty="0" smtClean="0">
                <a:latin typeface="Montserrat" panose="020B0604020202020204" charset="0"/>
              </a:rPr>
              <a:t>double </a:t>
            </a:r>
            <a:r>
              <a:rPr lang="fr-FR" sz="1200" dirty="0">
                <a:latin typeface="Montserrat" panose="020B0604020202020204" charset="0"/>
              </a:rPr>
              <a:t>action préventive et curative.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sz="1200" dirty="0">
              <a:latin typeface="Montserrat Medium" panose="00000600000000000000" pitchFamily="50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16272" y="159210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220061" y="501166"/>
            <a:ext cx="382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bg1"/>
                </a:solidFill>
                <a:latin typeface="Montserrat" panose="020B0604020202020204" charset="0"/>
              </a:rPr>
              <a:t>FONGIDERM SPRAY </a:t>
            </a:r>
            <a:endParaRPr lang="fr-FR" sz="24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079576" y="1819324"/>
            <a:ext cx="54297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err="1" smtClean="0">
                <a:latin typeface="Montserrat" panose="020B0604020202020204" charset="0"/>
              </a:rPr>
              <a:t>Aloes</a:t>
            </a:r>
            <a:r>
              <a:rPr lang="fr-FR" sz="1200" dirty="0" smtClean="0">
                <a:latin typeface="Montserrat" panose="020B0604020202020204" charset="0"/>
              </a:rPr>
              <a:t> </a:t>
            </a:r>
            <a:r>
              <a:rPr lang="fr-FR" sz="1200" dirty="0" err="1">
                <a:latin typeface="Montserrat" panose="020B0604020202020204" charset="0"/>
              </a:rPr>
              <a:t>véra</a:t>
            </a:r>
            <a:r>
              <a:rPr lang="fr-FR" sz="1200" dirty="0">
                <a:latin typeface="Montserrat" panose="020B0604020202020204" charset="0"/>
              </a:rPr>
              <a:t> gel </a:t>
            </a:r>
            <a:r>
              <a:rPr lang="fr-FR" sz="1200" i="1" dirty="0" smtClean="0">
                <a:latin typeface="Montserrat" panose="020B0604020202020204" charset="0"/>
              </a:rPr>
              <a:t>(</a:t>
            </a:r>
            <a:r>
              <a:rPr lang="fr-FR" sz="1200" i="1" dirty="0" err="1">
                <a:latin typeface="Montserrat" panose="020B0604020202020204" charset="0"/>
              </a:rPr>
              <a:t>Aloe</a:t>
            </a:r>
            <a:r>
              <a:rPr lang="fr-FR" sz="1200" i="1" dirty="0">
                <a:latin typeface="Montserrat" panose="020B0604020202020204" charset="0"/>
              </a:rPr>
              <a:t> </a:t>
            </a:r>
            <a:r>
              <a:rPr lang="fr-FR" sz="1200" i="1" dirty="0" err="1" smtClean="0">
                <a:latin typeface="Montserrat" panose="020B0604020202020204" charset="0"/>
              </a:rPr>
              <a:t>barbadensis</a:t>
            </a:r>
            <a:r>
              <a:rPr lang="fr-FR" sz="1200" i="1" dirty="0" smtClean="0">
                <a:latin typeface="Montserrat" panose="020B0604020202020204" charset="0"/>
              </a:rPr>
              <a:t>)</a:t>
            </a:r>
            <a:r>
              <a:rPr lang="fr-FR" sz="1200" dirty="0" smtClean="0">
                <a:latin typeface="Montserrat" panose="020B0604020202020204" charset="0"/>
              </a:rPr>
              <a:t>4.116 </a:t>
            </a:r>
            <a:r>
              <a:rPr lang="fr-FR" sz="1200" dirty="0">
                <a:latin typeface="Montserrat" panose="020B0604020202020204" charset="0"/>
              </a:rPr>
              <a:t>g 	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Vinaigre </a:t>
            </a:r>
            <a:r>
              <a:rPr lang="fr-FR" sz="1200" dirty="0" smtClean="0">
                <a:latin typeface="Montserrat" panose="020B0604020202020204" charset="0"/>
              </a:rPr>
              <a:t>de cidre2.058 </a:t>
            </a:r>
            <a:r>
              <a:rPr lang="fr-FR" sz="1200" dirty="0">
                <a:latin typeface="Montserrat" panose="020B0604020202020204" charset="0"/>
              </a:rPr>
              <a:t>g 	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Extrait alcoolique de </a:t>
            </a:r>
            <a:r>
              <a:rPr lang="fr-FR" sz="1200" dirty="0" smtClean="0">
                <a:latin typeface="Montserrat" panose="020B0604020202020204" charset="0"/>
              </a:rPr>
              <a:t>propolis1.2348 </a:t>
            </a:r>
            <a:r>
              <a:rPr lang="fr-FR" sz="1200" dirty="0">
                <a:latin typeface="Montserrat" panose="020B0604020202020204" charset="0"/>
              </a:rPr>
              <a:t>g 	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Huile essentielle d’arbre à thé </a:t>
            </a:r>
            <a:r>
              <a:rPr lang="fr-FR" sz="1200" i="1" dirty="0" smtClean="0">
                <a:latin typeface="Montserrat" panose="020B0604020202020204" charset="0"/>
              </a:rPr>
              <a:t>(</a:t>
            </a:r>
            <a:r>
              <a:rPr lang="fr-FR" sz="1200" i="1" dirty="0" err="1">
                <a:latin typeface="Montserrat" panose="020B0604020202020204" charset="0"/>
              </a:rPr>
              <a:t>Melaleuca</a:t>
            </a:r>
            <a:r>
              <a:rPr lang="fr-FR" sz="1200" i="1" dirty="0">
                <a:latin typeface="Montserrat" panose="020B0604020202020204" charset="0"/>
              </a:rPr>
              <a:t> </a:t>
            </a:r>
            <a:r>
              <a:rPr lang="fr-FR" sz="1200" i="1" dirty="0" err="1" smtClean="0">
                <a:latin typeface="Montserrat" panose="020B0604020202020204" charset="0"/>
              </a:rPr>
              <a:t>alternifolia</a:t>
            </a:r>
            <a:r>
              <a:rPr lang="fr-FR" sz="1200" i="1" dirty="0" smtClean="0">
                <a:latin typeface="Montserrat" panose="020B0604020202020204" charset="0"/>
              </a:rPr>
              <a:t>)</a:t>
            </a:r>
            <a:r>
              <a:rPr lang="fr-FR" sz="1200" dirty="0" smtClean="0">
                <a:latin typeface="Montserrat" panose="020B0604020202020204" charset="0"/>
              </a:rPr>
              <a:t>1.2348 </a:t>
            </a:r>
            <a:r>
              <a:rPr lang="fr-FR" sz="1200" dirty="0">
                <a:latin typeface="Montserrat" panose="020B0604020202020204" charset="0"/>
              </a:rPr>
              <a:t>g </a:t>
            </a:r>
            <a:endParaRPr lang="fr-FR" sz="1200" dirty="0" smtClean="0">
              <a:latin typeface="Montserrat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Extrait </a:t>
            </a:r>
            <a:r>
              <a:rPr lang="fr-FR" sz="1200" dirty="0">
                <a:latin typeface="Montserrat" panose="020B0604020202020204" charset="0"/>
              </a:rPr>
              <a:t>glycolique de calendula </a:t>
            </a:r>
            <a:r>
              <a:rPr lang="fr-FR" sz="1200" i="1" dirty="0" smtClean="0">
                <a:latin typeface="Montserrat" panose="020B0604020202020204" charset="0"/>
              </a:rPr>
              <a:t>(</a:t>
            </a:r>
            <a:r>
              <a:rPr lang="fr-FR" sz="1200" i="1" dirty="0">
                <a:latin typeface="Montserrat" panose="020B0604020202020204" charset="0"/>
              </a:rPr>
              <a:t>calendula </a:t>
            </a:r>
            <a:r>
              <a:rPr lang="fr-FR" sz="1200" i="1" dirty="0" err="1">
                <a:latin typeface="Montserrat" panose="020B0604020202020204" charset="0"/>
              </a:rPr>
              <a:t>officinalis</a:t>
            </a:r>
            <a:r>
              <a:rPr lang="fr-FR" sz="1200" i="1" dirty="0">
                <a:latin typeface="Montserrat" panose="020B0604020202020204" charset="0"/>
              </a:rPr>
              <a:t>) </a:t>
            </a:r>
            <a:r>
              <a:rPr lang="fr-FR" sz="1200" dirty="0" smtClean="0">
                <a:latin typeface="Montserrat" panose="020B0604020202020204" charset="0"/>
              </a:rPr>
              <a:t>0.4116 </a:t>
            </a:r>
            <a:r>
              <a:rPr lang="fr-FR" sz="1200" dirty="0">
                <a:latin typeface="Montserrat" panose="020B0604020202020204" charset="0"/>
              </a:rPr>
              <a:t>g </a:t>
            </a:r>
            <a:endParaRPr lang="fr-FR" sz="1200" dirty="0" smtClean="0">
              <a:latin typeface="Montserrat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Huile </a:t>
            </a:r>
            <a:r>
              <a:rPr lang="fr-FR" sz="1200" dirty="0" err="1">
                <a:latin typeface="Montserrat" panose="020B0604020202020204" charset="0"/>
              </a:rPr>
              <a:t>essentilelle</a:t>
            </a:r>
            <a:r>
              <a:rPr lang="fr-FR" sz="1200" dirty="0">
                <a:latin typeface="Montserrat" panose="020B0604020202020204" charset="0"/>
              </a:rPr>
              <a:t> d’eucalyptus </a:t>
            </a:r>
            <a:r>
              <a:rPr lang="fr-FR" sz="1200" i="1" dirty="0" smtClean="0">
                <a:latin typeface="Montserrat" panose="020B0604020202020204" charset="0"/>
              </a:rPr>
              <a:t>(</a:t>
            </a:r>
            <a:r>
              <a:rPr lang="fr-FR" sz="1200" i="1" dirty="0">
                <a:latin typeface="Montserrat" panose="020B0604020202020204" charset="0"/>
              </a:rPr>
              <a:t>Eucalyptus </a:t>
            </a:r>
            <a:r>
              <a:rPr lang="fr-FR" sz="1200" i="1" dirty="0" err="1">
                <a:latin typeface="Montserrat" panose="020B0604020202020204" charset="0"/>
              </a:rPr>
              <a:t>globulus</a:t>
            </a:r>
            <a:r>
              <a:rPr lang="fr-FR" sz="1200" i="1" dirty="0">
                <a:latin typeface="Montserrat" panose="020B0604020202020204" charset="0"/>
              </a:rPr>
              <a:t>) </a:t>
            </a:r>
            <a:r>
              <a:rPr lang="fr-FR" sz="1200" dirty="0" smtClean="0">
                <a:latin typeface="Montserrat" panose="020B0604020202020204" charset="0"/>
              </a:rPr>
              <a:t>0.2058 </a:t>
            </a:r>
            <a:r>
              <a:rPr lang="fr-FR" sz="1200" dirty="0">
                <a:latin typeface="Montserrat" panose="020B0604020202020204" charset="0"/>
              </a:rPr>
              <a:t>g </a:t>
            </a:r>
            <a:endParaRPr lang="fr-FR" sz="1200" dirty="0" smtClean="0">
              <a:latin typeface="Montserrat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Huile </a:t>
            </a:r>
            <a:r>
              <a:rPr lang="fr-FR" sz="1200" dirty="0">
                <a:latin typeface="Montserrat" panose="020B0604020202020204" charset="0"/>
              </a:rPr>
              <a:t>essentielle de gingembre </a:t>
            </a:r>
            <a:r>
              <a:rPr lang="fr-FR" sz="1200" i="1" dirty="0" smtClean="0">
                <a:latin typeface="Montserrat" panose="020B0604020202020204" charset="0"/>
              </a:rPr>
              <a:t>(</a:t>
            </a:r>
            <a:r>
              <a:rPr lang="fr-FR" sz="1200" i="1" dirty="0" err="1">
                <a:latin typeface="Montserrat" panose="020B0604020202020204" charset="0"/>
              </a:rPr>
              <a:t>Zingiber</a:t>
            </a:r>
            <a:r>
              <a:rPr lang="fr-FR" sz="1200" i="1" dirty="0">
                <a:latin typeface="Montserrat" panose="020B0604020202020204" charset="0"/>
              </a:rPr>
              <a:t> </a:t>
            </a:r>
            <a:r>
              <a:rPr lang="fr-FR" sz="1200" i="1" dirty="0" err="1">
                <a:latin typeface="Montserrat" panose="020B0604020202020204" charset="0"/>
              </a:rPr>
              <a:t>officinalis</a:t>
            </a:r>
            <a:r>
              <a:rPr lang="fr-FR" sz="1200" i="1" dirty="0">
                <a:latin typeface="Montserrat" panose="020B0604020202020204" charset="0"/>
              </a:rPr>
              <a:t>) </a:t>
            </a:r>
            <a:r>
              <a:rPr lang="fr-FR" sz="1200" dirty="0" smtClean="0">
                <a:latin typeface="Montserrat" panose="020B0604020202020204" charset="0"/>
              </a:rPr>
              <a:t>0.2058 </a:t>
            </a:r>
            <a:r>
              <a:rPr lang="fr-FR" sz="1200" dirty="0">
                <a:latin typeface="Montserrat" panose="020B0604020202020204" charset="0"/>
              </a:rPr>
              <a:t>g </a:t>
            </a:r>
            <a:r>
              <a:rPr lang="fr-FR" sz="1200" dirty="0"/>
              <a:t>	</a:t>
            </a: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40 ML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96816" y="326124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341905"/>
              </p:ext>
            </p:extLst>
          </p:nvPr>
        </p:nvGraphicFramePr>
        <p:xfrm>
          <a:off x="4079576" y="3640368"/>
          <a:ext cx="4178625" cy="130689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4656"/>
                <a:gridCol w="3133969"/>
              </a:tblGrid>
              <a:tr h="206516">
                <a:tc>
                  <a:txBody>
                    <a:bodyPr/>
                    <a:lstStyle/>
                    <a:p>
                      <a:r>
                        <a:rPr lang="fr-FR" sz="1200" b="1" i="0" u="none" strike="noStrike" cap="none" baseline="0" dirty="0" smtClean="0">
                          <a:solidFill>
                            <a:schemeClr val="bg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</a:t>
                      </a:r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1032578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Appliquer sur les zones à traiter propres et secs</a:t>
                      </a:r>
                    </a:p>
                    <a:p>
                      <a:r>
                        <a:rPr lang="fr-FR" sz="12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2 fois par jour sur le coude, pied, sur les ongles, entre les</a:t>
                      </a:r>
                    </a:p>
                    <a:p>
                      <a:r>
                        <a:rPr lang="fr-FR" sz="12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orteils et sur la plante du pied.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671" y="1000016"/>
            <a:ext cx="2550486" cy="414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041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66538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75403" y="504942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Nettoie et assèche les lésions de la peau susceptibles de se surinfecter, notamment nouveau-né (cordon ombilical et érythème fessier).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69946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-245799" y="504942"/>
            <a:ext cx="551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Montserrat" panose="020B0604020202020204" charset="0"/>
              </a:rPr>
              <a:t>VITOSINE EOSINE AQEUSE  2% </a:t>
            </a:r>
            <a:endParaRPr lang="fr-FR" sz="20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2118287"/>
            <a:ext cx="3787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EOSINE AQEUSE 2% </a:t>
            </a: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30ML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13541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500994"/>
              </p:ext>
            </p:extLst>
          </p:nvPr>
        </p:nvGraphicFramePr>
        <p:xfrm>
          <a:off x="4364705" y="3588702"/>
          <a:ext cx="3737340" cy="73249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Enfant et 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Vaporiser directement sur la partie à assécher. 1 à 2 fois par jour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  <p:pic>
        <p:nvPicPr>
          <p:cNvPr id="4098" name="Picture 2" descr="https://vital.com.tn/wp-content/uploads/2023/11/Vitosin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8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4190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66538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329448" y="566538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fr-FR" sz="1200" dirty="0" smtClean="0">
                <a:latin typeface="Montserrat" panose="020B0604020202020204" charset="0"/>
              </a:rPr>
              <a:t> 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Traitement </a:t>
            </a:r>
            <a:r>
              <a:rPr lang="fr-FR" sz="1200" dirty="0">
                <a:latin typeface="Montserrat" panose="020B0604020202020204" charset="0"/>
              </a:rPr>
              <a:t>d’appoint pour les affections de la </a:t>
            </a:r>
            <a:r>
              <a:rPr lang="fr-FR" sz="1200" dirty="0" smtClean="0">
                <a:latin typeface="Montserrat" panose="020B0604020202020204" charset="0"/>
              </a:rPr>
              <a:t>peau.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Antiseptique </a:t>
            </a:r>
            <a:r>
              <a:rPr lang="fr-FR" sz="1200" dirty="0">
                <a:latin typeface="Montserrat" panose="020B0604020202020204" charset="0"/>
              </a:rPr>
              <a:t>et asséchant de la peau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69946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</a:p>
          <a:p>
            <a:pPr marL="0" lvl="0" indent="0" algn="l">
              <a:spcAft>
                <a:spcPts val="1600"/>
              </a:spcAft>
            </a:pPr>
            <a:r>
              <a:rPr lang="fr-FR" sz="1200" b="0" dirty="0"/>
              <a:t> </a:t>
            </a:r>
            <a:r>
              <a:rPr lang="fr-FR" sz="1200" b="0" dirty="0" smtClean="0"/>
              <a:t>                          Eosine </a:t>
            </a:r>
            <a:r>
              <a:rPr lang="fr-FR" sz="1200" b="0" dirty="0" err="1" smtClean="0"/>
              <a:t>aqeuse</a:t>
            </a:r>
            <a:r>
              <a:rPr lang="fr-FR" sz="1200" b="0" dirty="0" smtClean="0"/>
              <a:t> alcoolisée à 2%</a:t>
            </a:r>
            <a:endParaRPr sz="1200" b="0" dirty="0"/>
          </a:p>
        </p:txBody>
      </p:sp>
      <p:sp>
        <p:nvSpPr>
          <p:cNvPr id="21" name="ZoneTexte 20"/>
          <p:cNvSpPr txBox="1"/>
          <p:nvPr/>
        </p:nvSpPr>
        <p:spPr>
          <a:xfrm>
            <a:off x="-218364" y="553957"/>
            <a:ext cx="5704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 smtClean="0">
                <a:solidFill>
                  <a:schemeClr val="bg1"/>
                </a:solidFill>
                <a:latin typeface="Montserrat" panose="020B0604020202020204" charset="0"/>
              </a:rPr>
              <a:t>VITOSINE EOSINE ALCOOLISEE 2% </a:t>
            </a:r>
            <a:endParaRPr lang="fr-FR" sz="18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 ML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13541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614365"/>
              </p:ext>
            </p:extLst>
          </p:nvPr>
        </p:nvGraphicFramePr>
        <p:xfrm>
          <a:off x="4364705" y="3588702"/>
          <a:ext cx="3737340" cy="100681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Enfant et 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Vaporiser directement sur la partie à nettoyer et  assécher. 1 à 2 fois par jour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  <p:pic>
        <p:nvPicPr>
          <p:cNvPr id="3074" name="Picture 2" descr="https://vital.com.tn/wp-content/uploads/2024/12/VITOSINE-EOSIN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76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242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66538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73530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Atténue les fins squames, les callosités des pieds et des mains, hydrate la peau sèche et la régénère 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 Medium" panose="00000600000000000000" pitchFamily="50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sz="1200" dirty="0">
              <a:latin typeface="Montserrat Medium" panose="00000600000000000000" pitchFamily="50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303464" y="1699467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220061" y="501166"/>
            <a:ext cx="3823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bg1"/>
                </a:solidFill>
                <a:latin typeface="Montserrat" panose="020B0604020202020204" charset="0"/>
              </a:rPr>
              <a:t>Vaseline Salicylée </a:t>
            </a:r>
            <a:endParaRPr lang="fr-FR" sz="2400" dirty="0">
              <a:solidFill>
                <a:schemeClr val="bg1"/>
              </a:solidFill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3005" y="2118287"/>
            <a:ext cx="3787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Vaseline blanche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Acide salicylée </a:t>
            </a: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3212637" y="3497964"/>
            <a:ext cx="609269" cy="33781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3149084" y="3509111"/>
            <a:ext cx="112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40 gr</a:t>
            </a:r>
            <a:endParaRPr lang="fr-FR" sz="1600" b="1" dirty="0">
              <a:solidFill>
                <a:schemeClr val="bg1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13541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643015"/>
              </p:ext>
            </p:extLst>
          </p:nvPr>
        </p:nvGraphicFramePr>
        <p:xfrm>
          <a:off x="4364705" y="3588702"/>
          <a:ext cx="3737340" cy="109825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Appliquer la pommade sur</a:t>
                      </a:r>
                      <a:r>
                        <a:rPr lang="fr-FR" sz="1200" baseline="0" dirty="0" smtClean="0">
                          <a:latin typeface="Montserrat" panose="020B0604020202020204" charset="0"/>
                        </a:rPr>
                        <a:t> les pieds et les mains présentant des callosités, sur la peau sèche et la peau présentant des squames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9" y="4550568"/>
            <a:ext cx="763922" cy="48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83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10850</TotalTime>
  <Words>1476</Words>
  <Application>Microsoft Office PowerPoint</Application>
  <PresentationFormat>Affichage à l'écran (16:9)</PresentationFormat>
  <Paragraphs>383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5" baseType="lpstr">
      <vt:lpstr>Raleway</vt:lpstr>
      <vt:lpstr>Futura</vt:lpstr>
      <vt:lpstr>Montserrat Medium</vt:lpstr>
      <vt:lpstr>Poppins</vt:lpstr>
      <vt:lpstr>Oswald Medium</vt:lpstr>
      <vt:lpstr>Montserrat ExtraBold</vt:lpstr>
      <vt:lpstr>Montserrat</vt:lpstr>
      <vt:lpstr>Arial</vt:lpstr>
      <vt:lpstr>Minimalist SEO Strategy by Slidesgo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Gammes des  Laboratoires Vital</dc:title>
  <dc:creator>MED SAFOUANE MEDIOUN</dc:creator>
  <cp:lastModifiedBy>a</cp:lastModifiedBy>
  <cp:revision>211</cp:revision>
  <dcterms:modified xsi:type="dcterms:W3CDTF">2026-03-10T10:23:31Z</dcterms:modified>
</cp:coreProperties>
</file>