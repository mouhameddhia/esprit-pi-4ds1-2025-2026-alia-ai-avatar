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307" r:id="rId2"/>
    <p:sldId id="258" r:id="rId3"/>
    <p:sldId id="411" r:id="rId4"/>
    <p:sldId id="424" r:id="rId5"/>
    <p:sldId id="426" r:id="rId6"/>
    <p:sldId id="425" r:id="rId7"/>
    <p:sldId id="427" r:id="rId8"/>
  </p:sldIdLst>
  <p:sldSz cx="9144000" cy="5143500" type="screen16x9"/>
  <p:notesSz cx="6858000" cy="9144000"/>
  <p:embeddedFontLst>
    <p:embeddedFont>
      <p:font typeface="Poppins" panose="020B0604020202020204" charset="0"/>
      <p:regular r:id="rId10"/>
      <p:bold r:id="rId11"/>
      <p:italic r:id="rId12"/>
      <p:boldItalic r:id="rId13"/>
    </p:embeddedFont>
    <p:embeddedFont>
      <p:font typeface="Montserrat" panose="020B0604020202020204" charset="0"/>
      <p:regular r:id="rId14"/>
      <p:bold r:id="rId15"/>
      <p:italic r:id="rId16"/>
      <p:boldItalic r:id="rId17"/>
    </p:embeddedFont>
    <p:embeddedFont>
      <p:font typeface="Oswald Medium" panose="020B0604020202020204" charset="0"/>
      <p:regular r:id="rId18"/>
      <p:bold r:id="rId19"/>
    </p:embeddedFont>
    <p:embeddedFont>
      <p:font typeface="Raleway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5B"/>
    <a:srgbClr val="E14D4D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34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523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482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28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46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000" cap="all" dirty="0" smtClean="0">
                <a:solidFill>
                  <a:srgbClr val="E14D4D"/>
                </a:solidFill>
              </a:rPr>
              <a:t>HEALTHCARE</a:t>
            </a:r>
            <a:endParaRPr lang="fr-FR" sz="50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301" y="1005930"/>
            <a:ext cx="4202906" cy="420290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23629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80629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Draineur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Brûleur </a:t>
            </a:r>
            <a:r>
              <a:rPr lang="fr-FR" sz="1200" dirty="0">
                <a:latin typeface="Montserrat" panose="020B0604020202020204" charset="0"/>
              </a:rPr>
              <a:t>de graisses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Détoxifiant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•Coupe </a:t>
            </a:r>
            <a:r>
              <a:rPr lang="fr-FR" sz="1200" dirty="0">
                <a:latin typeface="Montserrat" panose="020B0604020202020204" charset="0"/>
              </a:rPr>
              <a:t>Faim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58408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20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498985"/>
            <a:ext cx="4662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MINCICARE 4 ACTIONS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6" y="2011122"/>
            <a:ext cx="283787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750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d'Artichaut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500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de L -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1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250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Piloselle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240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Thé vert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Chiendent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Cassis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110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Bardane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4262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764279"/>
              </p:ext>
            </p:extLst>
          </p:nvPr>
        </p:nvGraphicFramePr>
        <p:xfrm>
          <a:off x="4364705" y="4095912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Diluer une dose de 20 ml dans 1,5 litre d'eau à boire le long de la journée loin des repas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450 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287" y="2658804"/>
            <a:ext cx="1453291" cy="145329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6998924" y="1999052"/>
            <a:ext cx="228710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de Chicorée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Réne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de Près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endParaRPr lang="fr-FR" sz="11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Pensée sauvage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de Spiruline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de zinc</a:t>
            </a:r>
            <a:endParaRPr lang="fr-FR" sz="11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79" y="1260129"/>
            <a:ext cx="3746201" cy="374620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164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2776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Draineur </a:t>
            </a:r>
            <a:r>
              <a:rPr lang="fr-FR" sz="1200" dirty="0">
                <a:latin typeface="Montserrat" panose="020B0604020202020204" charset="0"/>
              </a:rPr>
              <a:t>: facilite la perte du poids et stimule l'élimination urinaire des déchets et toxines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Brûleur </a:t>
            </a:r>
            <a:r>
              <a:rPr lang="fr-FR" sz="1200" dirty="0">
                <a:latin typeface="Montserrat" panose="020B0604020202020204" charset="0"/>
              </a:rPr>
              <a:t>de graisses: (Omega 3 - CLA) ayant des propriétés amincissantes aide à </a:t>
            </a:r>
            <a:r>
              <a:rPr lang="fr-FR" sz="1200" dirty="0" smtClean="0">
                <a:latin typeface="Montserrat" panose="020B0604020202020204" charset="0"/>
              </a:rPr>
              <a:t>débarrasser </a:t>
            </a:r>
            <a:r>
              <a:rPr lang="fr-FR" sz="1200" dirty="0">
                <a:latin typeface="Montserrat" panose="020B0604020202020204" charset="0"/>
              </a:rPr>
              <a:t>l'organisme des graisses stockées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02423" y="1769414"/>
            <a:ext cx="2524382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400" dirty="0"/>
              <a:t>COMPOSITION PAR 2 GÉLULES </a:t>
            </a:r>
            <a:endParaRPr sz="140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5" y="2332591"/>
            <a:ext cx="2355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368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Pissenlit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Piloselle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Ortosiphon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5689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67672"/>
              </p:ext>
            </p:extLst>
          </p:nvPr>
        </p:nvGraphicFramePr>
        <p:xfrm>
          <a:off x="4364705" y="4010181"/>
          <a:ext cx="3737341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1401503"/>
                <a:gridCol w="1401503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GÉLULES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CAPSULES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 x 2 par jour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capsule x 2 par jour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465820" y="3475436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-84084" y="407036"/>
            <a:ext cx="4186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MINCICARE </a:t>
            </a:r>
          </a:p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BRÛLE GRAISSE &amp; DRAINEUR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5" y="2714624"/>
            <a:ext cx="1343057" cy="1343057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6451380" y="2332591"/>
            <a:ext cx="2355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900 mg d'Acide linoléique conjugué</a:t>
            </a:r>
          </a:p>
        </p:txBody>
      </p:sp>
      <p:sp>
        <p:nvSpPr>
          <p:cNvPr id="2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6367139" y="1769414"/>
            <a:ext cx="2524382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400" dirty="0"/>
              <a:t>COMPOSITION PAR 2 CAPSULES </a:t>
            </a:r>
            <a:endParaRPr sz="1400" dirty="0"/>
          </a:p>
        </p:txBody>
      </p:sp>
      <p:sp>
        <p:nvSpPr>
          <p:cNvPr id="23" name="ZoneTexte 22"/>
          <p:cNvSpPr txBox="1"/>
          <p:nvPr/>
        </p:nvSpPr>
        <p:spPr>
          <a:xfrm>
            <a:off x="754157" y="3475436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527" y="2442977"/>
            <a:ext cx="1929747" cy="1929747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9" y="1021557"/>
            <a:ext cx="3876920" cy="387692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7782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Hydratation </a:t>
            </a:r>
            <a:r>
              <a:rPr lang="fr-FR" sz="1200" dirty="0">
                <a:latin typeface="Montserrat" panose="020B0604020202020204" charset="0"/>
              </a:rPr>
              <a:t>et nutrition de la peau et des </a:t>
            </a:r>
            <a:r>
              <a:rPr lang="fr-FR" sz="1200" dirty="0" smtClean="0">
                <a:latin typeface="Montserrat" panose="020B0604020202020204" charset="0"/>
              </a:rPr>
              <a:t>phanères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Rajeunissement </a:t>
            </a:r>
            <a:r>
              <a:rPr lang="fr-FR" sz="1200" dirty="0">
                <a:latin typeface="Montserrat" panose="020B0604020202020204" charset="0"/>
              </a:rPr>
              <a:t>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anti-âge, </a:t>
            </a:r>
            <a:r>
              <a:rPr lang="fr-FR" sz="1200" dirty="0">
                <a:latin typeface="Montserrat" panose="020B0604020202020204" charset="0"/>
              </a:rPr>
              <a:t>antioxydant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289732"/>
            <a:ext cx="321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de Bourrache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onarge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6400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25953"/>
              </p:ext>
            </p:extLst>
          </p:nvPr>
        </p:nvGraphicFramePr>
        <p:xfrm>
          <a:off x="4364705" y="3717285"/>
          <a:ext cx="3737341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2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 capsules par jour Cure minimale de 3 mois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-238927" y="512439"/>
            <a:ext cx="4084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SKINCARE ANTI- </a:t>
            </a:r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AGE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948" y="2794256"/>
            <a:ext cx="1343057" cy="1343057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3286960" y="3555068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69" y="1837200"/>
            <a:ext cx="4446056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2 CAPSULES </a:t>
            </a:r>
            <a:endParaRPr sz="1800" dirty="0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16123" y="26169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82459" y="521665"/>
            <a:ext cx="4462148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anti-âge et antioxydant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Protection prolongée contre le stress oxydatif pour une prévention du </a:t>
            </a:r>
            <a:r>
              <a:rPr lang="fr-FR" sz="1200" dirty="0" err="1" smtClean="0">
                <a:latin typeface="Montserrat" panose="020B0604020202020204" charset="0"/>
              </a:rPr>
              <a:t>veillissement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Hydratation en profondeur de la peau avec maintien de l’intégrité de </a:t>
            </a:r>
            <a:r>
              <a:rPr lang="fr-FR" sz="1200" dirty="0" err="1" smtClean="0">
                <a:latin typeface="Montserrat" panose="020B0604020202020204" charset="0"/>
              </a:rPr>
              <a:t>collagéne</a:t>
            </a:r>
            <a:r>
              <a:rPr lang="fr-FR" sz="1200" dirty="0" smtClean="0">
                <a:latin typeface="Montserrat" panose="020B0604020202020204" charset="0"/>
              </a:rPr>
              <a:t> et de l’élastine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4" y="2227057"/>
            <a:ext cx="3216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b="1" dirty="0" smtClean="0">
                <a:solidFill>
                  <a:srgbClr val="6D6D6D"/>
                </a:solidFill>
                <a:latin typeface="Montserrat" panose="020B0604020202020204" charset="0"/>
              </a:rPr>
              <a:t>2 capsules: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de Bourrache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onarge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6400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100415"/>
              </p:ext>
            </p:extLst>
          </p:nvPr>
        </p:nvGraphicFramePr>
        <p:xfrm>
          <a:off x="4364705" y="3717285"/>
          <a:ext cx="3737341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Capsule:  1 capsules x 2/ jour</a:t>
                      </a:r>
                    </a:p>
                    <a:p>
                      <a:pPr algn="l"/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Gélule:1 gélule x 2/jour</a:t>
                      </a:r>
                    </a:p>
                    <a:p>
                      <a:pPr algn="l"/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Cure minimale de 3 mois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-238927" y="512439"/>
            <a:ext cx="4084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SKINCARE ANTI- </a:t>
            </a:r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AGE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948" y="2794256"/>
            <a:ext cx="1343057" cy="1343057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3286960" y="3555068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69" y="1837200"/>
            <a:ext cx="4446056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</a:t>
            </a:r>
            <a:r>
              <a:rPr lang="fr-FR" sz="1800" dirty="0" smtClean="0"/>
              <a:t> </a:t>
            </a:r>
            <a:endParaRPr sz="1800" dirty="0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6816751" y="2244993"/>
            <a:ext cx="321649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b="1" dirty="0" smtClean="0">
                <a:solidFill>
                  <a:srgbClr val="6D6D6D"/>
                </a:solidFill>
                <a:latin typeface="Montserrat" panose="020B0604020202020204" charset="0"/>
              </a:rPr>
              <a:t>2 gélules:</a:t>
            </a:r>
            <a:endParaRPr lang="fr-FR" b="1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160mg 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collagéne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150mg de Coenzyme Q 10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mg d’acide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hyaluronique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mg de L-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carnosine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55µg de Sélénium</a:t>
            </a:r>
          </a:p>
        </p:txBody>
      </p:sp>
      <p:pic>
        <p:nvPicPr>
          <p:cNvPr id="2050" name="Picture 2" descr="https://vital.com.tn/wp-content/uploads/2023/10/VITAL-HEALTHCARE-SKINCARE-Anti-age-intensif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02" y="133229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7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" y="1440656"/>
            <a:ext cx="3756344" cy="370284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65929" y="48180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037392" y="813605"/>
            <a:ext cx="4566857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Indiqué </a:t>
            </a:r>
            <a:r>
              <a:rPr lang="fr-FR" sz="1200" dirty="0">
                <a:latin typeface="Montserrat" panose="020B0604020202020204" charset="0"/>
              </a:rPr>
              <a:t>en cas d’altération quantitative et qualitative des paramètres du spermogramme(</a:t>
            </a:r>
            <a:r>
              <a:rPr lang="fr-FR" sz="1200" dirty="0" err="1">
                <a:latin typeface="Montserrat" panose="020B0604020202020204" charset="0"/>
              </a:rPr>
              <a:t>oligo-asthéno-tératospermie</a:t>
            </a:r>
            <a:r>
              <a:rPr lang="fr-FR" sz="1200" dirty="0">
                <a:latin typeface="Montserrat" panose="020B0604020202020204" charset="0"/>
              </a:rPr>
              <a:t>)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</a:t>
            </a:r>
            <a:r>
              <a:rPr lang="fr-FR" sz="1200" dirty="0">
                <a:latin typeface="Montserrat" panose="020B0604020202020204" charset="0"/>
              </a:rPr>
              <a:t>la </a:t>
            </a:r>
            <a:r>
              <a:rPr lang="fr-FR" sz="1200" dirty="0" smtClean="0">
                <a:latin typeface="Montserrat" panose="020B0604020202020204" charset="0"/>
              </a:rPr>
              <a:t>spermatogénèse</a:t>
            </a:r>
            <a:endParaRPr lang="fr-FR" sz="1200" dirty="0">
              <a:latin typeface="Montserrat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 stress oxydatif spermatique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Maintien </a:t>
            </a:r>
            <a:r>
              <a:rPr lang="fr-FR" sz="1200" dirty="0">
                <a:latin typeface="Montserrat" panose="020B0604020202020204" charset="0"/>
              </a:rPr>
              <a:t>l’intégrité de l’ADN spermatique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Indiqué </a:t>
            </a:r>
            <a:r>
              <a:rPr lang="fr-FR" sz="1200" dirty="0">
                <a:latin typeface="Montserrat" panose="020B0604020202020204" charset="0"/>
              </a:rPr>
              <a:t>en cas d’infertilité masculine idiopathique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309735" y="2454547"/>
            <a:ext cx="23559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 -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Fructose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Glutathion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Taurine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d'Arginine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Co-enzyme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Ql0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68880" y="397042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95450"/>
              </p:ext>
            </p:extLst>
          </p:nvPr>
        </p:nvGraphicFramePr>
        <p:xfrm>
          <a:off x="4402262" y="4371686"/>
          <a:ext cx="3737341" cy="6867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</a:p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HOMME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 smtClean="0">
                          <a:latin typeface="Montserrat" panose="020B0604020202020204" charset="0"/>
                        </a:rPr>
                        <a:t>Prendre 2 sachets par jour Cure minimale de 3 à 6 mois </a:t>
                      </a:r>
                      <a:endParaRPr lang="fr-FR" sz="9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444194" y="3133143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08810" y="470166"/>
            <a:ext cx="366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FERTICARE HOMME</a:t>
            </a:r>
            <a:endParaRPr lang="fr-FR" sz="28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457785" y="2463720"/>
            <a:ext cx="2355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10 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4 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Lycopène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800 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100 µg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973357" y="2092961"/>
            <a:ext cx="5046131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COMPOSITION POUR 10 Gr ( 2 SACHETS) </a:t>
            </a:r>
            <a:endParaRPr sz="1600" dirty="0"/>
          </a:p>
        </p:txBody>
      </p:sp>
      <p:sp>
        <p:nvSpPr>
          <p:cNvPr id="8" name="Arrondir un rectangle avec un coin diagonal 7"/>
          <p:cNvSpPr/>
          <p:nvPr/>
        </p:nvSpPr>
        <p:spPr>
          <a:xfrm>
            <a:off x="3334889" y="3488184"/>
            <a:ext cx="862081" cy="307777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313626" y="3484178"/>
            <a:ext cx="926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Sachets</a:t>
            </a:r>
            <a:endParaRPr lang="fr-F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7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65929" y="-538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86774" y="225627"/>
            <a:ext cx="4272962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Indiqué en cas d’altération de la fonction ovulatoire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 Stress oxydatif ovarien </a:t>
            </a:r>
            <a:r>
              <a:rPr lang="fr-FR" sz="1200" dirty="0" err="1">
                <a:latin typeface="Montserrat" panose="020B0604020202020204" charset="0"/>
              </a:rPr>
              <a:t>élévé</a:t>
            </a:r>
            <a:endParaRPr lang="fr-FR" sz="1200" dirty="0">
              <a:latin typeface="Montserrat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</a:t>
            </a:r>
            <a:r>
              <a:rPr lang="fr-FR" sz="1200" dirty="0">
                <a:latin typeface="Montserrat" panose="020B0604020202020204" charset="0"/>
              </a:rPr>
              <a:t>la qualité ovocytaire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Rééquilibre </a:t>
            </a:r>
            <a:r>
              <a:rPr lang="fr-FR" sz="1200" dirty="0">
                <a:latin typeface="Montserrat" panose="020B0604020202020204" charset="0"/>
              </a:rPr>
              <a:t>le cycle hormonale fonctionnel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Infertilité féminine </a:t>
            </a:r>
            <a:r>
              <a:rPr lang="fr-FR" sz="1200" dirty="0">
                <a:latin typeface="Montserrat" panose="020B0604020202020204" charset="0"/>
              </a:rPr>
              <a:t>idiopathique et parcours au PMA</a:t>
            </a:r>
          </a:p>
          <a:p>
            <a:pPr marL="0" lvl="0" indent="0" algn="l"/>
            <a:endParaRPr lang="fr-FR" sz="1200" dirty="0">
              <a:latin typeface="Montserrat Medium" panose="000006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470572" y="1795107"/>
            <a:ext cx="235590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gr 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Myo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inisitol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mg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L -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L-arginine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250 mg d’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acétyl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L-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d’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acétylcyteine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d‘iode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400 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10 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7 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77429" y="40527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16395"/>
              </p:ext>
            </p:extLst>
          </p:nvPr>
        </p:nvGraphicFramePr>
        <p:xfrm>
          <a:off x="4376524" y="4411001"/>
          <a:ext cx="3737341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</a:p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FEMME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Prendre 1 sachet par jour Cure minimale de 3 à 6 mois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444194" y="3133143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0" y="460293"/>
            <a:ext cx="388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FERTICARE FEMME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663587" y="1816407"/>
            <a:ext cx="235590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mg de vitamine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16 mg de vitamine B3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mg de vitamine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µg de vitamine B8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B12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0,54 mg de cuivre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03" y="4327421"/>
            <a:ext cx="929293" cy="731044"/>
          </a:xfrm>
          <a:prstGeom prst="rect">
            <a:avLst/>
          </a:prstGeom>
        </p:spPr>
      </p:pic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973357" y="1438107"/>
            <a:ext cx="5046131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COMPOSITION POUR 5</a:t>
            </a:r>
            <a:r>
              <a:rPr lang="fr-FR" sz="1600" dirty="0" smtClean="0"/>
              <a:t> </a:t>
            </a:r>
            <a:r>
              <a:rPr lang="fr-FR" sz="1600" dirty="0"/>
              <a:t>Gr ( </a:t>
            </a:r>
            <a:r>
              <a:rPr lang="fr-FR" sz="1600" dirty="0" smtClean="0"/>
              <a:t>1 SACHET) </a:t>
            </a:r>
            <a:endParaRPr sz="1600" dirty="0"/>
          </a:p>
        </p:txBody>
      </p:sp>
      <p:sp>
        <p:nvSpPr>
          <p:cNvPr id="8" name="Arrondir un rectangle avec un coin diagonal 7"/>
          <p:cNvSpPr/>
          <p:nvPr/>
        </p:nvSpPr>
        <p:spPr>
          <a:xfrm>
            <a:off x="3334889" y="3488184"/>
            <a:ext cx="862081" cy="307777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Sachets</a:t>
            </a:r>
            <a:endParaRPr lang="fr-FR" dirty="0"/>
          </a:p>
        </p:txBody>
      </p:sp>
      <p:pic>
        <p:nvPicPr>
          <p:cNvPr id="1026" name="Picture 2" descr="https://vital.com.tn/wp-content/uploads/2023/10/VITAL-HEALTHCARE-FERTICARE-FEMME-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71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9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6781</TotalTime>
  <Words>654</Words>
  <Application>Microsoft Office PowerPoint</Application>
  <PresentationFormat>Affichage à l'écran (16:9)</PresentationFormat>
  <Paragraphs>156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Montserrat Medium</vt:lpstr>
      <vt:lpstr>Montserrat ExtraBold</vt:lpstr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183</cp:revision>
  <dcterms:modified xsi:type="dcterms:W3CDTF">2026-03-10T09:40:19Z</dcterms:modified>
</cp:coreProperties>
</file>